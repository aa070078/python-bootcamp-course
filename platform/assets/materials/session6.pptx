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 — Cover**</a:t>
            </a:r>
          </a:p>
          <a:p/>
          <a:p>
            <a:r>
              <a:t>Welcome the class warmly. Say: "Welcome back! Today we level up from lists. Lists store things in order — but **sets** and **dictionaries** are the secret weapons that make real Python powerful. We finish with a working Contact Manager project."</a:t>
            </a:r>
          </a:p>
          <a:p/>
          <a:p>
            <a:r>
              <a:t>- Point at the glowing orb: "A set is a collection of unique things — no repeats. Like this core: one glowing heart, no copies."</a:t>
            </a:r>
          </a:p>
          <a:p>
            <a:r>
              <a:t>- Give the 3-hour arc: review (10 min) → sets (60 min) → dictionaries (60 min) → project + wrap-up (40 min).</a:t>
            </a:r>
          </a:p>
          <a:p>
            <a:r>
              <a:t>- Set expectations: they will write real code in the first 20 minutes.</a:t>
            </a:r>
          </a:p>
          <a:p/>
          <a:p>
            <a:r>
              <a:t>Arabic tip: ابدأ بترحيب سريع واسأل: "كم مرة حذفتم التكرارات يدويًّا من قائمة؟" (How often have you removed duplicates by hand?) This primes the sets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 — Hook**</a:t>
            </a:r>
          </a:p>
          <a:p/>
          <a:p>
            <a:r>
              <a:t>Dramatize this: "Scroll your phone's contacts. Ali appears twice. Sam three times. Finding the *unique* ones by hand takes forever — and you'll make mistakes."</a:t>
            </a:r>
          </a:p>
          <a:p/>
          <a:p>
            <a:r>
              <a:t>- Build tension: "By the end of this hour you'll write 3 lines of Python that solve it instantly."</a:t>
            </a:r>
          </a:p>
          <a:p>
            <a:r>
              <a:t>- Point at each card as you say it: volume problem → duplicates → slow manual work.</a:t>
            </a:r>
          </a:p>
          <a:p>
            <a:r>
              <a:t>- Reveal the promise: "The tool? A **set** — a collection that refuses duplicates."</a:t>
            </a:r>
          </a:p>
          <a:p/>
          <a:p>
            <a:r>
              <a:t>Ask: "How many unique numbers do you think are actually in that list?" Let them guess; they'll learn the exact tool soon.</a:t>
            </a:r>
          </a:p>
          <a:p/>
          <a:p>
            <a:r>
              <a:t>Arabic tip: اشرح كلمة "فريد/فريدة" بالعربية: القيمة الفريدة تعني التي لا تتكرر. اسأل الطلاب: هل رقم والدك مكرر في هواتفك؟ 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 — Review MCQ (Session 5: lists &amp; tuples)**</a:t>
            </a:r>
          </a:p>
          <a:p/>
          <a:p>
            <a:r>
              <a:t>**Answer: B — `(1, 2, 3)`** is the tuple.</a:t>
            </a:r>
          </a:p>
          <a:p/>
          <a:p>
            <a:r>
              <a:t>- A `[1, 2, 3]` → a **list** (square brackets, mutable, ordered).</a:t>
            </a:r>
          </a:p>
          <a:p>
            <a:r>
              <a:t>- C `{1, 2, 3}` → a **set** in Python 3 (curly braces) — a sneak peek of today's topic, or a dict.</a:t>
            </a:r>
          </a:p>
          <a:p>
            <a:r>
              <a:t>- D `` → not valid Python.</a:t>
            </a:r>
          </a:p>
          <a:p/>
          <a:p>
            <a:r>
              <a:t>Explain the bracket memory trick: `[ ]` list, `( )` tuple, `{ }` set/dict.</a:t>
            </a:r>
          </a:p>
          <a:p/>
          <a:p>
            <a:r>
              <a:t>Say: "This session is the *next chapter* — C is literally where we start today!"</a:t>
            </a:r>
          </a:p>
          <a:p/>
          <a:p>
            <a:r>
              <a:t>Arabic tip: أعد تذكير الطلاب بجدول الأقواس: القوس المربع قائمة، والقوس الدائري توبل، والقوس المعقوف مجموعة. اكتب الجدول على السبورة.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 — Review MCQ (indexing &amp; slicing)**</a:t>
            </a:r>
          </a:p>
          <a:p/>
          <a:p>
            <a:r>
              <a:t>**Answer: A — `[20, 30]`**</a:t>
            </a:r>
          </a:p>
          <a:p/>
          <a:p>
            <a:r>
              <a:t>- `nums[1:3]` → start at index 1 (`20`), stop before index 3 (`40`). Result `[20, 30]`.</a:t>
            </a:r>
          </a:p>
          <a:p>
            <a:r>
              <a:t>- D `[20, 30, 40]` is the common mistake (forgetting the end index is exclusive).</a:t>
            </a:r>
          </a:p>
          <a:p/>
          <a:p>
            <a:r>
              <a:t>Visual: draw the indices under the list on the board: `10[0] 20[1] 30[2] 40[3] 50[4]`, then circle 1 and 3.</a:t>
            </a:r>
          </a:p>
          <a:p/>
          <a:p>
            <a:r>
              <a:t>Say: "Slicing is how we'll later grab words out of a sentence — remember `start included, end excluded`."</a:t>
            </a:r>
          </a:p>
          <a:p/>
          <a:p>
            <a:r>
              <a:t>Arabic tip: اشرح القاعدة "البداية تدخل، والنهاية لا تدخل" واطلب من طالب أن يعيدها بصوت عالٍ لتثبيتها.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5 — Review MCQ (list methods)**</a:t>
            </a:r>
          </a:p>
          <a:p/>
          <a:p>
            <a:r>
              <a:t>**Answer: A — `nums.append(99)`**</a:t>
            </a:r>
          </a:p>
          <a:p/>
          <a:p>
            <a:r>
              <a:t>- A `append(x)` → adds `x` at the end of a list. ✅</a:t>
            </a:r>
          </a:p>
          <a:p>
            <a:r>
              <a:t>- B `add(x)` → that's a **set** method — a teaser of today's topic!</a:t>
            </a:r>
          </a:p>
          <a:p>
            <a:r>
              <a:t>- C `insert(99)` → `insert` needs an index first: `nums.insert(0, 99)`. This call raises an error.</a:t>
            </a:r>
          </a:p>
          <a:p>
            <a:r>
              <a:t>- D `push(99)` → that's JavaScript — Python lists don't have it.</a:t>
            </a:r>
          </a:p>
          <a:p/>
          <a:p>
            <a:r>
              <a:t>Say: "Notice B uses `add` — we meet that method in about 15 minutes. Keep it in mind!"</a:t>
            </a:r>
          </a:p>
          <a:p/>
          <a:p>
            <a:r>
              <a:t>Arabic tip: ذكّر الطلاب بأن لكل نوع (list / set / dict) دوالّه الخاصة، ولا يمكن استدعاء دالة نوع على نوع آخر. هذه نقطة أخطاء شائعة عند المبتدئين.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6 — Session timeline**</a:t>
            </a:r>
          </a:p>
          <a:p/>
          <a:p>
            <a:r>
              <a:t>Walk through the four stops pointing at each card. Keep it to 30 seconds.</a:t>
            </a:r>
          </a:p>
          <a:p/>
          <a:p>
            <a:r>
              <a:t>1. **Sets** — the uniqueness superpower (60 min).</a:t>
            </a:r>
          </a:p>
          <a:p>
            <a:r>
              <a:t>2. **Dictionaries** — key→value lookups (60 min).</a:t>
            </a:r>
          </a:p>
          <a:p>
            <a:r>
              <a:t>3. **Combining** — put everything together.</a:t>
            </a:r>
          </a:p>
          <a:p>
            <a:r>
              <a:t>4. **Mini Project** — a Contact Manager you can actually run.</a:t>
            </a:r>
          </a:p>
          <a:p/>
          <a:p>
            <a:r>
              <a:t>Say: "Every stop ends with a checkpoint question — so stay sharp. There's a break before the project."</a:t>
            </a:r>
          </a:p>
          <a:p/>
          <a:p>
            <a:r>
              <a:t>Promise: "The Contact Manager will search a contact by name in O(1) — that's the payoff of dictionaries."</a:t>
            </a:r>
          </a:p>
          <a:p/>
          <a:p>
            <a:r>
              <a:t>Arabic tip: اسأل الطلاب: "أي تطبيق تستخدمونه يوميًّا يخزّن بيانات على شكل أزواج مفتاح-قيمة؟" (مثل دفتر هاتف، تطبيق مراسلة). هذا يهيئهم للقواميس.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7 — Why collections beyond Lists**</a:t>
            </a:r>
          </a:p>
          <a:p/>
          <a:p>
            <a:r>
              <a:t>Side-by-side comparison: a list happily stores the same value many times; a set collapses them.</a:t>
            </a:r>
          </a:p>
          <a:p/>
          <a:p>
            <a:r>
              <a:t>- Point at the 🍌 repeated three times in the list: "Three bananas — do you *need* three bananas? In a shopping list, maybe. In unique IDs, never."</a:t>
            </a:r>
          </a:p>
          <a:p>
            <a:r>
              <a:t>- Ask: "When do you want ONLY unique values?" Elicit: student IDs, phone numbers, usernames, email addresses.</a:t>
            </a:r>
          </a:p>
          <a:p>
            <a:r>
              <a:t>- Tease the magic: "Feed a list into a set and Python removes the copies for you — we do exactly that on slide 13."</a:t>
            </a:r>
          </a:p>
          <a:p/>
          <a:p>
            <a:r>
              <a:t>Arabic tip: اربط بالعربية: القائمة مثل "قائمة تسوّق" قد تكرّر فيها صنفًا مرتين، أما المجموعة فهي مثل "شنطة" تحمل كل شيء مرة واحدة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8 — Creating sets**</a:t>
            </a:r>
          </a:p>
          <a:p/>
          <a:p>
            <a:r>
              <a:t>Live-code this. Then highlight the surprise: `set("hello")` → `{'h', 'e', 'l', 'o'}` — the second `l` vanished.</a:t>
            </a:r>
          </a:p>
          <a:p/>
          <a:p>
            <a:r>
              <a:t>- Ask before running: "How many letters are in 'hello'? How many will the set hold?" (5 vs 4)</a:t>
            </a:r>
          </a:p>
          <a:p>
            <a:r>
              <a:t>- Emphasize: the *order* shown is not guaranteed — sets are unordered.</a:t>
            </a:r>
          </a:p>
          <a:p>
            <a:r>
              <a:t>- The ⚠️ card is the classic trap: `{}` is a dict. Teach the rule now so it doesn't bite later.</a:t>
            </a:r>
          </a:p>
          <a:p>
            <a:r>
              <a:t>- Run `type({})` vs `type(set())` in IDLE to prove it.</a:t>
            </a:r>
          </a:p>
          <a:p/>
          <a:p>
            <a:r>
              <a:t>Arabic tip: قول لهم بالعربية: "الأقواس المعقوفة الفارغة ليست مجموعة — إنها قاموس!" واكتب على السبورة: `{}` قاموس، `set()` مجموعة.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9 — Set uniqueness (visual)**</a:t>
            </a:r>
          </a:p>
          <a:p/>
          <a:p>
            <a:r>
              <a:t>The core concept of the hour. Narrate the animation:</a:t>
            </a:r>
          </a:p>
          <a:p/>
          <a:p>
            <a:r>
              <a:t>- "Five emojis go in. The red copy and the blue copy are identical to earlier ones — the set recognizes them and refuses."</a:t>
            </a:r>
          </a:p>
          <a:p>
            <a:r>
              <a:t>- "Only three come out. That's uniqueness in action."</a:t>
            </a:r>
          </a:p>
          <a:p/>
          <a:p>
            <a:r>
              <a:t>Demo in the shell: `s = {1, 1, 2, 2, 2, 3}` then `print(s)` → `{1, 2, 3}`.</a:t>
            </a:r>
          </a:p>
          <a:p/>
          <a:p>
            <a:r>
              <a:t>- Ask: "If I add 1 again — does the set grow?" No, size stays 3.</a:t>
            </a:r>
          </a:p>
          <a:p>
            <a:r>
              <a:t>- Connect to the hook: duplicates of phone numbers collapse the same way.</a:t>
            </a:r>
          </a:p>
          <a:p/>
          <a:p>
            <a:r>
              <a:t>Arabic tip: اطلب من طالب أن يصف ما حدث بالعربية: "أدخلنا خمس قيم، لكن المكرر منها اختفى وبقيت ثلاث قيم فقط." ثم اربطها بفكرة المجموعات الرياضية.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10 — Set methods**</a:t>
            </a:r>
          </a:p>
          <a:p/>
          <a:p>
            <a:r>
              <a:t>Live-code, showing each call step by step and `print(tools)` after each:</a:t>
            </a:r>
          </a:p>
          <a:p/>
          <a:p>
            <a:r>
              <a:t>1. `add("drill")` → `{"hammer", "saw", "drill"}`.</a:t>
            </a:r>
          </a:p>
          <a:p>
            <a:r>
              <a:t>2. `add("drill")` again → **no change** — uniqueness in action.</a:t>
            </a:r>
          </a:p>
          <a:p>
            <a:r>
              <a:t>3. `remove("saw")` → works.</a:t>
            </a:r>
          </a:p>
          <a:p>
            <a:r>
              <a:t>4. Then the money moment: `remove("saw")` again → **KeyError!** Show the scary red traceback, then reassure: "This is why `discard` exists."</a:t>
            </a:r>
          </a:p>
          <a:p/>
          <a:p>
            <a:r>
              <a:t>Say: "`remove` is strict — it complains loudly. `discard` is chill — it just does nothing if the value is missing."</a:t>
            </a:r>
          </a:p>
          <a:p/>
          <a:p>
            <a:r>
              <a:t>Get the class to predict: "Which is safer when cleaning user input?" → discard.</a:t>
            </a:r>
          </a:p>
          <a:p/>
          <a:p>
            <a:r>
              <a:t>Arabic tip: اشرح الفرق بأسلوب مألوف: remove مثل "صرّاف صارم" يرفض العملية إن لم يجد المبلغ، أما discard فهو "متسامح". اسأل: متى تفضّل كل منهما؟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11 — Membership with `in` / `not in`**</a:t>
            </a:r>
          </a:p>
          <a:p/>
          <a:p>
            <a:r>
              <a:t>This is THE killer feature of sets. Contrast with lists:</a:t>
            </a:r>
          </a:p>
          <a:p/>
          <a:p>
            <a:r>
              <a:t>- A list answers `in` by scanning every item (O(n)) — 10,000 steps for 10,000 contacts.</a:t>
            </a:r>
          </a:p>
          <a:p>
            <a:r>
              <a:t>- A set answers in one step (O(1)) — always fast, no matter the size.</a:t>
            </a:r>
          </a:p>
          <a:p/>
          <a:p>
            <a:r>
              <a:t>Demo in shell with `timeit` (optional, quick): searching a big list vs a big set.</a:t>
            </a:r>
          </a:p>
          <a:p/>
          <a:p>
            <a:r>
              <a:t>Emphasize the phrase: "If you only need *does it exist?*, a set is the right tool." That's the vocabulary for the project.</a:t>
            </a:r>
          </a:p>
          <a:p/>
          <a:p>
            <a:r>
              <a:t>Arabic tip: اربط بـ"هل الكلمة موجودة في القاموس؟" بالعربية. القاموس يجد الكلمة مباشرة — نفس فكرة O(1). هذا تمهيد أيضًا للقواميس.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12 — Set operations (Venn cards)**</a:t>
            </a:r>
          </a:p>
          <a:p/>
          <a:p>
            <a:r>
              <a:t>Work through each operation with `a = {1, 2, 3}` and `b = {3, 4, 5}`. Draw the two overlapping circles on the board.</a:t>
            </a:r>
          </a:p>
          <a:p/>
          <a:p>
            <a:r>
              <a:t>- **Union** `a | b` → everything: `{1, 2, 3, 4, 5}`.</a:t>
            </a:r>
          </a:p>
          <a:p>
            <a:r>
              <a:t>- **Intersection** `a &amp; b` → only the shared part: `{3}`.</a:t>
            </a:r>
          </a:p>
          <a:p>
            <a:r>
              <a:t>- **Difference** `a - b` → in `a` but not in `b`: `{1, 2}`. (Direction matters! `b - a` = `{4, 5}`.)</a:t>
            </a:r>
          </a:p>
          <a:p>
            <a:r>
              <a:t>- **Symmetric difference** `a ^ b` → in exactly one: `{1, 2, 4, 5}`.</a:t>
            </a:r>
          </a:p>
          <a:p/>
          <a:p>
            <a:r>
              <a:t>Ask the class to predict each result *before* showing. The `^` usually surprises people — celebrate it.</a:t>
            </a:r>
          </a:p>
          <a:p/>
          <a:p>
            <a:r>
              <a:t>Real-world tie-in: "Union = merging contact lists. Intersection = friends in common. Difference = contacts only you have."</a:t>
            </a:r>
          </a:p>
          <a:p/>
          <a:p>
            <a:r>
              <a:t>Arabic tip: استخدم مثالًا محليًا: "الطلاب الذين يدرسون الرياضيات فقط، الذين يدرسون البرمجة فقط، والذين يدرسون الاثنين معًا" لتوضيح العمليات الأربع.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13 — Remove duplicates from a list**</a:t>
            </a:r>
          </a:p>
          <a:p/>
          <a:p>
            <a:r>
              <a:t>The most practical recipe of the sets chapter. Read the pattern aloud: **`list(set(mylist))`** — "list of the set of my list."</a:t>
            </a:r>
          </a:p>
          <a:p/>
          <a:p>
            <a:r>
              <a:t>- Walk through the pipeline: list → set (dedupe) → list (back to a list you can index and sort).</a:t>
            </a:r>
          </a:p>
          <a:p>
            <a:r>
              <a:t>- Highlight the `ali@x.com` in the BEFORE panel: it's the duplicate being eaten.</a:t>
            </a:r>
          </a:p>
          <a:p>
            <a:r>
              <a:t>- The ⚠️ note is essential: set order is not list order. If they need sorted output, show `sorted(set(mylist))`.</a:t>
            </a:r>
          </a:p>
          <a:p/>
          <a:p>
            <a:r>
              <a:t>Have them type it themselves with their own list of repeated names. Quick check: "What's `list(set([7, 7, 7]))`?" → `[7]`.</a:t>
            </a:r>
          </a:p>
          <a:p/>
          <a:p>
            <a:r>
              <a:t>Arabic tip: اقرأ السطر كمعادلة: "قائمةٌ من مجموعةِ قائمتي". واطلب من الطلاب ترجمتها بالعربية بأسلوبهم الخاص ليترسّخ المعنى.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14 — MCQ: sets (uniqueness)**</a:t>
            </a:r>
          </a:p>
          <a:p/>
          <a:p>
            <a:r>
              <a:t>**Answer: A — `{1, 2, 3}`**</a:t>
            </a:r>
          </a:p>
          <a:p/>
          <a:p>
            <a:r>
              <a:t>- The duplicate `2` collapses: `{1, 2, 2, 3}` is the same set as `{1, 2, 3}`.</a:t>
            </a:r>
          </a:p>
          <a:p>
            <a:r>
              <a:t>- B would be true for a list, but a set never keeps duplicates.</a:t>
            </a:r>
          </a:p>
          <a:p>
            <a:r>
              <a:t>- C is a list — wrong brackets.</a:t>
            </a:r>
          </a:p>
          <a:p>
            <a:r>
              <a:t>- D is a tuple — wrong brackets.</a:t>
            </a:r>
          </a:p>
          <a:p/>
          <a:p>
            <a:r>
              <a:t>Have the class run `print({1, 2, 2, 3})` themselves to see Python print `{1, 2, 3}`.</a:t>
            </a:r>
          </a:p>
          <a:p/>
          <a:p>
            <a:r>
              <a:t>Say: "If you got this right, you understand the whole point of a set."</a:t>
            </a:r>
          </a:p>
          <a:p/>
          <a:p>
            <a:r>
              <a:t>Arabic tip: اطلب من الطلاب قراءة السؤال بصوت عالٍ وترجمته: "ما نتيجة مجموعة فيها رقم مكرر؟" ثم أجب بالعربية: "المجموعة تحذف المكرر تلقائيًا."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15 — MCQ: sets (methods)**</a:t>
            </a:r>
          </a:p>
          <a:p/>
          <a:p>
            <a:r>
              <a:t>**Answer: B — `fruits.discard("apple")`**</a:t>
            </a:r>
          </a:p>
          <a:p/>
          <a:p>
            <a:r>
              <a:t>- A `remove()` raises a `KeyError` if the value is missing — NOT safe here.</a:t>
            </a:r>
          </a:p>
          <a:p>
            <a:r>
              <a:t>- B `discard()` silently does nothing if missing — the safe choice. ✅</a:t>
            </a:r>
          </a:p>
          <a:p>
            <a:r>
              <a:t>- C `delete()` is not a set method.</a:t>
            </a:r>
          </a:p>
          <a:p>
            <a:r>
              <a:t>- D `pop()` removes and returns an *arbitrary* element — it takes no argument (removing by value isn't what pop does on sets).</a:t>
            </a:r>
          </a:p>
          <a:p/>
          <a:p>
            <a:r>
              <a:t>Say: "Rule of thumb: if the value might not exist and you don't want to crash → `discard`. If you *want* to know it's missing (catch the error) → `remove`."</a:t>
            </a:r>
          </a:p>
          <a:p/>
          <a:p>
            <a:r>
              <a:t>Arabic tip: لخّص القاعدة بالعربية: "إذا لم تتأكد من وجود القيمة، استخدم discard حتى لا يتعطل البرنامج."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16 — Live coding: unique word counter**</a:t>
            </a:r>
          </a:p>
          <a:p/>
          <a:p>
            <a:r>
              <a:t>Have students open their editors and code along. Go line by line, running after each step:</a:t>
            </a:r>
          </a:p>
          <a:p/>
          <a:p>
            <a:r>
              <a:t>1. **Type** the sentence, print it. Ask: "How many words?" (8).</a:t>
            </a:r>
          </a:p>
          <a:p>
            <a:r>
              <a:t>2. **`split()`** → show the list of 8 words including repeats.</a:t>
            </a:r>
          </a:p>
          <a:p>
            <a:r>
              <a:t>3. **`set(words)`** → print it; the class should *see* duplicates vanish: `{'the', 'cat', 'and', 'dog', 'bird'}`.</a:t>
            </a:r>
          </a:p>
          <a:p>
            <a:r>
              <a:t>4. **`len(...)`** → 5.</a:t>
            </a:r>
          </a:p>
          <a:p/>
          <a:p>
            <a:r>
              <a:t>Stress the *why*: "This is how you'd count unique visitors, unique hashtags, unique error types."</a:t>
            </a:r>
          </a:p>
          <a:p/>
          <a:p>
            <a:r>
              <a:t>Extension if time: strip punctuation — `sentence.replace(",", "")` — to show real-world cleanup.</a:t>
            </a:r>
          </a:p>
          <a:p/>
          <a:p>
            <a:r>
              <a:t>Arabic tip: وجّه الطلاب خطوة بخطوة واجعلهم يتوقعون الناتج قبل التشغيل: "كم كلمة فريدة تتوقعون؟" ثم اربط النتيجة: 8 كلمات كاملة لكن 5 فقط فريدة.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17 — Predict the output**</a:t>
            </a:r>
          </a:p>
          <a:p/>
          <a:p>
            <a:r>
              <a:t>**Answer: `4`**</a:t>
            </a:r>
          </a:p>
          <a:p/>
          <a:p>
            <a:r>
              <a:t>Walk through it:</a:t>
            </a:r>
          </a:p>
          <a:p>
            <a:r>
              <a:t>- `s = {1, 2, 3}` → size 3.</a:t>
            </a:r>
          </a:p>
          <a:p>
            <a:r>
              <a:t>- `s.add(2)` → `2` already exists, **nothing changes** — size stays 3.</a:t>
            </a:r>
          </a:p>
          <a:p>
            <a:r>
              <a:t>- `s.add(4)` → adds `4` — size 4.</a:t>
            </a:r>
          </a:p>
          <a:p>
            <a:r>
              <a:t>- `len(s)` → `4`.</a:t>
            </a:r>
          </a:p>
          <a:p/>
          <a:p>
            <a:r>
              <a:t>Common wrong answer: "5" (students count `add` as always growing). Emphasize: `add` on an existing value is a silent no-op.</a:t>
            </a:r>
          </a:p>
          <a:p/>
          <a:p>
            <a:r>
              <a:t>Have them predict aloud before revealing. Then run it to confirm.</a:t>
            </a:r>
          </a:p>
          <a:p/>
          <a:p>
            <a:r>
              <a:t>Arabic tip: اسأل: "ماذا يحدث إذا أضفنا قيمة موجودة بالفعل؟" أجب: "لا شيء — المجموعة لن تتغير." هذا هو بيت القصيد.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18 — Common set mistakes**</a:t>
            </a:r>
          </a:p>
          <a:p/>
          <a:p>
            <a:r>
              <a:t>Go through the three traps with live demos so the errors are *seen*, not just told:</a:t>
            </a:r>
          </a:p>
          <a:p/>
          <a:p>
            <a:r>
              <a:t>1. **`{}` is a dict.** Run `type({})` → ``, then `type(set())` → ``. </a:t>
            </a:r>
          </a:p>
          <a:p>
            <a:r>
              <a:t>2. **Unhashable list.** Run `{[1, 2]}` and show the `TypeError: unhashable type: 'list'`. Explain simply: "A list can change, so Python can't stamp it — sets need fixed, hashable stamps." (Tuples ARE allowed: `{(1, 2)}` works.)</a:t>
            </a:r>
          </a:p>
          <a:p>
            <a:r>
              <a:t>3. **No order.** Run `print({3, 1, 2})` twice — the order may differ between runs/versions. Rule: if order matters, use a list (or `sorted()`).</a:t>
            </a:r>
          </a:p>
          <a:p/>
          <a:p>
            <a:r>
              <a:t>Closing line: "Avoid these three and sets will serve you forever."</a:t>
            </a:r>
          </a:p>
          <a:p/>
          <a:p>
            <a:r>
              <a:t>Arabic tip: اكتب الأخطاء الثلاثة على السبورة واطلب من كل طالب أن يعيد أحدها بأسلوبه: "المجموعة لا تحفظ الترتيب"، "لا تضع قائمة داخل مجموعة"، "الأقواس الفارغة قاموس".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19 — Why Dictionaries? (Instructor notes)</a:t>
            </a:r>
          </a:p>
          <a:p/>
          <a:p>
            <a:r>
              <a:t>**What to say**</a:t>
            </a:r>
          </a:p>
          <a:p>
            <a:r>
              <a:t>- Set the scene: "So far every list stores values in a row. But real programs need to look things up BY NAME, not by position."</a:t>
            </a:r>
          </a:p>
          <a:p>
            <a:r>
              <a:t>- Phonebook analogy: you don't scan all 10,000 numbers to find Ahmad — you jump straight to his entry.</a:t>
            </a:r>
          </a:p>
          <a:p>
            <a:r>
              <a:t>- Introduce the vocabulary NOW: KEY (the name you search with) and VALUE (the data you get back). Point at the diagram.</a:t>
            </a:r>
          </a:p>
          <a:p/>
          <a:p>
            <a:r>
              <a:t>**Key points**</a:t>
            </a:r>
          </a:p>
          <a:p>
            <a:r>
              <a:t>- A dictionary maps each key → exactly one value.</a:t>
            </a:r>
          </a:p>
          <a:p>
            <a:r>
              <a:t>- Keys are unique inside a dict; values may repeat.</a:t>
            </a:r>
          </a:p>
          <a:p>
            <a:r>
              <a:t>- Python calls them "dicts"; other languages call them maps / hash maps / objects (JS).</a:t>
            </a:r>
          </a:p>
          <a:p/>
          <a:p>
            <a:r>
              <a:t>**Arabic teaching tip**</a:t>
            </a:r>
          </a:p>
          <a:p>
            <a:r>
              <a:t>- ركّز على المصطلحين: المفتاح (key) والقيمة (value). اربطها بفكرة «الاسم ← الرقم» في دفتر الهاتف لتثبيت المفهوم.</a:t>
            </a:r>
          </a:p>
          <a:p/>
          <a:p>
            <a:r>
              <a:t>**Common confusion**</a:t>
            </a:r>
          </a:p>
          <a:p>
            <a:r>
              <a:t>- Students mix lists and dicts: lists use an index (0, 1, 2), dicts use a key. Emphasize we NEVER use a position to reach a dict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20 — Creating Dictionaries (Instructor notes)</a:t>
            </a:r>
          </a:p>
          <a:p/>
          <a:p>
            <a:r>
              <a:t>**What to say**</a:t>
            </a:r>
          </a:p>
          <a:p>
            <a:r>
              <a:t>- "Three doorways into the same room." Walk the class through each line.</a:t>
            </a:r>
          </a:p>
          <a:p>
            <a:r>
              <a:t>- Stress the shape: `{"key": value, "key": value}` — the colon is the glue, the comma separates pairs.</a:t>
            </a:r>
          </a:p>
          <a:p/>
          <a:p>
            <a:r>
              <a:t>**Live demo (2 min)**</a:t>
            </a:r>
          </a:p>
          <a:p>
            <a:r>
              <a:t>- Type `d = {"name": "Ahmad", "age": 16}` in the REPL, then `d`, then `type(d)` → ``.</a:t>
            </a:r>
          </a:p>
          <a:p>
            <a:r>
              <a:t>- Show `dict()` gives `{}`.</a:t>
            </a:r>
          </a:p>
          <a:p>
            <a:r>
              <a:t>- Watch out: typing `{"Ahmad", 16}` gives a SET, not a dict — this is the #1 trap.</a:t>
            </a:r>
          </a:p>
          <a:p/>
          <a:p>
            <a:r>
              <a:t>**Common mistakes**</a:t>
            </a:r>
          </a:p>
          <a:p>
            <a:r>
              <a:t>- Students write `{"name": "Ahmad", "age": 16,}` — trailing comma is actually FINE in Python.</a:t>
            </a:r>
          </a:p>
          <a:p>
            <a:r>
              <a:t>- Students try `dict("name", "Ahmad")` → TypeError. The constructor takes keyword args: `dict(name="Ahmad")`.</a:t>
            </a:r>
          </a:p>
          <a:p/>
          <a:p>
            <a:r>
              <a:t>**Arabic teaching tip**</a:t>
            </a:r>
          </a:p>
          <a:p>
            <a:r>
              <a:t>- ذكّرهم أن شكل القاموس دائمًا «مفتاح: قيمة». علامة النقطتين (:) هي التي تميّز القاموس عن المجموعة (set).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21 — Accessing Values (Instructor notes)</a:t>
            </a:r>
          </a:p>
          <a:p/>
          <a:p>
            <a:r>
              <a:t>**What to say**</a:t>
            </a:r>
          </a:p>
          <a:p>
            <a:r>
              <a:t>- Two tools for the same job. `d["key"]` is direct; `.get()` is defensive.</a:t>
            </a:r>
          </a:p>
          <a:p>
            <a:r>
              <a:t>- Explain KeyError precisely: it means "that key is not in this dictionary."</a:t>
            </a:r>
          </a:p>
          <a:p/>
          <a:p>
            <a:r>
              <a:t>**Live demo (2 min)**</a:t>
            </a:r>
          </a:p>
          <a:p>
            <a:r>
              <a:t>- `student["grade"]` → KeyError. Read the traceback aloud — this is the skill students need.</a:t>
            </a:r>
          </a:p>
          <a:p>
            <a:r>
              <a:t>- Then `student.get("grade")` → None (prints as `None`).</a:t>
            </a:r>
          </a:p>
          <a:p>
            <a:r>
              <a:t>- Then `student.get("grade", "N/A")` → `N/A`.</a:t>
            </a:r>
          </a:p>
          <a:p/>
          <a:p>
            <a:r>
              <a:t>**Common mistakes**</a:t>
            </a:r>
          </a:p>
          <a:p>
            <a:r>
              <a:t>- Students expect `d["x"]` to return None on a miss — it raises instead. Show both side by side.</a:t>
            </a:r>
          </a:p>
          <a:p>
            <a:r>
              <a:t>- Students forget `.get()` does NOT add the key; the dict stays unchanged.</a:t>
            </a:r>
          </a:p>
          <a:p/>
          <a:p>
            <a:r>
              <a:t>**Arabic teaching tip**</a:t>
            </a:r>
          </a:p>
          <a:p>
            <a:r>
              <a:t>- اشرح أن «KeyError» تعني «هذا المفتاح غير موجود». استخدم صورة الخزانة: إذا لم يوجد الرف رقم 7، لن تصل إليه.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22 — Changing a Dictionary (Instructor notes)</a:t>
            </a:r>
          </a:p>
          <a:p/>
          <a:p>
            <a:r>
              <a:t>**What to say**</a:t>
            </a:r>
          </a:p>
          <a:p>
            <a:r>
              <a:t>- Emphasize: the SAME syntax `d[key] = value` both adds AND updates. Nothing is created "new" — the key just lands in the dict.</a:t>
            </a:r>
          </a:p>
          <a:p>
            <a:r>
              <a:t>- `del` throws away the key/value completely; `.pop()` throws it away but returns the value first.</a:t>
            </a:r>
          </a:p>
          <a:p/>
          <a:p>
            <a:r>
              <a:t>**Live demo (2 min)**</a:t>
            </a:r>
          </a:p>
          <a:p>
            <a:r>
              <a:t>- Build `student` line by line, printing after each mutation so students see the dict grow and change.</a:t>
            </a:r>
          </a:p>
          <a:p>
            <a:r>
              <a:t>- Try `del student["missing"]` → KeyError. Then `student.pop("missing", None)` → None, no crash.</a:t>
            </a:r>
          </a:p>
          <a:p/>
          <a:p>
            <a:r>
              <a:t>**Common mistakes**</a:t>
            </a:r>
          </a:p>
          <a:p>
            <a:r>
              <a:t>- Students think `d["x"] = v` creates a new dict — it mutates in place.</a:t>
            </a:r>
          </a:p>
          <a:p>
            <a:r>
              <a:t>- Students expect `.pop()` without a key to be safe — it also raises KeyError unless a default is given.</a:t>
            </a:r>
          </a:p>
          <a:p>
            <a:r>
              <a:t>- Students use `del d` (deleting the whole dict!) instead of `del d[key]`.</a:t>
            </a:r>
          </a:p>
          <a:p/>
          <a:p>
            <a:r>
              <a:t>**Arabic teaching tip**</a:t>
            </a:r>
          </a:p>
          <a:p>
            <a:r>
              <a:t>- شبّه القاموس بلوحة تعليق: يمكنك إضافة بطاقة جديدة، تغيير محتوى بطاقة، أو إزالتها. كل ذلك دون تغيير اللوحة نفسها.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23 — Looping Over a Dictionary (Instructor notes)</a:t>
            </a:r>
          </a:p>
          <a:p/>
          <a:p>
            <a:r>
              <a:t>**What to say**</a:t>
            </a:r>
          </a:p>
          <a:p>
            <a:r>
              <a:t>- Three "views" of the same dict: keys, values, pairs.</a:t>
            </a:r>
          </a:p>
          <a:p>
            <a:r>
              <a:t>- `for k in d:` iterates over KEYS by default — say this out loud, students always assume values.</a:t>
            </a:r>
          </a:p>
          <a:p/>
          <a:p>
            <a:r>
              <a:t>**Live demo (2 min)**</a:t>
            </a:r>
          </a:p>
          <a:p>
            <a:r>
              <a:t>- Loop `for name in scores:` and print `scores[name]` to show the classic key → value pattern.</a:t>
            </a:r>
          </a:p>
          <a:p>
            <a:r>
              <a:t>- Then upgrade to `for name, score in scores.items():`.</a:t>
            </a:r>
          </a:p>
          <a:p/>
          <a:p>
            <a:r>
              <a:t>**Common mistakes**</a:t>
            </a:r>
          </a:p>
          <a:p>
            <a:r>
              <a:t>- Students write `for name, score in scores:` — this raises "too many values to unpack" because iterating a dict yields only keys. Always `.items()` for both.</a:t>
            </a:r>
          </a:p>
          <a:p>
            <a:r>
              <a:t>- Students print `dict_keys([...])` output and worry — explain it is a view, not a list.</a:t>
            </a:r>
          </a:p>
          <a:p/>
          <a:p>
            <a:r>
              <a:t>**Arabic teaching tip**</a:t>
            </a:r>
          </a:p>
          <a:p>
            <a:r>
              <a:t>- ذكّرهم: التكرار الافتراضي يمرّ على المفاتيح فقط. إذا أردت المفتاح والقيمة معًا، استخدم `.items()`.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24 — Nested Dictionaries (Instructor notes)</a:t>
            </a:r>
          </a:p>
          <a:p/>
          <a:p>
            <a:r>
              <a:t>**What to say**</a:t>
            </a:r>
          </a:p>
          <a:p>
            <a:r>
              <a:t>- "A dict value can be anything — even a list of dicts." Trace the nested structure on the board as a tree.</a:t>
            </a:r>
          </a:p>
          <a:p>
            <a:r>
              <a:t>- The KEY skill: read the chain left to right, one `[ ]` at a time.</a:t>
            </a:r>
          </a:p>
          <a:p/>
          <a:p>
            <a:r>
              <a:t>**Live demo (3 min)**</a:t>
            </a:r>
          </a:p>
          <a:p>
            <a:r>
              <a:t>- Print each step: `classroom["students"]`, then `...["students"][0]`, then `...[0]["name"]`. Watch it resolve.</a:t>
            </a:r>
          </a:p>
          <a:p>
            <a:r>
              <a:t>- Ask students to predict `classroom["students"][1]["age"]` → 17.</a:t>
            </a:r>
          </a:p>
          <a:p/>
          <a:p>
            <a:r>
              <a:t>**Common mistakes**</a:t>
            </a:r>
          </a:p>
          <a:p>
            <a:r>
              <a:t>- Students add too many or too few levels: `classroom[0]` fails (classroom has no index 0; use `["students"][0]`).</a:t>
            </a:r>
          </a:p>
          <a:p>
            <a:r>
              <a:t>- Forgetting commas between nested dicts — causes SyntaxError.</a:t>
            </a:r>
          </a:p>
          <a:p>
            <a:r>
              <a:t>- Mixing `()` and `[]` — dicts and lists both use `[]` to access.</a:t>
            </a:r>
          </a:p>
          <a:p/>
          <a:p>
            <a:r>
              <a:t>**Arabic teaching tip**</a:t>
            </a:r>
          </a:p>
          <a:p>
            <a:r>
              <a:t>- شبه السلسلة بدرج في خزانة: نفتح الدرج الأول (المفتاح)، ثم الرفّ، ثم الصندوق. كل قوس مربّع خطوة نحو الداخل.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25 — MCQ: Which creates a dictionary? (Instructor notes)</a:t>
            </a:r>
          </a:p>
          <a:p/>
          <a:p>
            <a:r>
              <a:t>**Answer: A** — `{"name": "Ahmad", "age": 16}` has `key: value` pairs, so it is a dict.</a:t>
            </a:r>
          </a:p>
          <a:p/>
          <a:p>
            <a:r>
              <a:t>**Why the others fail**</a:t>
            </a:r>
          </a:p>
          <a:p>
            <a:r>
              <a:t>- **B** `["name", "Ahmad"]` → a list. Elements, no keys.</a:t>
            </a:r>
          </a:p>
          <a:p>
            <a:r>
              <a:t>- **C** `("name", "Ahmad")` → a tuple. Immutable, still no keys.</a:t>
            </a:r>
          </a:p>
          <a:p>
            <a:r>
              <a:t>- **D** `{"Ahmad", 16}` → a SET. The missing colon is the giveaway. This is the most common trap — students see braces and say "dict".</a:t>
            </a:r>
          </a:p>
          <a:p/>
          <a:p>
            <a:r>
              <a:t>**How to run it**</a:t>
            </a:r>
          </a:p>
          <a:p>
            <a:r>
              <a:t>- `type({"Ahmad", 16})` → `` vs `type({"a": 1})` → ``. Project this and let students call it out.</a:t>
            </a:r>
          </a:p>
          <a:p/>
          <a:p>
            <a:r>
              <a:t>**Arabic teaching tip**</a:t>
            </a:r>
          </a:p>
          <a:p>
            <a:r>
              <a:t>- اذكر القاعدة: «القاموس فيه نقطتان، المجموعة لا». قاعدة ذهبية تمنع الالتباس بين {} للقاموس و {} للمجموعة.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26 — MCQ: What gets printed? (Instructor notes)</a:t>
            </a:r>
          </a:p>
          <a:p/>
          <a:p>
            <a:r>
              <a:t>**Answer: A** — `d.get("x", 0)` prints `0`.</a:t>
            </a:r>
          </a:p>
          <a:p/>
          <a:p>
            <a:r>
              <a:t>**Explain the reasoning**</a:t>
            </a:r>
          </a:p>
          <a:p>
            <a:r>
              <a:t>- `"x"` is NOT a key in `d` (`{"a": 1, "b": 2, "c": 3}`).</a:t>
            </a:r>
          </a:p>
          <a:p>
            <a:r>
              <a:t>- `.get(key, default)` returns `default` when the key is missing. Here default is `0`.</a:t>
            </a:r>
          </a:p>
          <a:p>
            <a:r>
              <a:t>- Without the second argument, `.get("x")` would return `None` (option B).</a:t>
            </a:r>
          </a:p>
          <a:p>
            <a:r>
              <a:t>- Option C (KeyError) would only happen with bracket access `d["x"]`.</a:t>
            </a:r>
          </a:p>
          <a:p>
            <a:r>
              <a:t>- Option D (`1`) is the value of key `"a"` — a distractor.</a:t>
            </a:r>
          </a:p>
          <a:p/>
          <a:p>
            <a:r>
              <a:t>**Arabic teaching tip**</a:t>
            </a:r>
          </a:p>
          <a:p>
            <a:r>
              <a:t>- أعِد التأكيد: d[key] يرمي خطأً KeyError إذا غاب المفتاح، بينما .get(key, default) يعيد القيمة الافتراضية بهدوء.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27 — Live Coding: Word Frequency Counter (Instructor notes)</a:t>
            </a:r>
          </a:p>
          <a:p/>
          <a:p>
            <a:r>
              <a:t>**Live coding flow (8-10 min)**</a:t>
            </a:r>
          </a:p>
          <a:p>
            <a:r>
              <a:t>1. Type the sentence. Ask: "How many unique words? Which repeats?"</a:t>
            </a:r>
          </a:p>
          <a:p>
            <a:r>
              <a:t>2. Build step by step: `text.split()`, then empty `freq = {}`.</a:t>
            </a:r>
          </a:p>
          <a:p>
            <a:r>
              <a:t>3. First version WITH an `if`:</a:t>
            </a:r>
          </a:p>
          <a:p>
            <a:r>
              <a:t>   ```python</a:t>
            </a:r>
          </a:p>
          <a:p>
            <a:r>
              <a:t>   for w in words:</a:t>
            </a:r>
          </a:p>
          <a:p>
            <a:r>
              <a:t>       if w in freq:</a:t>
            </a:r>
          </a:p>
          <a:p>
            <a:r>
              <a:t>           freq[w] += 1</a:t>
            </a:r>
          </a:p>
          <a:p>
            <a:r>
              <a:t>       else:</a:t>
            </a:r>
          </a:p>
          <a:p>
            <a:r>
              <a:t>           freq[w] = 1</a:t>
            </a:r>
          </a:p>
          <a:p>
            <a:r>
              <a:t>   ```</a:t>
            </a:r>
          </a:p>
          <a:p>
            <a:r>
              <a:t>4. Then refactor to the one-liner `freq[w] = freq.get(w, 0) + 1`. Show that both give the same answer — this is the "aha" moment.</a:t>
            </a:r>
          </a:p>
          <a:p>
            <a:r>
              <a:t>5. Run it; check `'the'` counts to 2, not 3 — the sentence only has two "the".</a:t>
            </a:r>
          </a:p>
          <a:p/>
          <a:p>
            <a:r>
              <a:t>**Common mistakes**</a:t>
            </a:r>
          </a:p>
          <a:p>
            <a:r>
              <a:t>- Students forget `+ 1` and overwrite with `freq.get(w, 0)` → every count becomes 0.</a:t>
            </a:r>
          </a:p>
          <a:p>
            <a:r>
              <a:t>- Students use `freq[w] = freq[w] + 1` before the key exists → KeyError. The `.get()` version is the fix.</a:t>
            </a:r>
          </a:p>
          <a:p>
            <a:r>
              <a:t>- Students count letters instead of words (skipping `.split()`).</a:t>
            </a:r>
          </a:p>
          <a:p/>
          <a:p>
            <a:r>
              <a:t>**Extension challenge**</a:t>
            </a:r>
          </a:p>
          <a:p>
            <a:r>
              <a:t>- Count words case-insensitively: lower each word with `w.lower()`.</a:t>
            </a:r>
          </a:p>
          <a:p>
            <a:r>
              <a:t>- Count letters instead: `for ch in text`.</a:t>
            </a:r>
          </a:p>
          <a:p/>
          <a:p>
            <a:r>
              <a:t>**Arabic teaching tip**</a:t>
            </a:r>
          </a:p>
          <a:p>
            <a:r>
              <a:t>- ذكّرهم أن «freq.get(w, 0)» تقول: «أعطني العدد الحالي، وإن لم يوجد فابدأ من صفر». هذا جوهر التكرار.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28 — Combining Lists, Sets, Dicts (Instructor notes)</a:t>
            </a:r>
          </a:p>
          <a:p/>
          <a:p>
            <a:r>
              <a:t>**What to say**</a:t>
            </a:r>
          </a:p>
          <a:p>
            <a:r>
              <a:t>- This is where the three collections become a system. Real programs rarely use one in isolation.</a:t>
            </a:r>
          </a:p>
          <a:p>
            <a:r>
              <a:t>- Point out the nesting pattern: `students[1]["name"]` mixes list indexing then dict lookup; `team["attackers"][0]` goes the other way.</a:t>
            </a:r>
          </a:p>
          <a:p/>
          <a:p>
            <a:r>
              <a:t>**Live demo (4 min)**</a:t>
            </a:r>
          </a:p>
          <a:p>
            <a:r>
              <a:t>- Type the whole file and run it. Then mutate live: append a new student dict to the list, dedupe a messier `ids`, show `len(set(ids))`.</a:t>
            </a:r>
          </a:p>
          <a:p>
            <a:r>
              <a:t>- Show `team["defenders"] += ["Sara"]` to demonstrate grouping.</a:t>
            </a:r>
          </a:p>
          <a:p/>
          <a:p>
            <a:r>
              <a:t>**Common mistakes**</a:t>
            </a:r>
          </a:p>
          <a:p>
            <a:r>
              <a:t>- Students write `students["name"]` forgetting the index — a list has no string keys.</a:t>
            </a:r>
          </a:p>
          <a:p>
            <a:r>
              <a:t>- Students forget that `set(ids)` output ORDER is not guaranteed — it is fine for dedupe but not for "keep order".</a:t>
            </a:r>
          </a:p>
          <a:p>
            <a:r>
              <a:t>- Students try `list[set(ids)]` instead of `list(set(ids))`.</a:t>
            </a:r>
          </a:p>
          <a:p/>
          <a:p>
            <a:r>
              <a:t>**Arabic teaching tip**</a:t>
            </a:r>
          </a:p>
          <a:p>
            <a:r>
              <a:t>- لخّص القاعدة: «القائمة للترتيب، المجموعة للتفرد، القاموس للبحث بالمفتاح». هذا المثلث يحل معظم المشاكل.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29 — Real-World Data Modeling (Instructor notes)</a:t>
            </a:r>
          </a:p>
          <a:p/>
          <a:p>
            <a:r>
              <a:t>**What to say**</a:t>
            </a:r>
          </a:p>
          <a:p>
            <a:r>
              <a:t>- Connect to the phonebook from slide 19: contacts are literally dicts. Now expand to products and students.</a:t>
            </a:r>
          </a:p>
          <a:p>
            <a:r>
              <a:t>- Frame the table: it IS a list of dicts. Every column is a key; every row is one dict. This is how databases think.</a:t>
            </a:r>
          </a:p>
          <a:p/>
          <a:p>
            <a:r>
              <a:t>**Live demo (4 min)**</a:t>
            </a:r>
          </a:p>
          <a:p>
            <a:r>
              <a:t>- Build `students = [{...}, {...}, {...}]` and print each row with a loop:</a:t>
            </a:r>
          </a:p>
          <a:p>
            <a:r>
              <a:t>  ```python</a:t>
            </a:r>
          </a:p>
          <a:p>
            <a:r>
              <a:t>  for s in students:</a:t>
            </a:r>
          </a:p>
          <a:p>
            <a:r>
              <a:t>      print(s["name"], s["grade"], s["city"])</a:t>
            </a:r>
          </a:p>
          <a:p>
            <a:r>
              <a:t>  ```</a:t>
            </a:r>
          </a:p>
          <a:p>
            <a:r>
              <a:t>- Compute class average with `sum(s["grade"] for s in students) / len(students)`.</a:t>
            </a:r>
          </a:p>
          <a:p>
            <a:r>
              <a:t>- Add a field to one dict mid-program (`.update`) and re-run — data is mutable.</a:t>
            </a:r>
          </a:p>
          <a:p/>
          <a:p>
            <a:r>
              <a:t>**Common mistakes**</a:t>
            </a:r>
          </a:p>
          <a:p>
            <a:r>
              <a:t>- Students index the table with a string: `students["name"]` — must be `students[0]["name"]`.</a:t>
            </a:r>
          </a:p>
          <a:p>
            <a:r>
              <a:t>- Students forget commas between the dict rows → SyntaxError. Point out the pattern visually.</a:t>
            </a:r>
          </a:p>
          <a:p/>
          <a:p>
            <a:r>
              <a:t>**Arabic teaching tip**</a:t>
            </a:r>
          </a:p>
          <a:p>
            <a:r>
              <a:t>- اشرح أن الجدول وقائمة القواميس شيء واحد: «العمود = مفتاح، والصف = قاموس». هذا يبني أساسًا قويًا لقواعد البيانات لاحقًا.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30 — Predict the Output (Instructor notes)</a:t>
            </a:r>
          </a:p>
          <a:p/>
          <a:p>
            <a:r>
              <a:t>**Answers**</a:t>
            </a:r>
          </a:p>
          <a:p>
            <a:r>
              <a:t>- `print(len(d))` → **3** — after `del d["a"]`, the keys are `"b"`, `"c"`, `"d"`.</a:t>
            </a:r>
          </a:p>
          <a:p>
            <a:r>
              <a:t>- `print(total)` → **106** — `99 + 3 + 4 = 106`.</a:t>
            </a:r>
          </a:p>
          <a:p/>
          <a:p>
            <a:r>
              <a:t>**Walkthrough**</a:t>
            </a:r>
          </a:p>
          <a:p>
            <a:r>
              <a:t>1. `d = {"a": 1, "b": 2, "c": 3}` — three keys.</a:t>
            </a:r>
          </a:p>
          <a:p>
            <a:r>
              <a:t>2. `d["b"] = 99` — overwrite b (still 3 keys).</a:t>
            </a:r>
          </a:p>
          <a:p>
            <a:r>
              <a:t>3. `d["d"] = 4` — add d (now 4 keys).</a:t>
            </a:r>
          </a:p>
          <a:p>
            <a:r>
              <a:t>4. `del d["a"]` — remove a (back to 3 keys: b, c, d).</a:t>
            </a:r>
          </a:p>
          <a:p>
            <a:r>
              <a:t>5. `sum(d.values())` = `99 + 3 + 4` = 106.</a:t>
            </a:r>
          </a:p>
          <a:p/>
          <a:p>
            <a:r>
              <a:t>**How to run the check**</a:t>
            </a:r>
          </a:p>
          <a:p>
            <a:r>
              <a:t>- Have students trace first (2 min, no typing), then run the file and compare. Ask who got both right — and why option mistakes happened.</a:t>
            </a:r>
          </a:p>
          <a:p/>
          <a:p>
            <a:r>
              <a:t>**Common mistakes**</a:t>
            </a:r>
          </a:p>
          <a:p>
            <a:r>
              <a:t>- Students forget that assigning to an existing key UPDATES instead of adding — count of keys stays the same.</a:t>
            </a:r>
          </a:p>
          <a:p>
            <a:r>
              <a:t>- Students count the original values (1, 2, 3) instead of the mutated ones.</a:t>
            </a:r>
          </a:p>
          <a:p>
            <a:r>
              <a:t>- Students forget `del` removes the entry completely, not sets it to 0.</a:t>
            </a:r>
          </a:p>
          <a:p/>
          <a:p>
            <a:r>
              <a:t>**Arabic teaching tip**</a:t>
            </a:r>
          </a:p>
          <a:p>
            <a:r>
              <a:t>- شبّه العملية بدفتر سجل: تعديل رقم لا يزيد عدد الأسطر، وحذف سطر يقلّله. العدد (len) يتبع الأسطر الموجودة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FULL 10 minutes — the break sits right after the densest part of the session (sets + dicts theory). </a:t>
            </a:r>
          </a:p>
          <a:p>
            <a:r>
              <a:t>Run a visible countdown timer on the projector (start it as soon as this slide appears).</a:t>
            </a:r>
          </a:p>
          <a:p/>
          <a:p>
            <a:r>
              <a:t>What to say:</a:t>
            </a:r>
          </a:p>
          <a:p>
            <a:r>
              <a:t>- "Stand up. Water. Stretch. Look away from the screen."</a:t>
            </a:r>
          </a:p>
          <a:p>
            <a:r>
              <a:t>- Tease the second half: "When we come back you'll build a real app — a Contact Manager — using lists, dicts and sets together. That's the part people put in their portfolio."</a:t>
            </a:r>
          </a:p>
          <a:p>
            <a:r>
              <a:t>- If students are energetic, offer the stretch for the whole group for 30 seconds.</a:t>
            </a:r>
          </a:p>
          <a:p/>
          <a:p>
            <a:r>
              <a:t>While they're away:</a:t>
            </a:r>
          </a:p>
          <a:p>
            <a:r>
              <a:t>- Prepare the live-editor/tab with `contact_manager.py` already open (blank file).</a:t>
            </a:r>
          </a:p>
          <a:p>
            <a:r>
              <a:t>- Double-check the expected output for the demo you'll run.</a:t>
            </a:r>
          </a:p>
          <a:p/>
          <a:p>
            <a:r>
              <a:t>Arabic tip: شجع الطلاب على الوقوف ومدّ أجسامهم ولو لثوانٍ — الاستراحة القصيرة ترتب المعلومات في الذاكرة. (Encourage standing and stretching briefly — short breaks consolidate memory.)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today's final deliverable. It is a text-menu app, so it reuses the `while True` menu pattern from Session 5's Grade Manager — but the data model is the new thing.</a:t>
            </a:r>
          </a:p>
          <a:p/>
          <a:p>
            <a:r>
              <a:t>Ask-before-show (think-pair-share, 1 min):</a:t>
            </a:r>
          </a:p>
          <a:p>
            <a:r>
              <a:t>- "If I store every contact as a dictionary, what are the keys?" → `name`, `phone`, `tags`.</a:t>
            </a:r>
          </a:p>
          <a:p>
            <a:r>
              <a:t>- "Why is `tags` a SET and not a list?" → so "work, work, friend" becomes {"work", "friend"} — duplicates collapse automatically.</a:t>
            </a:r>
          </a:p>
          <a:p>
            <a:r>
              <a:t>- "Where do the contacts live?" → in a list of dicts.</a:t>
            </a:r>
          </a:p>
          <a:p/>
          <a:p>
            <a:r>
              <a:t>Set expectations:</a:t>
            </a:r>
          </a:p>
          <a:p>
            <a:r>
              <a:t>- Built in 2 parts. Part 1 = data model + add. Part 2 = search + remove + menu.</a:t>
            </a:r>
          </a:p>
          <a:p>
            <a:r>
              <a:t>- Everyone types along in the live editor. Encourage students who finish early to help their neighbor.</a:t>
            </a:r>
          </a:p>
          <a:p/>
          <a:p>
            <a:r>
              <a:t>Arabic tip: اسأل الطلاب: لماذا نحتاج القواميس في هذا المشروع؟ أشر إلى أن كل جهة اتصال هي «بطاقة» فيها اسم ورقم وهاشتاقات. (Why do we need dicts here? Each contact is a card with a name, number and hashtags.)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— Part 1 (type it together, ~10 min). Keep the code exactly as on screen so students can follow.</a:t>
            </a:r>
          </a:p>
          <a:p/>
          <a:p>
            <a:r>
              <a:t>Steps:</a:t>
            </a:r>
          </a:p>
          <a:p>
            <a:r>
              <a:t>1. Create `contact_manager.py`. Start with `contacts = []`.</a:t>
            </a:r>
          </a:p>
          <a:p>
            <a:r>
              <a:t>2. Ask: "What shape is one contact?" → a dict. Type the `add_contact()` function.</a:t>
            </a:r>
          </a:p>
          <a:p>
            <a:r>
              <a:t>3. Highlight `.title()`: makes "sara" → "Sara" so search is forgiving later.</a:t>
            </a:r>
          </a:p>
          <a:p>
            <a:r>
              <a:t>4. The set comprehension line is the star. Explain step by step: `input()` → `"work, friend, work"` → `.split(",")` → `["work", " friend", " work"]` → `t.strip()` removes spaces → `{...}` keeps unique → `{"friend", "work"}`.</a:t>
            </a:r>
          </a:p>
          <a:p>
            <a:r>
              <a:t>5. Run it, add Sara twice, then call `show_tags()` → tags appear only once.</a:t>
            </a:r>
          </a:p>
          <a:p/>
          <a:p>
            <a:r>
              <a:t>Common mistakes to catch live:</a:t>
            </a:r>
          </a:p>
          <a:p>
            <a:r>
              <a:t>- `input("Tags: ")` without split → one giant string "work, friend" stored as a single tag. Ask students what went wrong.</a:t>
            </a:r>
          </a:p>
          <a:p>
            <a:r>
              <a:t>- Forgetting `contacts.append(...)` → "no contacts" later.</a:t>
            </a:r>
          </a:p>
          <a:p>
            <a:r>
              <a:t>- Using `+=` on a set instead of `|=` (set has no `+` → TypeError). Show the error, then fix.</a:t>
            </a:r>
          </a:p>
          <a:p/>
          <a:p>
            <a:r>
              <a:t>Expected demo run (for reference):</a:t>
            </a:r>
          </a:p>
          <a:p>
            <a:r>
              <a:t>```</a:t>
            </a:r>
          </a:p>
          <a:p>
            <a:r>
              <a:t>Name: Sara</a:t>
            </a:r>
          </a:p>
          <a:p>
            <a:r>
              <a:t>Phone: 050-1234567</a:t>
            </a:r>
          </a:p>
          <a:p>
            <a:r>
              <a:t>Tags: work, friend</a:t>
            </a:r>
          </a:p>
          <a:p>
            <a:r>
              <a:t>Added Sara!</a:t>
            </a:r>
          </a:p>
          <a:p>
            <a:r>
              <a:t>```</a:t>
            </a:r>
          </a:p>
          <a:p/>
          <a:p>
            <a:r>
              <a:t>Arabic tip: اشرح خطوة خطوة كيف تتحول الجملة المدخلة إلى مجموعة وسم — الكتابة بالعربية أوضح: «أدخل الوسوم مفصولة بفواصل ثم نفصلها وننظّفها». (Explain the input → split → strip → set chain in Arabic slowly.)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— Part 2 (type it together, ~10 min). Continue in the same `contact_manager.py`.</a:t>
            </a:r>
          </a:p>
          <a:p/>
          <a:p>
            <a:r>
              <a:t>Steps:</a:t>
            </a:r>
          </a:p>
          <a:p>
            <a:r>
              <a:t>1. `search()`: compare lowercase against lowercase (`c["name"].lower()`) so typing "SARA" finds "Sara". `in` checks *substring* — "sa" finds "Sara" and "Salem". Good for a demo, mention it.</a:t>
            </a:r>
          </a:p>
          <a:p>
            <a:r>
              <a:t>2. `remove()`: `enumerate(contacts)` gives index + contact. When the name matches, `pop(i)` removes it by index. The `return` stops the loop immediately — otherwise you'd keep looping over a changed list.</a:t>
            </a:r>
          </a:p>
          <a:p>
            <a:r>
              <a:t>3. Menu: `while True` + `if/elif` chain calls the right function. Choice `"5"` → `break` → `print("Bye!")`.</a:t>
            </a:r>
          </a:p>
          <a:p/>
          <a:p>
            <a:r>
              <a:t>Run the full app now. Walk through the whole flow: add 2-3 contacts → search → show tags → remove → quit.</a:t>
            </a:r>
          </a:p>
          <a:p/>
          <a:p>
            <a:r>
              <a:t>Common mistakes to catch:</a:t>
            </a:r>
          </a:p>
          <a:p>
            <a:r>
              <a:t>- Comparing `c["name"]` (capitalized) to `name` (lowercased) → never matches. Fix with `.lower()` on both sides.</a:t>
            </a:r>
          </a:p>
          <a:p>
            <a:r>
              <a:t>- Removing inside a `for` loop without `return` → skips or re-checks items. Show the bug.</a:t>
            </a:r>
          </a:p>
          <a:p>
            <a:r>
              <a:t>- Indenting the `print("Bye!")` inside the `while` → prints every loop iteration.</a:t>
            </a:r>
          </a:p>
          <a:p/>
          <a:p>
            <a:r>
              <a:t>Arabic tip: القائمة مثل «قائمة مطعم» — رقم لكل طلب، وكل رقم ينفّذ دالة. كرّر هذا التشبيه بالعربية. (The menu is like a restaurant menu — each number triggers one dish, i.e. one function.)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expected output and let students self-check. Give 5 minutes for everyone to get their program running and matching this output.</a:t>
            </a:r>
          </a:p>
          <a:p/>
          <a:p>
            <a:r>
              <a:t>Walk through each block aloud:</a:t>
            </a:r>
          </a:p>
          <a:p>
            <a:r>
              <a:t>1. `&gt; 4` → `['friend', 'gym', 'work']` — ask "where did the set magic happen?" Answer: `show_tags()` union. Note `sorted()` makes the set output stable (sets have no order).</a:t>
            </a:r>
          </a:p>
          <a:p>
            <a:r>
              <a:t>2. `&gt; 3` + typing "sara" — lowercasing on both sides is why it matched. Emphasize case-insensitivity as a *feature*, not a hack.</a:t>
            </a:r>
          </a:p>
          <a:p>
            <a:r>
              <a:t>3. `&gt; 5` → `break` → `Bye!`.</a:t>
            </a:r>
          </a:p>
          <a:p/>
          <a:p>
            <a:r>
              <a:t>Troubleshooting queue while they run it:</a:t>
            </a:r>
          </a:p>
          <a:p>
            <a:r>
              <a:t>- If tags come back as one long string → they forgot `.split(",")` (compare with slide 33).</a:t>
            </a:r>
          </a:p>
          <a:p>
            <a:r>
              <a:t>- If `Remove` says "Not found." → they compared the raw names without `.lower()`.</a:t>
            </a:r>
          </a:p>
          <a:p>
            <a:r>
              <a:t>- If the menu re-prints after quit → `print("Bye!")` is inside the `while`.</a:t>
            </a:r>
          </a:p>
          <a:p/>
          <a:p>
            <a:r>
              <a:t>Celebrate: "That's a real, working app. Ten days ago you couldn't write a loop — now you built a phonebook."</a:t>
            </a:r>
          </a:p>
          <a:p/>
          <a:p>
            <a:r>
              <a:t>Arabic tip: اطلب من طالب يشرح بالعربية ماذا يحدث عند اختيار الرقم ٤ — شرح الزميل يرسّخ الفكرة. (Ask a student to explain in Arabic what happens on option 4 — peer explanation cements the idea.)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knowledge check — 1 minute, no code, just think. Ask students to vote by raising a hand (or typing the letter in chat if online).</a:t>
            </a:r>
          </a:p>
          <a:p/>
          <a:p>
            <a:r>
              <a:t>Answer: **A — "2 2"**</a:t>
            </a:r>
          </a:p>
          <a:p>
            <a:r>
              <a:t>- `len(contact)` = number of keys in the dict = `"name"` and `"tags"` = 2.</a:t>
            </a:r>
          </a:p>
          <a:p>
            <a:r>
              <a:t>- `contact["tags"]` returns the set `{"friend", "work"}` → `len()` of a set counts unique elements = 2.</a:t>
            </a:r>
          </a:p>
          <a:p/>
          <a:p>
            <a:r>
              <a:t>Why the distractors work:</a:t>
            </a:r>
          </a:p>
          <a:p>
            <a:r>
              <a:t>- B (2 1): someone who thinks a set with 2 elements is "1" (confusing value+key).</a:t>
            </a:r>
          </a:p>
          <a:p>
            <a:r>
              <a:t>- C (3 2): counting `"name"`, `"Sara"`, `"tags"` as 3 keys (adding values to the key count).</a:t>
            </a:r>
          </a:p>
          <a:p>
            <a:r>
              <a:t>- D (1 2): thinking a dict counts as 1 key total.</a:t>
            </a:r>
          </a:p>
          <a:p/>
          <a:p>
            <a:r>
              <a:t>After the vote, explain the two `len()` rules aloud. This is the classic "sets vs dicts" trap — good to clear now, before homework.</a:t>
            </a:r>
          </a:p>
          <a:p/>
          <a:p>
            <a:r>
              <a:t>Arabic tip: اسأل: «كيف نحسب عدد المفاتيح في القاموس؟» ثم «كيف نحسب عدد العناصر الفريدة في المجموعة؟» — إجابتان قصيرتان تكفيان. (Two quick questions: how to count keys, how to count unique items.)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minutes, work in pairs (screen-share or side-by-side). Both challenges are shown WITH solutions — so the real task is to write them from memory in the editor, then check. Ask students to try first, then compare.</a:t>
            </a:r>
          </a:p>
          <a:p/>
          <a:p>
            <a:r>
              <a:t>Challenge 1 explainer (only if stuck):</a:t>
            </a:r>
          </a:p>
          <a:p>
            <a:r>
              <a:t>- "For each letter, we need its current count. `counts.get(ch, 0)` gives 0 if it's the first time. Add 1, store it back."</a:t>
            </a:r>
          </a:p>
          <a:p>
            <a:r>
              <a:t>- Common mistake: writing `counts[ch] = 1` (resets every time → each count = 1) or `counts[ch] += 1` without `.get()` → KeyError on the first new letter. Show both errors live.</a:t>
            </a:r>
          </a:p>
          <a:p/>
          <a:p>
            <a:r>
              <a:t>Challenge 2 explainer:</a:t>
            </a:r>
          </a:p>
          <a:p>
            <a:r>
              <a:t>- `set(names)` drops duplicates instantly. `len(names) - len(unique)` = duplicates removed.</a:t>
            </a:r>
          </a:p>
          <a:p>
            <a:r>
              <a:t>- `sorted(unique)` gives a stable, alphabetical order — sets themselves have no order.</a:t>
            </a:r>
          </a:p>
          <a:p>
            <a:r>
              <a:t>- Common mistake: forgetting that `sorted()` returns a list, printing the set directly and getting a random-looking order.</a:t>
            </a:r>
          </a:p>
          <a:p/>
          <a:p>
            <a:r>
              <a:t>When done, quickly poll: "Who had all 5 unique? Who found the KeyError? What fixed it?"</a:t>
            </a:r>
          </a:p>
          <a:p/>
          <a:p>
            <a:r>
              <a:t>Arabic tip: لاحظ أن كل طالبين معًا يحلّان سريعًا — التحدي الثاني (إزالة التكرار) هو نفس فكرة «حذف الأسماء المكررة من قائمة الصف». (Pairs work faster; challenge 2 mirrors deduping the class list.)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minutes of independent work. Encourage students to start at EASY even if it feels simple — it warms up the syntax. The goal is to reach the CHALLENGE tier.</a:t>
            </a:r>
          </a:p>
          <a:p/>
          <a:p>
            <a:r>
              <a:t>Walking solutions to check:</a:t>
            </a:r>
          </a:p>
          <a:p/>
          <a:p>
            <a:r>
              <a:t>EASY:</a:t>
            </a:r>
          </a:p>
          <a:p>
            <a:r>
              <a:t>```python</a:t>
            </a:r>
          </a:p>
          <a:p>
            <a:r>
              <a:t>colors = {"red", "green", "blue"}</a:t>
            </a:r>
          </a:p>
          <a:p>
            <a:r>
              <a:t>colors.add("orange")        # set is {red, green, blue, orange}</a:t>
            </a:r>
          </a:p>
          <a:p>
            <a:r>
              <a:t>colors.discard("green")     # no error even if missing</a:t>
            </a:r>
          </a:p>
          <a:p>
            <a:r>
              <a:t>print(len(colors))          # 3</a:t>
            </a:r>
          </a:p>
          <a:p>
            <a:r>
              <a:t>```</a:t>
            </a:r>
          </a:p>
          <a:p>
            <a:r>
              <a:t>Note: `discard()` never errors; `remove()` would raise KeyError if missing. This is a great teaching moment.</a:t>
            </a:r>
          </a:p>
          <a:p/>
          <a:p>
            <a:r>
              <a:t>MEDIUM:</a:t>
            </a:r>
          </a:p>
          <a:p>
            <a:r>
              <a:t>```python</a:t>
            </a:r>
          </a:p>
          <a:p>
            <a:r>
              <a:t>friends = {"Sara": 16, "Omar": 17, "Lina": 16, "Ali": 18}</a:t>
            </a:r>
          </a:p>
          <a:p>
            <a:r>
              <a:t>for name, age in friends.items():</a:t>
            </a:r>
          </a:p>
          <a:p>
            <a:r>
              <a:t>    print(f"{name} is {age} years old")</a:t>
            </a:r>
          </a:p>
          <a:p>
            <a:r>
              <a:t>friends["Nour"] = 15</a:t>
            </a:r>
          </a:p>
          <a:p>
            <a:r>
              <a:t>print(friends.get("Nour", "not found"))     # 15</a:t>
            </a:r>
          </a:p>
          <a:p>
            <a:r>
              <a:t>print(friends.get("Zaid", "not found"))     # not found</a:t>
            </a:r>
          </a:p>
          <a:p>
            <a:r>
              <a:t>```</a:t>
            </a:r>
          </a:p>
          <a:p/>
          <a:p>
            <a:r>
              <a:t>CHALLENGE:</a:t>
            </a:r>
          </a:p>
          <a:p>
            <a:r>
              <a:t>```python</a:t>
            </a:r>
          </a:p>
          <a:p>
            <a:r>
              <a:t>names = set()</a:t>
            </a:r>
          </a:p>
          <a:p>
            <a:r>
              <a:t>while True:</a:t>
            </a:r>
          </a:p>
          <a:p>
            <a:r>
              <a:t>    n = input("Name (or 'done'): ").strip()</a:t>
            </a:r>
          </a:p>
          <a:p>
            <a:r>
              <a:t>    if n == "done":</a:t>
            </a:r>
          </a:p>
          <a:p>
            <a:r>
              <a:t>        break</a:t>
            </a:r>
          </a:p>
          <a:p>
            <a:r>
              <a:t>    names.add(n)</a:t>
            </a:r>
          </a:p>
          <a:p>
            <a:r>
              <a:t>print(sorted(names))</a:t>
            </a:r>
          </a:p>
          <a:p>
            <a:r>
              <a:t>print(len(names))</a:t>
            </a:r>
          </a:p>
          <a:p>
            <a:r>
              <a:t>```</a:t>
            </a:r>
          </a:p>
          <a:p>
            <a:r>
              <a:t>Emphasize: because it's a SET, adding "Sara" twice still keeps one — no extra if-check needed.</a:t>
            </a:r>
          </a:p>
          <a:p/>
          <a:p>
            <a:r>
              <a:t>Common mistakes:</a:t>
            </a:r>
          </a:p>
          <a:p>
            <a:r>
              <a:t>- EASY: using `remove()` on a possibly-missing item → KeyError.</a:t>
            </a:r>
          </a:p>
          <a:p>
            <a:r>
              <a:t>- MEDIUM: `friends.get("Nour")` returns `None`, not a default — show the two-argument form.</a:t>
            </a:r>
          </a:p>
          <a:p>
            <a:r>
              <a:t>- CHALLENGE: building a list first then deduping at the end (works, but a set from the start is cleaner).</a:t>
            </a:r>
          </a:p>
          <a:p/>
          <a:p>
            <a:r>
              <a:t>Arabic tip: ذكّرهم أن اسم التمرين المتوسط «أصدقاء وأعمارهم» — تشبيه القاموس بالدفتر. (The medium task is a friends-and-ages notebook — the classic dict analogy.)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homework, set expectations, and give a 2-minute hint for each task.</a:t>
            </a:r>
          </a:p>
          <a:p/>
          <a:p>
            <a:r>
              <a:t>Hints:</a:t>
            </a:r>
          </a:p>
          <a:p>
            <a:r>
              <a:t>1. EASY: `len(playlist) - len(set(playlist))` = number of duplicate songs.</a:t>
            </a:r>
          </a:p>
          <a:p>
            <a:r>
              <a:t>2. MEDIUM: loop + `input()`, stop on "done", then `phonebook.get(name, "Not found")`.</a:t>
            </a:r>
          </a:p>
          <a:p>
            <a:r>
              <a:t>3. HARD: `.split()` the paragraph into words, then the frequency pattern from slide 37. For "top 3", hint toward `sorted(counts.items(), key=lambda x: x[1], reverse=True)[:3]` — but only show it if they ask. It's a preview of Session 7 (functions + lambda).</a:t>
            </a:r>
          </a:p>
          <a:p/>
          <a:p>
            <a:r>
              <a:t>BONUS (Contact Manager v2): "find by tag" needs a loop over `contacts` and `"tag" in c["tags"]` — that's the set-membership check from today. This is genuinely the most impressive task; praise anyone who attempts it.</a:t>
            </a:r>
          </a:p>
          <a:p/>
          <a:p>
            <a:r>
              <a:t>Remind them:</a:t>
            </a:r>
          </a:p>
          <a:p>
            <a:r>
              <a:t>- Submission: paste code in the class channel / drive before next session.</a:t>
            </a:r>
          </a:p>
          <a:p>
            <a:r>
              <a:t>- No AI copy-paste — if you can't explain your code, it's not done.</a:t>
            </a:r>
          </a:p>
          <a:p/>
          <a:p>
            <a:r>
              <a:t>Arabic tip: ذكّرهم أن المهمة الإضافية اختيارية لكنها «نجمة» في السيرة الذاتية للمبرمج الناشئ. (The bonus is optional but a star for their budding-dev résumé.)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**Q1 → B (3)**, **Q2 → B (d.get("x"))**, **Q3 → C (4)**.</a:t>
            </a:r>
          </a:p>
          <a:p/>
          <a:p>
            <a:r>
              <a:t>Take all three answers as a chat poll or hand raises, THEN reveal.</a:t>
            </a:r>
          </a:p>
          <a:p/>
          <a:p>
            <a:r>
              <a:t>Explanations to give:</a:t>
            </a:r>
          </a:p>
          <a:p>
            <a:r>
              <a:t>- Q1: `{1, 2, 3, 2, 1}` is a set → duplicates collapse → `{1, 2, 3}` → len = 3.</a:t>
            </a:r>
          </a:p>
          <a:p>
            <a:r>
              <a:t>- Q2: `d.get("x")` returns `None` if missing; `d["x"]` raises KeyError; `d.keys()` and `len(d)` never touch the key. (Bonus: `d.get("x", default)` returns a custom default.)</a:t>
            </a:r>
          </a:p>
          <a:p>
            <a:r>
              <a:t>- Q3: `set([4, 4, 1, 2, 2, 3])` → `{1, 2, 3, 4}` → len = 4. This is the list→set dedupe trick from slide 13.</a:t>
            </a:r>
          </a:p>
          <a:p/>
          <a:p>
            <a:r>
              <a:t>Tally the results. If fewer than ~70% get Q2 right, spend 2 minutes re-teaching `.get()` vs `[]` (the single most important dict safety skill). If Q3 is shaky, re-float the dedupe visual.</a:t>
            </a:r>
          </a:p>
          <a:p/>
          <a:p>
            <a:r>
              <a:t>Arabic tip: اطلب من طالب يشرح إجابة Q3 بالعربية — لماذا صار الطول ٤ وليس ٦. (Have a student explain Q3 in Arabic: why 4, not 6.)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in ~3 minutes. Three pillars — keep it fast, this is reinforcement not new content.</a:t>
            </a:r>
          </a:p>
          <a:p/>
          <a:p>
            <a:r>
              <a:t>Suggested script:</a:t>
            </a:r>
          </a:p>
          <a:p>
            <a:r>
              <a:t>1. Sets: "Give me the sentence for sets." → "No duplicates." Mention union/intersection are how you combine tag sets.</a:t>
            </a:r>
          </a:p>
          <a:p>
            <a:r>
              <a:t>2. Dicts: "Give me the sentence for dicts." → "Key links to a value." Stress `.get()` as the safety skill they must use in homework.</a:t>
            </a:r>
          </a:p>
          <a:p>
            <a:r>
              <a:t>3. Combining: point at the Contact Manager — today they shipped a real app that uses all three data types.</a:t>
            </a:r>
          </a:p>
          <a:p/>
          <a:p>
            <a:r>
              <a:t>Then read the one-sentence takeaway aloud and ask the class to repeat it. This is the memory anchor for the whole session.</a:t>
            </a:r>
          </a:p>
          <a:p/>
          <a:p>
            <a:r>
              <a:t>Check understanding: quick show-of-hands "who can explain dedupe in one line?" before moving to the bridge slide.</a:t>
            </a:r>
          </a:p>
          <a:p/>
          <a:p>
            <a:r>
              <a:t>Arabic tip: اقرأ جملة الخلاصة بالعربية: «المجموعة تحفظ العناصر الفريدة، والقاموس يربط مفتاحًا بقيمة». (Read the takeaway sentence in Arabic.)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 — 2 minutes, purely motivational.</a:t>
            </a:r>
          </a:p>
          <a:p/>
          <a:p>
            <a:r>
              <a:t>Key message: "You've been using functions all day. `len()`, `input()`, `set()`, `sorted()` — someone wrote those with `def`. Next session, that someone is YOU."</a:t>
            </a:r>
          </a:p>
          <a:p/>
          <a:p>
            <a:r>
              <a:t>Read the `greet` example aloud and trace it: `def` creates the function, `name` is a parameter (input), `return` is the output, then we call it twice with different values.</a:t>
            </a:r>
          </a:p>
          <a:p/>
          <a:p>
            <a:r>
              <a:t>Connection to today: today's project was built from functions too — `add_contact()`, `search()`, `remove()`, `show_tags()` are all the *result* of `def`. So functions are not new; next session just makes them first-class citizens.</a:t>
            </a:r>
          </a:p>
          <a:p/>
          <a:p>
            <a:r>
              <a:t>If time: ask "which functions did you call today?" and collect on a whiteboard — it's a fun memory list.</a:t>
            </a:r>
          </a:p>
          <a:p/>
          <a:p>
            <a:r>
              <a:t>Arabic tip: اسألهم: «مَن كتب دوال اليوم؟» — الجواب: أنتم، داخل مدير جهات الاتصال. هذا يبني الثقة قبل فصل الدوال. (Who wrote functions today? You did, inside the Contact Manager.)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slide — 1 minute, build excitement.</a:t>
            </a:r>
          </a:p>
          <a:p/>
          <a:p>
            <a:r>
              <a:t>What to say:</a:t>
            </a:r>
          </a:p>
          <a:p>
            <a:r>
              <a:t>- "Everything you did today used functions. Next week, you write your own."</a:t>
            </a:r>
          </a:p>
          <a:p>
            <a:r>
              <a:t>- Callback: "In the Contact Manager, `add_contact()` was a function *you* defined. That's not a fluke — that's the whole point of Session 7."</a:t>
            </a:r>
          </a:p>
          <a:p>
            <a:r>
              <a:t>- Tease the mini-projects: a calculator (user picks operation, function does math) and a helper library of tiny tools.</a:t>
            </a:r>
          </a:p>
          <a:p/>
          <a:p>
            <a:r>
              <a:t>Don't teach any `def` details here — the bridge slide (42) already showed one line. This is pure hype.</a:t>
            </a:r>
          </a:p>
          <a:p/>
          <a:p>
            <a:r>
              <a:t>Optionally ask students to write down one function idea they'd want to build (collect ideas — great for the opening of next session).</a:t>
            </a:r>
          </a:p>
          <a:p/>
          <a:p>
            <a:r>
              <a:t>Arabic tip: اسألهم سؤالًا واحدًا قبل المغادرة: «ما الدالة التي تودّون بناءها؟» — اكتبوا الأفكار على السبورة. (One exit question: which function would you like to build?)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— 2 minutes. Celebrate the session and end on a high note.</a:t>
            </a:r>
          </a:p>
          <a:p/>
          <a:p>
            <a:r>
              <a:t>Script:</a:t>
            </a:r>
          </a:p>
          <a:p>
            <a:r>
              <a:t>- Genuine praise: "Today you shipped a real application. In Session 1 you printed 'Hello World'. Now you built a contact manager. Do you realize how far that is?"</a:t>
            </a:r>
          </a:p>
          <a:p>
            <a:r>
              <a:t>- Remind: homework is due before next session; the bonus task is worth attempting.</a:t>
            </a:r>
          </a:p>
          <a:p>
            <a:r>
              <a:t>- Point forward: Session 7 = Functions (already teased on slides 42-43). Ask the exit question: "Which function would you build?"</a:t>
            </a:r>
          </a:p>
          <a:p>
            <a:r>
              <a:t>- If online: keep the video call open a few minutes for questions; say you'll stay for quick help.</a:t>
            </a:r>
          </a:p>
          <a:p/>
          <a:p>
            <a:r>
              <a:t>Optional ceremony: ask everyone to unmute and give the class a round of applause; or have students paste one "aha moment" from today in the chat as they leave.</a:t>
            </a:r>
          </a:p>
          <a:p/>
          <a:p>
            <a:r>
              <a:t>Arabic tip: اختتم بكلمة شكر بالعربية مباشرة: «أفتخر بكم — استراحوا اليوم، وبكرا تكمّلون التحدي». (End with a direct Arabic thank-you and encourage them to rest then finish the challenge tomorrow.)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— leave on screen while students start their homework, or screenshot it.</a:t>
            </a:r>
          </a:p>
          <a:p/>
          <a:p>
            <a:r>
              <a:t>Use this as the "open-book" moment: tell students they may keep this slide open while doing the homework. Note that it's the ONLY slide they get to look at — the real work is applying these to new problems.</a:t>
            </a:r>
          </a:p>
          <a:p/>
          <a:p>
            <a:r>
              <a:t>Walk through each block quickly (2 minutes):</a:t>
            </a:r>
          </a:p>
          <a:p>
            <a:r>
              <a:t>1. Sets: add vs discard vs remove (the error difference matters — `.remove` on a missing item raises KeyError).</a:t>
            </a:r>
          </a:p>
          <a:p>
            <a:r>
              <a:t>2. Set math: the four operators and their names. `^` symmetric difference is the least intuitive — one example: `{1,2} ^ {2,3}` → `{1,3}` (everything not shared).</a:t>
            </a:r>
          </a:p>
          <a:p>
            <a:r>
              <a:t>3. Dicts: `.get(key, default)` is the line to remember — it's how you avoid KeyError crashes.</a:t>
            </a:r>
          </a:p>
          <a:p>
            <a:r>
              <a:t>4. Combining: this is the exact pattern from the Contact Manager — a list of dicts whose values can be sets. Read it top to bottom and point at the union loop.</a:t>
            </a:r>
          </a:p>
          <a:p/>
          <a:p>
            <a:r>
              <a:t>Encourage students to build their own version of this cheat sheet from memory tomorrow morning — recalling syntax beats re-reading it.</a:t>
            </a:r>
          </a:p>
          <a:p/>
          <a:p>
            <a:r>
              <a:t>Arabic tip: قل لهم: «احفظوا هذا ببناء ورقة مثله من الذاكرة صباحًا — الاسترجاع أقوى من القراءة». (Suggest rewriting the sheet from memory the next morning.)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sets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creating-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set-uniqu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set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set-memb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set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duplicate-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mcq-se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mcq-set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live-coding-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predict-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common-mistakes-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di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creating-d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dict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dict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dict-it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nested-d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mcq-dic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mcq-dict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live-coding-d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comb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real-world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predict-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mcq-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coding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