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**Welcome**: Greet the class, "Session 7 — today we stop repeating ourselves."</a:t>
            </a:r>
          </a:p>
          <a:p>
            <a:r>
              <a:t>- Ask icebreaker: "Who has copy-pasted code more than 3 times today?" Most hands go up.</a:t>
            </a:r>
          </a:p>
          <a:p>
            <a:r>
              <a:t>- Set expectations: by the end you will write your own reusable functions and build a Modular Calculator.</a:t>
            </a:r>
          </a:p>
          <a:p>
            <a:r>
              <a:t>- Age 15–22, keep energy high, promise lots of live coding + a project.</a:t>
            </a:r>
          </a:p>
          <a:p>
            <a:r>
              <a:t>- Arabic tip: mention that the word for function here is «الدالة» and we'll use it throughout.</a:t>
            </a:r>
          </a:p>
          <a:p>
            <a:r>
              <a:t>- Agenda quick teaser: theory → predict output → live coding → project →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**Hook script**: read the pasted blocks dramatically, build tension.</a:t>
            </a:r>
          </a:p>
          <a:p>
            <a:r>
              <a:t>- Ask: "What happens if the format changes?" → you edit 5 places.</a:t>
            </a:r>
          </a:p>
          <a:p>
            <a:r>
              <a:t>- Point at DRY principle; this is the #1 motivation for functions.</a:t>
            </a:r>
          </a:p>
          <a:p>
            <a:r>
              <a:t>- Fun demo: have a student count duplicated lines in a file if available.</a:t>
            </a:r>
          </a:p>
          <a:p>
            <a:r>
              <a:t>- Live mini-prompt: "What real repetition do you have in your life? A morning routine = a function!"</a:t>
            </a:r>
          </a:p>
          <a:p>
            <a:r>
              <a:t>- Arabic tip: DRY تُقرأ حرفيًا «لا تكرر نفسك».</a:t>
            </a:r>
          </a:p>
          <a:p>
            <a:r>
              <a:t>- Transition: "Today you'll build a machine that you can run anytime."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B — 3.** A set removes duplicates: {1, 2, 3}, so len() is 3.</a:t>
            </a:r>
          </a:p>
          <a:p>
            <a:r>
              <a:t>- Wait for hands before revealing. Ask a student to explain the dedup rule.</a:t>
            </a:r>
          </a:p>
          <a:p>
            <a:r>
              <a:t>- Recall quick facts: `.add(x)`, `a | b` union, `a &amp; b` intersection, `x in s` is O(1).</a:t>
            </a:r>
          </a:p>
          <a:p>
            <a:r>
              <a:t>- Common confusion: `{}` is an empty DICT, not a set — `set()` makes an empty set.</a:t>
            </a:r>
          </a:p>
          <a:p>
            <a:r>
              <a:t>- Arabic tip: المجموعة لا تسمح بالتكرار — أي عنصر مكرر يُحذف تلقائيًا.</a:t>
            </a:r>
          </a:p>
          <a:p>
            <a:r>
              <a:t>- Connect: "Sets are fast for membership — we'll reuse that idea in functions today."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B — `student["name"]`.** Dicts are accessed by KEY, never by index.</a:t>
            </a:r>
          </a:p>
          <a:p>
            <a:r>
              <a:t>- A raises KeyError (no key 0); C is invalid Python (dot access doesn't exist for dicts); D prints 19.</a:t>
            </a:r>
          </a:p>
          <a:p>
            <a:r>
              <a:t>- Recall: `student.get("name")` also works and returns None if missing — safe lookup.</a:t>
            </a:r>
          </a:p>
          <a:p>
            <a:r>
              <a:t>- Have a student demo iterating `for key, value in student.items():`.</a:t>
            </a:r>
          </a:p>
          <a:p>
            <a:r>
              <a:t>- Arabic tip: القاموس يعمل بالاسم (المفتاح) وليس بالرقم (الفهرس).</a:t>
            </a:r>
          </a:p>
          <a:p>
            <a:r>
              <a:t>- Bridge: "Today your functions will read and transform dicts like this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C — set (and dict keys are equally fast).** Lists/tuples/strings scan item by item → O(n).</a:t>
            </a:r>
          </a:p>
          <a:p>
            <a:r>
              <a:t>- Demo: `"Nour" in big_set` vs `"Nour" in big_list` with 1M items — the set wins instantly.</a:t>
            </a:r>
          </a:p>
          <a:p>
            <a:r>
              <a:t>- This is WHY dicts and sets feel "magic fast": hashing.</a:t>
            </a:r>
          </a:p>
          <a:p>
            <a:r>
              <a:t>- Connect forward: "Functions let you BUILD such helpers once and reuse them."</a:t>
            </a:r>
          </a:p>
          <a:p>
            <a:r>
              <a:t>- Have students raise hands per option, then reveal.</a:t>
            </a:r>
          </a:p>
          <a:p>
            <a:r>
              <a:t>- Arabic tip: ابحث في مجموعة (set) إذا كنت تريد سرعة فائقة في التحقق من الوجود.</a:t>
            </a:r>
          </a:p>
          <a:p>
            <a:r>
              <a:t>- Keep it light — no formal big-O notation needed, just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Read the map out loud; tap each box.</a:t>
            </a:r>
          </a:p>
          <a:p>
            <a:r>
              <a:t>- Timing: review 20min → theory+code ~90min → break 10min → live coding 25min → project 45min → exercises/quiz 20min.</a:t>
            </a:r>
          </a:p>
          <a:p>
            <a:r>
              <a:t>- Tell students: "Every box today ends with us BUILDING something."</a:t>
            </a:r>
          </a:p>
          <a:p>
            <a:r>
              <a:t>- Pause at project box: the Modular Calculator is the final boss.</a:t>
            </a:r>
          </a:p>
          <a:p>
            <a:r>
              <a:t>- Arabic tip: قل للطلاب إن «الخريطة» هي فهرس الجلسة — عودوا إليها عند الضياع.</a:t>
            </a:r>
          </a:p>
          <a:p>
            <a:r>
              <a:t>- Keep it to 60 seconds; don't over-explain now, we have 49 more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Ask: "What's a recipe?" — ingredients in, steps, dish out. That's a function.</a:t>
            </a:r>
          </a:p>
          <a:p>
            <a:r>
              <a:t>- Use the receipt hook from slide 2 as the running example.</a:t>
            </a:r>
          </a:p>
          <a:p>
            <a:r>
              <a:t>- Emphasize DRY again, but add the ORGANIZATION payoff — bigger projects need structure.</a:t>
            </a:r>
          </a:p>
          <a:p>
            <a:r>
              <a:t>- Real-world mapping: Excel formula, Google Maps "directions" function, a calculator button.</a:t>
            </a:r>
          </a:p>
          <a:p>
            <a:r>
              <a:t>- Arabic tip: شبه الدالة بـ«الوصفة» أو «الآلة» — يسهل على الطلاب تصورها.</a:t>
            </a:r>
          </a:p>
          <a:p>
            <a:r>
              <a:t>- Ask one student to give a one-sentence summary of why functions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Draw the machine on the board too: f(x) with a gearbox.</a:t>
            </a:r>
          </a:p>
          <a:p>
            <a:r>
              <a:t>- Emphasize the black-box idea: callers care about WHAT, not HOW.</a:t>
            </a:r>
          </a:p>
          <a:p>
            <a:r>
              <a:t>- Demo physically: two students pass "ingredients", one student "cooks" (adds), returns the dish.</a:t>
            </a:r>
          </a:p>
          <a:p>
            <a:r>
              <a:t>- Note the arrow names: input = argument, machine = function, output = return value.</a:t>
            </a:r>
          </a:p>
          <a:p>
            <a:r>
              <a:t>- Ask: "What could go IN a vending machine function?" — money + button; out comes a snack.</a:t>
            </a:r>
          </a:p>
          <a:p>
            <a:r>
              <a:t>- Arabic tip: صوّر الدالة كآلة بيع: تدخل عملة، تخرج قطعة حلوى.</a:t>
            </a:r>
          </a:p>
          <a:p>
            <a:r>
              <a:t>- Transition into code: "Let's write that machine in Python."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**Live type this**: `def greet():` then indent, `print(...)`, then call it 3 times.</a:t>
            </a:r>
          </a:p>
          <a:p>
            <a:r>
              <a:t>- Key drama: the definition alone does nothing. Only CALLS run the body.</a:t>
            </a:r>
          </a:p>
          <a:p>
            <a:r>
              <a:t>- Common mistake: forgetting the colon → SyntaxError; forgetting indentation → IndentationError.</a:t>
            </a:r>
          </a:p>
          <a:p>
            <a:r>
              <a:t>- Show the two-phase model: Python reads def (stores it) then executes calls.</a:t>
            </a:r>
          </a:p>
          <a:p>
            <a:r>
              <a:t>- Ask a student: "If we call greet() 3 times, how many lines print?" → 3.</a:t>
            </a:r>
          </a:p>
          <a:p>
            <a:r>
              <a:t>- Arabic tip: كلمة def تعني «عَرّف» والاستدعاء هو تنفيذ فعلي.</a:t>
            </a:r>
          </a:p>
          <a:p>
            <a:r>
              <a:t>- Transition: "Now add ingredients — parameters next."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C — `wake_up()`.** Parentheses = "run it now!".</a:t>
            </a:r>
          </a:p>
          <a:p>
            <a:r>
              <a:t>- A is the definition (just stores it). B is a bare reference (prints the function object). D is a comment — does nothing.</a:t>
            </a:r>
          </a:p>
          <a:p>
            <a:r>
              <a:t>- Demo B quickly in the REPL to show the `` object — mind = blown.</a:t>
            </a:r>
          </a:p>
          <a:p>
            <a:r>
              <a:t>- Common mistake: defining but forgetting to call → "nothing happened".</a:t>
            </a:r>
          </a:p>
          <a:p>
            <a:r>
              <a:t>- Arabic tip: الأقواس تعني «نفّذ الآن» بينما الاسم وحده مجرد إشارة.</a:t>
            </a:r>
          </a:p>
          <a:p>
            <a:r>
              <a:t>- Have students physically act: stand = define, jump =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This vocabulary matters: params = in def, arguments = in call.</a:t>
            </a:r>
          </a:p>
          <a:p>
            <a:r>
              <a:t>- Form analogy: a registration form = function; fields = parameters; what you type = arguments.</a:t>
            </a:r>
          </a:p>
          <a:p>
            <a:r>
              <a:t>- Read the two code lines side by side and color-code the pair.</a:t>
            </a:r>
          </a:p>
          <a:p>
            <a:r>
              <a:t>- Have students chant: "Parameters in the definition! Arguments in the call!"</a:t>
            </a:r>
          </a:p>
          <a:p>
            <a:r>
              <a:t>- Common confusion source: many tutorials use the words interchangeably — we won't.</a:t>
            </a:r>
          </a:p>
          <a:p>
            <a:r>
              <a:t>- Arabic tip: «المُعامِل» مقابل «الحجة» — ركّز على مكان ظهور كل منهما.</a:t>
            </a:r>
          </a:p>
          <a:p>
            <a:r>
              <a:t>- Transition: "Now a function with TWO parameters."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Trace the arrows by hand on screen: "Nour" drops into name, 19 drops into age.</a:t>
            </a:r>
          </a:p>
          <a:p>
            <a:r>
              <a:t>- Switch the values on the board: greet(19, "Nour") → prints "Hi 19, you are Nour!" — funny but broken logic.</a:t>
            </a:r>
          </a:p>
          <a:p>
            <a:r>
              <a:t>- Ask: "What if we pass too few arguments?" → TypeError: missing 1 required positional argument.</a:t>
            </a:r>
          </a:p>
          <a:p>
            <a:r>
              <a:t>- Demo the error live once — students must SEE TypeError.</a:t>
            </a:r>
          </a:p>
          <a:p>
            <a:r>
              <a:t>- Arabic tip: الترتيب كأنك تملىء نموذجًا من الأعلى للأسفل.</a:t>
            </a:r>
          </a:p>
          <a:p>
            <a:r>
              <a:t>- Transition: "Let's write a multi-parameter function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Live type the 3-parameter version; have students shout the arguments.</a:t>
            </a:r>
          </a:p>
          <a:p>
            <a:r>
              <a:t>- Emphasize: parameter ORDER defines the contract — document it in your head.</a:t>
            </a:r>
          </a:p>
          <a:p>
            <a:r>
              <a:t>- Count arguments: "How many arguments in call #2?" → three.</a:t>
            </a:r>
          </a:p>
          <a:p>
            <a:r>
              <a:t>- Show the output column on the right corresponds to each call.</a:t>
            </a:r>
          </a:p>
          <a:p>
            <a:r>
              <a:t>- Common mistake: passing too many/too few → TypeError. Let them hit it once.</a:t>
            </a:r>
          </a:p>
          <a:p>
            <a:r>
              <a:t>- Arabic tip: لاحظ أن القيم تتغير لكن الدالة ثابتة — هذا جوهر إعادة الاستخدام.</a:t>
            </a:r>
          </a:p>
          <a:p>
            <a:r>
              <a:t>- Challenge the class: write a version that returns the string instead of printing (foreshadow).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C — 2.** The definition has two parameters, so calls must supply two arguments.</a:t>
            </a:r>
          </a:p>
          <a:p>
            <a:r>
              <a:t>- Note: `add(3, 4)` returns 7 (because of `return`), `add()` raises TypeError.</a:t>
            </a:r>
          </a:p>
          <a:p>
            <a:r>
              <a:t>- Live demo of `add(3)` → TypeError: add() missing 1 required positional argument: 'b'.</a:t>
            </a:r>
          </a:p>
          <a:p>
            <a:r>
              <a:t>- Fun: ask what `add(10, 5)` equals; make them compute 15 mentally first.</a:t>
            </a:r>
          </a:p>
          <a:p>
            <a:r>
              <a:t>- Arabic tip: عدد الحجج يجب أن يطابق عدد المعاملات (إلا مع القيم الافتراضية لاحقًا).</a:t>
            </a:r>
          </a:p>
          <a:p>
            <a:r>
              <a:t>- Transition: "Next — the return vs print showdown."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The single most confusing concept of the session — slow down here.</a:t>
            </a:r>
          </a:p>
          <a:p>
            <a:r>
              <a:t>- Analogy: print = speaker announces the result to the room; return = waiter hands the dish to the chef.</a:t>
            </a:r>
          </a:p>
          <a:p>
            <a:r>
              <a:t>- Emphasize: print alone → the calling code receives NOTHING (None).</a:t>
            </a:r>
          </a:p>
          <a:p>
            <a:r>
              <a:t>- "Who can compute with print? Nobody. Who can compute with return? Your program."</a:t>
            </a:r>
          </a:p>
          <a:p>
            <a:r>
              <a:t>- Ask: "If a function only prints, what does the caller get?" → None.</a:t>
            </a:r>
          </a:p>
          <a:p>
            <a:r>
              <a:t>- Arabic tip: اشرحها بالدارجة: return «يرجّع» القيمة، print «يطبعها على الشاشة فقط».</a:t>
            </a:r>
          </a:p>
          <a:p>
            <a:r>
              <a:t>- Transition: "Let's see the difference in code — this is worth memorizing."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**Run this live** and pause on `y = show_add(2, 3)`: students expect 5.</a:t>
            </a:r>
          </a:p>
          <a:p>
            <a:r>
              <a:t>- Print the mystery: y is None. That's THE lesson.</a:t>
            </a:r>
          </a:p>
          <a:p>
            <a:r>
              <a:t>- Draw the flow: real_add returns 5 → x=5 → x*10=50.</a:t>
            </a:r>
          </a:p>
          <a:p>
            <a:r>
              <a:t>- show_add prints 5 to the console but returns None → y=None.</a:t>
            </a:r>
          </a:p>
          <a:p>
            <a:r>
              <a:t>- Common mistake of the decade: `return` INSIDE a loop returns on first iteration — mention for later.</a:t>
            </a:r>
          </a:p>
          <a:p>
            <a:r>
              <a:t>- Arabic tip: من لا يُرجع قيمة يعطي None — رسالة بايثون الصامتة.</a:t>
            </a:r>
          </a:p>
          <a:p>
            <a:r>
              <a:t>- Challenge: "Change show_add into a function that both prints AND returns."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B — prints 10.** `return` EXITS the function immediately; "done" is dead code.</a:t>
            </a:r>
          </a:p>
          <a:p>
            <a:r>
              <a:t>- Big insight: code after return is unreachable — Python allows it silently (no error).</a:t>
            </a:r>
          </a:p>
          <a:p>
            <a:r>
              <a:t>- So "done" never prints. Only the caller's print(f()) → 10.</a:t>
            </a:r>
          </a:p>
          <a:p>
            <a:r>
              <a:t>- Ask: "What would change if we moved return to the last line?" → both print.</a:t>
            </a:r>
          </a:p>
          <a:p>
            <a:r>
              <a:t>- Arabic tip: return مثل باب الخروج — بمجرد أن تمرّ منه تنتهي الدالة فورًا.</a:t>
            </a:r>
          </a:p>
          <a:p>
            <a:r>
              <a:t>- Reinforce with real life: a coffee machine returns the cup, then stops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10 then 6.**</a:t>
            </a:r>
          </a:p>
          <a:p>
            <a:r>
              <a:t>- Walk through: call mystery(5) → x=5 → print(5*2)=10 → return 5+1=6 → result=6 → print(result)=6.</a:t>
            </a:r>
          </a:p>
          <a:p>
            <a:r>
              <a:t>- Emphasize the print INSIDE vs the print OUTSIDE happen at different times.</a:t>
            </a:r>
          </a:p>
          <a:p>
            <a:r>
              <a:t>- Cover the answer panel, let students write predictions on paper first.</a:t>
            </a:r>
          </a:p>
          <a:p>
            <a:r>
              <a:t>- Common slip: students print "10, 5" or forget the inner print order.</a:t>
            </a:r>
          </a:p>
          <a:p>
            <a:r>
              <a:t>- Arabic tip: تتبّع القيمة x داخل الدالة ثم عد إلى الخارج.</a:t>
            </a:r>
          </a:p>
          <a:p>
            <a:r>
              <a:t>- Use this as a template for live-coding trace skills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Show a "settings" analogy: volume=50, brightness=70 — you can override one.</a:t>
            </a:r>
          </a:p>
          <a:p>
            <a:r>
              <a:t>- The ordering rule is a common SyntaxError: "non-default argument follows default argument".</a:t>
            </a:r>
          </a:p>
          <a:p>
            <a:r>
              <a:t>- Demo the error once; it's very common for students.</a:t>
            </a:r>
          </a:p>
          <a:p>
            <a:r>
              <a:t>- Emphasize: default is evaluated at def time — brief mention, don't deep dive.</a:t>
            </a:r>
          </a:p>
          <a:p>
            <a:r>
              <a:t>- Arabic tip: القيمة الافتراضية هي «خطة بديلة» عند عدم إرسال شيء.</a:t>
            </a:r>
          </a:p>
          <a:p>
            <a:r>
              <a:t>- Transition: "Now let's USE defaults in code."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Live type; ask students to predict each line's output BEFORE running.</a:t>
            </a:r>
          </a:p>
          <a:p>
            <a:r>
              <a:t>- Call 1 uses "Hello"; calls 2–3 override the default.</a:t>
            </a:r>
          </a:p>
          <a:p>
            <a:r>
              <a:t>- The SAME function produces 3 different greetings — flexibility without duplication.</a:t>
            </a:r>
          </a:p>
          <a:p>
            <a:r>
              <a:t>- Ask: "How would you make the default 'Salam'?" → change the def line.</a:t>
            </a:r>
          </a:p>
          <a:p>
            <a:r>
              <a:t>- Common mistake: passing defaults as keyword after positional is fine, but never put required args after defaults in def.</a:t>
            </a:r>
          </a:p>
          <a:p>
            <a:r>
              <a:t>- Arabic tip: مرونة الدالة تتيح استخدامات متعددة دون تكرار الكود.</a:t>
            </a:r>
          </a:p>
          <a:p>
            <a:r>
              <a:t>- Extend challenge: add `emoji="🙌"` default param.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D — B and C.** B uses only the required arg; C overrides the default with keywords.</a:t>
            </a:r>
          </a:p>
          <a:p>
            <a:r>
              <a:t>- A is invalid: `a` is required (no default), so f() → TypeError.</a:t>
            </a:r>
          </a:p>
          <a:p>
            <a:r>
              <a:t>- B computes 3+5=8; C computes 3+2=5.</a:t>
            </a:r>
          </a:p>
          <a:p>
            <a:r>
              <a:t>- Have students calculate both results aloud.</a:t>
            </a:r>
          </a:p>
          <a:p>
            <a:r>
              <a:t>- Arabic tip: المعامل المطلوب (a) لا يمكن تركه، بينما الافتراضي (b) اختياري.</a:t>
            </a:r>
          </a:p>
          <a:p>
            <a:r>
              <a:t>- Transition: "You just used keyword arguments — let's give them the spotlight."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Emphasize the readability win: `profile(age=19, name="Nour")` needs no comment.</a:t>
            </a:r>
          </a:p>
          <a:p>
            <a:r>
              <a:t>- Demo the error: keyword argument before positional → SyntaxError.</a:t>
            </a:r>
          </a:p>
          <a:p>
            <a:r>
              <a:t>- Note: keyword args are how Python libs give you clean settings (e.g., `print(sep=", ")`).</a:t>
            </a:r>
          </a:p>
          <a:p>
            <a:r>
              <a:t>- Ask: "When is positional OK? When names get confusing, use keywords."</a:t>
            </a:r>
          </a:p>
          <a:p>
            <a:r>
              <a:t>- Arabic tip: التمرير بالاسم = «أرسل القيمة باسم الحقل»، تمامًا كملء استمارة واضحة.</a:t>
            </a:r>
          </a:p>
          <a:p>
            <a:r>
              <a:t>- Transition: "Let's shake the order and prove order doesn't matter."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Call 1 scrambles the order entirely — still correct.</a:t>
            </a:r>
          </a:p>
          <a:p>
            <a:r>
              <a:t>- Call 2 mixes: "Omar" → name (positional), then keywords fill city and age.</a:t>
            </a:r>
          </a:p>
          <a:p>
            <a:r>
              <a:t>- The rule: positional args always come FIRST in a call.</a:t>
            </a:r>
          </a:p>
          <a:p>
            <a:r>
              <a:t>- Try in the REPL: `profile(city="Amman", "Sara")` → SyntaxError.</a:t>
            </a:r>
          </a:p>
          <a:p>
            <a:r>
              <a:t>- Ask students to predict output of call 2 before showing.</a:t>
            </a:r>
          </a:p>
          <a:p>
            <a:r>
              <a:t>- Arabic tip: الخلط بين الترتيب والاسم يؤدي لخطأ — اتبع القاعدة: الموضعي أولاً ثم المسمّى.</a:t>
            </a:r>
          </a:p>
          <a:p>
            <a:r>
              <a:t>- Transition: "We're about to see the flexible stars: *args and **kwargs."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D — all of them.** A is fully positional, B fully keyword (any order), C mixed positional-then-keyword.</a:t>
            </a:r>
          </a:p>
          <a:p>
            <a:r>
              <a:t>- All three return 6.</a:t>
            </a:r>
          </a:p>
          <a:p>
            <a:r>
              <a:t>- Illegal would be: `f(c=3, 1, 2)` (keyword before positional) or `f(1, 2)` (missing c).</a:t>
            </a:r>
          </a:p>
          <a:p>
            <a:r>
              <a:t>- Celebrate students who spotted the mixing rule.</a:t>
            </a:r>
          </a:p>
          <a:p>
            <a:r>
              <a:t>- Arabic tip: قواعد الاستدعاء: المسمّى لا يأتي قبل الموضعي، وكل المعاملات يجب أن تُمرَّر.</a:t>
            </a:r>
          </a:p>
          <a:p>
            <a:r>
              <a:t>- Transition: "Now the flexible powers: *args and **kwargs."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Demystify: the star is the operator; args/kwargs are just conventional names.</a:t>
            </a:r>
          </a:p>
          <a:p>
            <a:r>
              <a:t>- *args → tuple (ordered), **kwargs → dict (named). Reuse earlier tuple/dict knowledge!</a:t>
            </a:r>
          </a:p>
          <a:p>
            <a:r>
              <a:t>- Real use: print(*values), plotting libraries, logging functions with flexible options.</a:t>
            </a:r>
          </a:p>
          <a:p>
            <a:r>
              <a:t>- Keep it light — today is "introduction", not deep wizardry.</a:t>
            </a:r>
          </a:p>
          <a:p>
            <a:r>
              <a:t>- Arabic tip: شبه *args بحقيبة تجميع القيم بالترتيب، و**kwargs بمفاتيح وقيم.</a:t>
            </a:r>
          </a:p>
          <a:p>
            <a:r>
              <a:t>- Transition: "Let's see both in action."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Live-code both; have students count arguments passed each call.</a:t>
            </a:r>
          </a:p>
          <a:p>
            <a:r>
              <a:t>- Point at the loop: we already know tuples and dicts — this is a fresh USE of them.</a:t>
            </a:r>
          </a:p>
          <a:p>
            <a:r>
              <a:t>- show_info(**info): "name" and "level" become dict keys automatically.</a:t>
            </a:r>
          </a:p>
          <a:p>
            <a:r>
              <a:t>- Ask: "What type is `numbers`?" → tuple; "What type is `info`?" → dict.</a:t>
            </a:r>
          </a:p>
          <a:p>
            <a:r>
              <a:t>- Extend challenge: add_all(1, 2, 3, 4, 5, 6) → 21, instantly works.</a:t>
            </a:r>
          </a:p>
          <a:p>
            <a:r>
              <a:t>- Arabic tip: دالة واحدة تخدم أي عدد من المدخلات — توفير كبير في الكود.</a:t>
            </a:r>
          </a:p>
          <a:p>
            <a:r>
              <a:t>- Warn: don't overuse; clear named params beat **kwargs when the interface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Analogy: the whole class = global scope; a student's backpack = local scope.</a:t>
            </a:r>
          </a:p>
          <a:p>
            <a:r>
              <a:t>- A variable in a backpack (local) can't be used by other students.</a:t>
            </a:r>
          </a:p>
          <a:p>
            <a:r>
              <a:t>- A note on the whiteboard (global) is visible to everyone.</a:t>
            </a:r>
          </a:p>
          <a:p>
            <a:r>
              <a:t>- Emphasize the lookup order rule — it explains many "surprise" bugs.</a:t>
            </a:r>
          </a:p>
          <a:p>
            <a:r>
              <a:t>- Arabic tip: شبه النطاق بالغرفة: ما بداخل غرفة الدالة لا يراه من خارجها.</a:t>
            </a:r>
          </a:p>
          <a:p>
            <a:r>
              <a:t>- Transition: "Let's draw this as boxes."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Draw these boxes on the board — the visual sticks with students.</a:t>
            </a:r>
          </a:p>
          <a:p>
            <a:r>
              <a:t>- Local box sits INSIDE the global room in the drawing (nested worlds).</a:t>
            </a:r>
          </a:p>
          <a:p>
            <a:r>
              <a:t>- Step through lookup: local first (finds 5), stops; never reaches global.</a:t>
            </a:r>
          </a:p>
          <a:p>
            <a:r>
              <a:t>- Outside the function, the local x doesn't exist → Python sees global 10.</a:t>
            </a:r>
          </a:p>
          <a:p>
            <a:r>
              <a:t>- Ask: "Does changing local x change global x?" → No. Separate boxes.</a:t>
            </a:r>
          </a:p>
          <a:p>
            <a:r>
              <a:t>- Arabic tip: تغيير النسخة داخل الدالة لا يمسّ النسخة العالمية.</a:t>
            </a:r>
          </a:p>
          <a:p>
            <a:r>
              <a:t>- Transition: "Let's prove it in code."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Run and show: two different values with the same name.</a:t>
            </a:r>
          </a:p>
          <a:p>
            <a:r>
              <a:t>- Explain: assignment INSIDE a function creates a local variable.</a:t>
            </a:r>
          </a:p>
          <a:p>
            <a:r>
              <a:t>- This is why students see "surprise" outputs — the local shadows the global.</a:t>
            </a:r>
          </a:p>
          <a:p>
            <a:r>
              <a:t>- Common pitfall: reading a global is fine; ASSIGNING creates local (careful with `global` — teach it exists, discourage it).</a:t>
            </a:r>
          </a:p>
          <a:p>
            <a:r>
              <a:t>- Arabic tip: داخل الدالة x تخص الدالة؛ خارجها x تخص البرنامج.</a:t>
            </a:r>
          </a:p>
          <a:p>
            <a:r>
              <a:t>- Challenge: what happens if we remove `x = 5`? → show() prints 10 (reads global).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B — 7.** f() creates a LOCAL x=3, then discards it; global x stays 7.</a:t>
            </a:r>
          </a:p>
          <a:p>
            <a:r>
              <a:t>- print(x) outside sees the global.</a:t>
            </a:r>
          </a:p>
          <a:p>
            <a:r>
              <a:t>- This exact pattern is the #1 scope gotcha — students answer C or A often.</a:t>
            </a:r>
          </a:p>
          <a:p>
            <a:r>
              <a:t>- Have them explain using the "backpack vs whiteboard" analogy.</a:t>
            </a:r>
          </a:p>
          <a:p>
            <a:r>
              <a:t>- If time: demo `global x` version briefly, warn it's rarely needed.</a:t>
            </a:r>
          </a:p>
          <a:p>
            <a:r>
              <a:t>- Arabic tip: الدالة أنشأت نسخة داخلية لم تلمس النسخة الخارجية.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Read names aloud; students should hear the difference between get_total and x1.</a:t>
            </a:r>
          </a:p>
          <a:p>
            <a:r>
              <a:t>- Style tip: verbs for functions (actions), nouns for variables (things).</a:t>
            </a:r>
          </a:p>
          <a:p>
            <a:r>
              <a:t>- "If the function name contains 'and', split it" — memorable rule.</a:t>
            </a:r>
          </a:p>
          <a:p>
            <a:r>
              <a:t>- Why it matters: teams read your code; future-you reads your code.</a:t>
            </a:r>
          </a:p>
          <a:p>
            <a:r>
              <a:t>- Small challenge: rename 3 terrible function names students suggest.</a:t>
            </a:r>
          </a:p>
          <a:p>
            <a:r>
              <a:t>- Arabic tip: الاسم الجيد = كود شبه موثّق بلا تعليقات.</a:t>
            </a:r>
          </a:p>
          <a:p>
            <a:r>
              <a:t>- Transition: "Before the docs, meet the tiny one-line function: lambda."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Read the lambda left to right: `lambda x : x * 2`.</a:t>
            </a:r>
          </a:p>
          <a:p>
            <a:r>
              <a:t>- Emphasize: NO def, NO name, NO return keyword — it returns implicitly.</a:t>
            </a:r>
          </a:p>
          <a:p>
            <a:r>
              <a:t>- When to prefer def: anything beyond a single expression.</a:t>
            </a:r>
          </a:p>
          <a:p>
            <a:r>
              <a:t>- Common confusion: lambda is for when a function is passed as an argument.</a:t>
            </a:r>
          </a:p>
          <a:p>
            <a:r>
              <a:t>- Have students write `lambda n: n + 1` from memory.</a:t>
            </a:r>
          </a:p>
          <a:p>
            <a:r>
              <a:t>- Arabic tip: lambda = «دالة لمرة واحدة» — لا تحتاج اسمًا.</a:t>
            </a:r>
          </a:p>
          <a:p>
            <a:r>
              <a:t>- Transition: "The classic use: sorting lists by a key."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Explain key= : sort() asks "what value do we compare?" → the lambda answers.</a:t>
            </a:r>
          </a:p>
          <a:p>
            <a:r>
              <a:t>- `lambda s: s[1]` → "for each student, use their age".</a:t>
            </a:r>
          </a:p>
          <a:p>
            <a:r>
              <a:t>- Without key, sort() would compare tuples element-by-element (name first).</a:t>
            </a:r>
          </a:p>
          <a:p>
            <a:r>
              <a:t>- Live demo: sort by name instead — `key=lambda s: s[0]`.</a:t>
            </a:r>
          </a:p>
          <a:p>
            <a:r>
              <a:t>- Challenge: sort descending → add `reverse=True`.</a:t>
            </a:r>
          </a:p>
          <a:p>
            <a:r>
              <a:t>- Arabic tip: key مثل «وفق ماذا ترتّب؟» — وهو السؤال الذي تجيبه lambda.</a:t>
            </a:r>
          </a:p>
          <a:p>
            <a:r>
              <a:t>- Transition: "Next, document your functions properly."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Docstring = the string right after def; Python stores it as __doc__.</a:t>
            </a:r>
          </a:p>
          <a:p>
            <a:r>
              <a:t>- Live demo help(cel_to_far) — the interpreter prints the contract.</a:t>
            </a:r>
          </a:p>
          <a:p>
            <a:r>
              <a:t>- Teach the mini-template: What / Args / Returns.</a:t>
            </a:r>
          </a:p>
          <a:p>
            <a:r>
              <a:t>- Note: a docstring is NOT a comment — it's accessible at runtime.</a:t>
            </a:r>
          </a:p>
          <a:p>
            <a:r>
              <a:t>- Best practice: every function you write today gets a one-line docstring.</a:t>
            </a:r>
          </a:p>
          <a:p>
            <a:r>
              <a:t>- Arabic tip: التوثيق رسالة للآخرين (ولنفسك لاحقًا) — اشرح ماذا تفعل الدالة.</a:t>
            </a:r>
          </a:p>
          <a:p>
            <a:r>
              <a:t>- Transition: "Now let's make functions work with real data: lists and dicts."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We now COMBINE: loops + dicts + conditionals + functions — the full toolkit.</a:t>
            </a:r>
          </a:p>
          <a:p>
            <a:r>
              <a:t>- Walk the loop: dict.items() → (name, score) pairs; keep names that pass.</a:t>
            </a:r>
          </a:p>
          <a:p>
            <a:r>
              <a:t>- Passing a dict into a function is normal — the function doesn't care who owns it.</a:t>
            </a:r>
          </a:p>
          <a:p>
            <a:r>
              <a:t>- Challenge: add a parameter `minimum=50` so the caller sets the threshold.</a:t>
            </a:r>
          </a:p>
          <a:p>
            <a:r>
              <a:t>- Predict: what if scores has 3 more students? Works unchanged.</a:t>
            </a:r>
          </a:p>
          <a:p>
            <a:r>
              <a:t>- Arabic tip: الدالة تعمل على أي قاموس «مماثل» — هذا جوهر إعادة الاستخدام.</a:t>
            </a:r>
          </a:p>
          <a:p>
            <a:r>
              <a:t>- Transition: "Predict this next output — stars meet defaults."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**Answer: "Nour Cairo" then {'level': 3, 'team': 'Blue'}.**</a:t>
            </a:r>
          </a:p>
          <a:p>
            <a:r>
              <a:t>- Nour → name (positional); no city given → default "Cairo"; level/team → extra dict.</a:t>
            </a:r>
          </a:p>
          <a:p>
            <a:r>
              <a:t>- Walk the matching logic: filled params get their args, leftover keywords → **extra.</a:t>
            </a:r>
          </a:p>
          <a:p>
            <a:r>
              <a:t>- Common slip: students expect city to be something else or extra to be a tuple.</a:t>
            </a:r>
          </a:p>
          <a:p>
            <a:r>
              <a:t>- Note: we used print, not return — the function prints and returns None.</a:t>
            </a:r>
          </a:p>
          <a:p>
            <a:r>
              <a:t>- Arabic tip: القيم غير المطابقة تذهب تلقائيًا إلى **kwargs.</a:t>
            </a:r>
          </a:p>
          <a:p>
            <a:r>
              <a:t>- Transition: "Enough reading — let's BUILD. Live coding time!"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**Live-coding steps (type everything yourself):**</a:t>
            </a:r>
          </a:p>
          <a:p>
            <a:r>
              <a:t>  1. Write c2f and f2c; test c2f(100) → 212.0, f2c(32) → 0.0.</a:t>
            </a:r>
          </a:p>
          <a:p>
            <a:r>
              <a:t>  2. Add the while loop with input(); handle "q" to quit.</a:t>
            </a:r>
          </a:p>
          <a:p>
            <a:r>
              <a:t>  3. Run and let a student pick a conversion.</a:t>
            </a:r>
          </a:p>
          <a:p>
            <a:r>
              <a:t>- Common mistakes to call out: forgetting float() (string errors), comparing "c" vs "C" (use .lower()).</a:t>
            </a:r>
          </a:p>
          <a:p>
            <a:r>
              <a:t>- Extension: guard against invalid choice with an else message.</a:t>
            </a:r>
          </a:p>
          <a:p>
            <a:r>
              <a:t>- Emphasize: we wrote the math ONCE and the loop reuses it.</a:t>
            </a:r>
          </a:p>
          <a:p>
            <a:r>
              <a:t>- Arabic tip: تدرّج: اكتب دالة، اختبرها، ثم استخدمها — لا تكتب كل شيء دفعة واحدة.</a:t>
            </a:r>
          </a:p>
          <a:p>
            <a:r>
              <a:t>- This becomes the pattern for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Make these TRAPS fun: "who can find the bug first" rounds.</a:t>
            </a:r>
          </a:p>
          <a:p>
            <a:r>
              <a:t>- Read tracebacks aloud together — the LAST line is the real error.</a:t>
            </a:r>
          </a:p>
          <a:p>
            <a:r>
              <a:t>- #2 is the classic: student prints instead of returns, gets None, is confused.</a:t>
            </a:r>
          </a:p>
          <a:p>
            <a:r>
              <a:t>- Demo trap 4 live: TypeError message literally tells you what's missing.</a:t>
            </a:r>
          </a:p>
          <a:p>
            <a:r>
              <a:t>- Add a bonus trap verbally: calling a function before defining it → NameError.</a:t>
            </a:r>
          </a:p>
          <a:p>
            <a:r>
              <a:t>- Arabic tip: الخطأ ليس عدوًا — إنه رسالة إرشادية من بايثون.</a:t>
            </a:r>
          </a:p>
          <a:p>
            <a:r>
              <a:t>- Transition: "Same recipe, bigger dish — guided practice with student data."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**Guided practice steps:** students write `average()` alone (1 min), then we build grade_report together.</a:t>
            </a:r>
          </a:p>
          <a:p>
            <a:r>
              <a:t>- One function calling another = composability; average() is reusable.</a:t>
            </a:r>
          </a:p>
          <a:p>
            <a:r>
              <a:t>- Point at `f"{avg:.1f}"` — format spec for one decimal.</a:t>
            </a:r>
          </a:p>
          <a:p>
            <a:r>
              <a:t>- Prediction pause: "What average will Nour get? Omar?"</a:t>
            </a:r>
          </a:p>
          <a:p>
            <a:r>
              <a:t>- Extension for strong students: letter grades (A/B/C) based on avg.</a:t>
            </a:r>
          </a:p>
          <a:p>
            <a:r>
              <a:t>- Debug moment: what if a student has an empty score list → ZeroDivisionError (len=0).</a:t>
            </a:r>
          </a:p>
          <a:p>
            <a:r>
              <a:t>- Arabic tip: الوظيفة الكبيرة تُبنى من وظائف صغيرة — البناء التراكمي.</a:t>
            </a:r>
          </a:p>
          <a:p>
            <a:r>
              <a:t>- Transition: "Now the final boss: the Modular Calculator project."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Introduce the project with energy — "final boss of today".</a:t>
            </a:r>
          </a:p>
          <a:p>
            <a:r>
              <a:t>- Have students WRITE the plan before coding: functions needed, menu structure.</a:t>
            </a:r>
          </a:p>
          <a:p>
            <a:r>
              <a:t>- Expected plan: add, subtract, multiply, divide + a main loop with menu.</a:t>
            </a:r>
          </a:p>
          <a:p>
            <a:r>
              <a:t>- Emphasize: this is exactly how real calculators/CLI tools are structured.</a:t>
            </a:r>
          </a:p>
          <a:p>
            <a:r>
              <a:t>- Give 20 minutes; circulate and help with divide-by-zero logic.</a:t>
            </a:r>
          </a:p>
          <a:p>
            <a:r>
              <a:t>- Arabic tip: قبل البرمجة اسأل نفسك: ما الدوال التي أحتاجها؟ ثم اكتب القائمة.</a:t>
            </a:r>
          </a:p>
          <a:p>
            <a:r>
              <a:t>- Transition: "Code part 1 — the operation functions."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Students type part 1 themselves; circulate to check indentation.</a:t>
            </a:r>
          </a:p>
          <a:p>
            <a:r>
              <a:t>- Emphasize `return` — these are PURE functions, they give values back.</a:t>
            </a:r>
          </a:p>
          <a:p>
            <a:r>
              <a:t>- Highlight the divide() guard: returns a friendly string instead of crashing.</a:t>
            </a:r>
          </a:p>
          <a:p>
            <a:r>
              <a:t>- Test together: add(3, 4) → 7; divide(10, 0) → "Cannot divide by zero!".</a:t>
            </a:r>
          </a:p>
          <a:p>
            <a:r>
              <a:t>- Arabic tip: الدوال النقية تُرجع القيمة ولا تطبعها — سنطبع في القائمة.</a:t>
            </a:r>
          </a:p>
          <a:p>
            <a:r>
              <a:t>- Transition: "Part 2 wires these machines into a menu."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Type part 2 live; students follow. Pause at `__name__ == "__main__"` — brief explanation, it runs main() when the file is executed directly.</a:t>
            </a:r>
          </a:p>
          <a:p>
            <a:r>
              <a:t>- The if/elif chain DISPATCHES to the right function based on choice.</a:t>
            </a:r>
          </a:p>
          <a:p>
            <a:r>
              <a:t>- Common bugs: comparing choice to int instead of string "1"; forgetting float().</a:t>
            </a:r>
          </a:p>
          <a:p>
            <a:r>
              <a:t>- Challenge: add an `else` that says "Invalid choice".</a:t>
            </a:r>
          </a:p>
          <a:p>
            <a:r>
              <a:t>- Notice: operations return, main prints — separation of concerns.</a:t>
            </a:r>
          </a:p>
          <a:p>
            <a:r>
              <a:t>- Arabic tip: القائمة تعرض، الرئيسية تختار، والعمليات تنفذ — هكذا تُنظّم البرامج.</a:t>
            </a:r>
          </a:p>
          <a:p>
            <a:r>
              <a:t>- Transition: "Let's see it run — our calculator is alive!"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Run the finished program live — celebrate every working branch.</a:t>
            </a:r>
          </a:p>
          <a:p>
            <a:r>
              <a:t>- Point at each output line and which function produced it.</a:t>
            </a:r>
          </a:p>
          <a:p>
            <a:r>
              <a:t>- Have a volunteer try to break it: divide by zero → guard message.</a:t>
            </a:r>
          </a:p>
          <a:p>
            <a:r>
              <a:t>- Discuss the program flow: loop → menu → input → dispatch → print.</a:t>
            </a:r>
          </a:p>
          <a:p>
            <a:r>
              <a:t>- This is the proof: functions made the program modular and readable.</a:t>
            </a:r>
          </a:p>
          <a:p>
            <a:r>
              <a:t>- Arabic tip: كل خطوة في هذا الناتج تقابل دالة أو فرعًا كتبناه — اربط الاثنين.</a:t>
            </a:r>
          </a:p>
          <a:p>
            <a:r>
              <a:t>- Transition: "Time to train on your own — exercises."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Set a 10-minute timer; encourage starting at Easy even for strong students.</a:t>
            </a:r>
          </a:p>
          <a:p>
            <a:r>
              <a:t>- Solutions:</a:t>
            </a:r>
          </a:p>
          <a:p>
            <a:r>
              <a:t>  - Easy: `def is_even(n): return n % 2 == 0`</a:t>
            </a:r>
          </a:p>
          <a:p>
            <a:r>
              <a:t>  - Medium: `def count_vowels(t): return sum(1 for ch in t.lower() if ch in "aeiou")` — or a loop version.</a:t>
            </a:r>
          </a:p>
          <a:p>
            <a:r>
              <a:t>  - Challenge: `def cart_total(c): return sum(c.values())`</a:t>
            </a:r>
          </a:p>
          <a:p>
            <a:r>
              <a:t>- Pause and have 2–3 students share approaches; celebrate alternative solutions.</a:t>
            </a:r>
          </a:p>
          <a:p>
            <a:r>
              <a:t>- Common slip on Medium: uppercase vowels — mention `.lower()`.</a:t>
            </a:r>
          </a:p>
          <a:p>
            <a:r>
              <a:t>- Arabic tip: لا تنسَ الحروف الكبيرة عند عدّ الحروف المتحركة.</a:t>
            </a:r>
          </a:p>
          <a:p>
            <a:r>
              <a:t>- Transition: "Tonight's homework builds on these muscles."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Homework = the project pattern applied to a student database.</a:t>
            </a:r>
          </a:p>
          <a:p>
            <a:r>
              <a:t>- Walk the data shape: dict of name → list of scores.</a:t>
            </a:r>
          </a:p>
          <a:p>
            <a:r>
              <a:t>- Tips: top_student compares averages; use .get() for missing names.</a:t>
            </a:r>
          </a:p>
          <a:p>
            <a:r>
              <a:t>- Suggest they reuse average() from live coding.</a:t>
            </a:r>
          </a:p>
          <a:p>
            <a:r>
              <a:t>- Expected solutions:</a:t>
            </a:r>
          </a:p>
          <a:p>
            <a:r>
              <a:t>  - add_student: `students.setdefault(name, [])` or `if name not in students: students[name] = []`</a:t>
            </a:r>
          </a:p>
          <a:p>
            <a:r>
              <a:t>  - average_of: `sum(scores)/len(scores)`</a:t>
            </a:r>
          </a:p>
          <a:p>
            <a:r>
              <a:t>  - top_student: loop through students, track max average.</a:t>
            </a:r>
          </a:p>
          <a:p>
            <a:r>
              <a:t>- Deadline: next session. Encouragement: this is portfolio material.</a:t>
            </a:r>
          </a:p>
          <a:p>
            <a:r>
              <a:t>- Arabic tip: نفّذ الوظائف واحدة واحدة واختبرها قبل الانتقال للتالية.</a:t>
            </a:r>
          </a:p>
          <a:p>
            <a:r>
              <a:t>- Transition: "Final quiz — prove your mastery!"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**Answers: Q1-B (None), Q2-B (keyword args only), Q3-D (f(1) and f(y=5); f() fails because x is required), Q4-C (one expression).**</a:t>
            </a:r>
          </a:p>
          <a:p>
            <a:r>
              <a:t>- Run as a quick hands-up poll; correct together with explanations.</a:t>
            </a:r>
          </a:p>
          <a:p>
            <a:r>
              <a:t>- Q1: functions without return return None by default.</a:t>
            </a:r>
          </a:p>
          <a:p>
            <a:r>
              <a:t>- Q2: *args = positional, **kwargs = keyword — mixing the two is a classic slip.</a:t>
            </a:r>
          </a:p>
          <a:p>
            <a:r>
              <a:t>- Q3: y has a default but x doesn't, so f() fails.</a:t>
            </a:r>
          </a:p>
          <a:p>
            <a:r>
              <a:t>- Q4: lambda is a single expression — that's its limit.</a:t>
            </a:r>
          </a:p>
          <a:p>
            <a:r>
              <a:t>- Award a shout-out for perfect scores; review any missed concept right away.</a:t>
            </a:r>
          </a:p>
          <a:p>
            <a:r>
              <a:t>- Arabic tip: اشرح إجابة كل سؤال بمثال مصغّر حتى يفهمها الجميع.</a:t>
            </a:r>
          </a:p>
          <a:p>
            <a:r>
              <a:t>- Transition: "Let's lock it all in with a recap."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Rapid-fire recap: read each line, students shout "got it!" or ask.</a:t>
            </a:r>
          </a:p>
          <a:p>
            <a:r>
              <a:t>- Connect back to the hook: the receipt problem is now a function.</a:t>
            </a:r>
          </a:p>
          <a:p>
            <a:r>
              <a:t>- Ask for one "aha" moment from today — share 2–3 out loud.</a:t>
            </a:r>
          </a:p>
          <a:p>
            <a:r>
              <a:t>- Reinforce that the Modular Calculator used EVERY concept on this slide.</a:t>
            </a:r>
          </a:p>
          <a:p>
            <a:r>
              <a:t>- Arabic tip: اطلب من طالب أن يلخص «الدرس الأكبر» بكلمة واحدة.</a:t>
            </a:r>
          </a:p>
          <a:p>
            <a:r>
              <a:t>- Transition: "Next session, your functions meet files and JSON."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Bridge with curiosity: "What happens to your calculator's numbers when you close it?"</a:t>
            </a:r>
          </a:p>
          <a:p>
            <a:r>
              <a:t>- Ask: "Which apps save data?" — games, notes, social media → all files + JSON.</a:t>
            </a:r>
          </a:p>
          <a:p>
            <a:r>
              <a:t>- Tease a concrete win: their homework system will save students between runs.</a:t>
            </a:r>
          </a:p>
          <a:p>
            <a:r>
              <a:t>- Preview only — no file syntax yet, just the payoff.</a:t>
            </a:r>
          </a:p>
          <a:p>
            <a:r>
              <a:t>- Arabic tip: الملفات هي «الذاكرة طويلة الأمد» للبرامج.</a:t>
            </a:r>
          </a:p>
          <a:p>
            <a:r>
              <a:t>- Encourage: bring your homework solution to extend it next session.</a:t>
            </a:r>
          </a:p>
          <a:p>
            <a:r>
              <a:t>- Transition: "Wrap-up time — you earned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Closing energy: congratulations, applause.</a:t>
            </a:r>
          </a:p>
          <a:p>
            <a:r>
              <a:t>- Ask each student to name ONE thing they'll build this week.</a:t>
            </a:r>
          </a:p>
          <a:p>
            <a:r>
              <a:t>- Reiterate: practice beats theory — 20 minutes daily.</a:t>
            </a:r>
          </a:p>
          <a:p>
            <a:r>
              <a:t>- Remind about homework: Student Management System, due next session.</a:t>
            </a:r>
          </a:p>
          <a:p>
            <a:r>
              <a:t>- Hand out a "certificate" moment: everyone who ran the calculator passes today's mission.</a:t>
            </a:r>
          </a:p>
          <a:p>
            <a:r>
              <a:t>- Arabic tip: امدح كل من أكمل المشروع — المكافأة المعنوية مهمة.</a:t>
            </a:r>
          </a:p>
          <a:p>
            <a:r>
              <a:t>- Transition: "One last gift — your cheat sheet. Save it!"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Have students save/screenshot this slide — it's the reference for homework.</a:t>
            </a:r>
          </a:p>
          <a:p>
            <a:r>
              <a:t>- Quick run-through of each line, pointing to the concept it demonstrates.</a:t>
            </a:r>
          </a:p>
          <a:p>
            <a:r>
              <a:t>- Note the `flex(*args, **kwargs)` line uses tuple unpacking knowledge from earlier.</a:t>
            </a:r>
          </a:p>
          <a:p>
            <a:r>
              <a:t>- Remind: `__main__` guard makes the file importable AND runnable.</a:t>
            </a:r>
          </a:p>
          <a:p>
            <a:r>
              <a:t>- Final question time: clear any remaining doubts before they leave.</a:t>
            </a:r>
          </a:p>
          <a:p>
            <a:r>
              <a:t>- Arabic tip: شجّعهم على تعليق هذه الورقة أمام شاشتهم أثناء حل الواجب.</a:t>
            </a:r>
          </a:p>
          <a:p>
            <a:r>
              <a:t>- End on motivation: "See you next session for Files &amp; JSON — build something great this week!"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y-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visual-function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def-and-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mcq-def-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params-vs-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visual-args-pa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code-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mcq-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return-vs-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code-return-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mcq-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predic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default-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code-de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mcq-de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keyword-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code-key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mcq-key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star-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code-star-ar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visual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code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mcq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reusable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lambda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code-lamb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docst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collections-prac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predict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live-co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common-mista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live-codin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bridge-files-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chea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