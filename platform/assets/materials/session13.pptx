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Session 13! Today we flip a switch: your Python programs stop living in a bubble and start talking to the whole Internet.</a:t>
            </a:r>
          </a:p>
          <a:p/>
          <a:p>
            <a:r>
              <a:t>Agenda of the slide: pure hype + roadmapping. Tell them: "By the end of today, each of you will write Python code that asks a real weather server a question — and gets a real answer back."</a:t>
            </a:r>
          </a:p>
          <a:p/>
          <a:p>
            <a:r>
              <a:t>Key motivational framing for ages 15–22: this is the session where code becomes *useful* — the same technique powers phone weather apps, price trackers, Discord bots, and ChatGPT's plugin layer.</a:t>
            </a:r>
          </a:p>
          <a:p/>
          <a:p>
            <a:r>
              <a:t>Arabic tip: وضّح أن "API" اختصار لـ Application Programming Interface أي "واجهة برمجة التطبيقات"، وهي مجرد وسيلة منظمة لبرنامجين يتحدثان مع بعض.</a:t>
            </a:r>
          </a:p>
          <a:p/>
          <a:p>
            <a:r>
              <a:t>Common misconception to pre-empt: an API is NOT a website. It is the *messaging channel* a program uses. Websites are for humans; APIs are for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hook. Goal: make APIs feel personally relevant.</a:t>
            </a:r>
          </a:p>
          <a:p/>
          <a:p>
            <a:r>
              <a:t>Ask the room: "Who checked the weather on their phone this morning?" Most hands go up. Then: "Who wrote that temperature by hand?" Silence. "So SOMETHING fetched it. Today, you become that something."</a:t>
            </a:r>
          </a:p>
          <a:p/>
          <a:p>
            <a:r>
              <a:t>The hook shows the exact same flow we will code in slides 34–35: phone → server → answer.</a:t>
            </a:r>
          </a:p>
          <a:p/>
          <a:p>
            <a:r>
              <a:t>Activity (2 min): have students shout the first API you might call to make the deck's own weather app — expect "weather API", "OpenWeatherMap", "something with the weather".</a:t>
            </a:r>
          </a:p>
          <a:p/>
          <a:p>
            <a:r>
              <a:t>Common mistake to prevent later: students think a website and an API are the same. A website returns pretty HTML for humans; an API returns structured JSON for programs. We will hammer this in slides 23–24.</a:t>
            </a:r>
          </a:p>
          <a:p/>
          <a:p>
            <a:r>
              <a:t>Arabic tip: اطرح السؤال: "من فتح تطبيق الطقس اليوم؟" ثم اربط الفضول بالدرس. عبارة قوية: "اليوم أنت مَن يصنع الإجابة."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MCQ 1 — review of SQLite (previous session). Answer: **B) import sqlite3**.</a:t>
            </a:r>
          </a:p>
          <a:p/>
          <a:p>
            <a:r>
              <a:t>Why it matters today: last session we stored data *locally* (own database). Today we fetch data *remotely* (someone else's server). The module changes, but the mindset — "connect, run something, get data back" — is the same.</a:t>
            </a:r>
          </a:p>
          <a:p/>
          <a:p>
            <a:r>
              <a:t>Pacing: 40 seconds of silence, then "hands up for A? B? C? D?", then reveal B. Explain: `sqlite3` ships with Python; MySQL needs an external server; pickle stores objects but cannot query; json is text-only.</a:t>
            </a:r>
          </a:p>
          <a:p/>
          <a:p>
            <a:r>
              <a:t>Optional quick demo (20 s): run `import sqlite3; conn = sqlite3.connect("test.db")` and show the file appears on disk. Sets up today's contrast with remote data.</a:t>
            </a:r>
          </a:p>
          <a:p/>
          <a:p>
            <a:r>
              <a:t>Arabic tip: اشرح أننا انتقلنا من "قاعدة بيانات على جهازك" إلى "بيانات على خادم بعيد" — الفكرة نفسها، لكن البيانات أصبحت تُجلب عبر الإنترنت.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MCQ 2 — SQLite review. Answer: **B) Created a new table structure**.</a:t>
            </a:r>
          </a:p>
          <a:p/>
          <a:p>
            <a:r>
              <a:t>Concept to reinforce: a table is a *schema* first (columns + types) and *data* second (rows). Today we get the reverse: JSON arrives *already full of rows*, and we must figure out the "columns" ourselves.</a:t>
            </a:r>
          </a:p>
          <a:p/>
          <a:p>
            <a:r>
              <a:t>Extra teaching point: `CREATE TABLE IF NOT EXISTS` — the `IF NOT EXISTS` guard. Good habit: ask "what would happen if we ran CREATE TABLE twice?" (error). Tie to today: with APIs, mistakes return error *codes*, not Python tracebacks.</a:t>
            </a:r>
          </a:p>
          <a:p/>
          <a:p>
            <a:r>
              <a:t>Arabic tip: شبّه الجدول بملف إكسل — الأعمدة تحدد "الشكل"، والصفوف هي "المحتوى". وفي الـ APIs نستقبل المحتوى أولاً ثم نكتشف الشكل.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MCQ 3 — SQLite review. Answer: **C) fetchall()**.</a:t>
            </a:r>
          </a:p>
          <a:p/>
          <a:p>
            <a:r>
              <a:t>Bridge into today: `fetchall()` gives you a *list of rows* from SQLite. `resp.json()` gives you a *dict/list* from an API. Same mental move — "turn the thing I received into Python data" — different source.</a:t>
            </a:r>
          </a:p>
          <a:p/>
          <a:p>
            <a:r>
              <a:t>If students are shaky on this, remind them of the row→tuple concept; today tuples become dictionaries with named keys, which are actually *nicer* to read: `row["name"]` instead of `row[2]`.</a:t>
            </a:r>
          </a:p>
          <a:p/>
          <a:p>
            <a:r>
              <a:t>Transition sentence: "Enough local databases — let's open the door to the whole Internet." This lands on slide 06's roadmap.</a:t>
            </a:r>
          </a:p>
          <a:p/>
          <a:p>
            <a:r>
              <a:t>Arabic tip: اشرح التشابه: `fetchall` يعيد صفوفاً من قاعدة بيانات محلية، بينما `resp.json()` يعيد بيانات من خادم بعيد — الدماغ نفسه، المصدر مختلف.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slide. Read the five steps out loud, then set expectations:</a:t>
            </a:r>
          </a:p>
          <a:p/>
          <a:p>
            <a:r>
              <a:t>1. Fundamentals — what an API is, client/server, HTTP (slides 07–16)</a:t>
            </a:r>
          </a:p>
          <a:p>
            <a:r>
              <a:t>2. The Web — URLs, endpoints, query parameters, methods, status codes (17–21)</a:t>
            </a:r>
          </a:p>
          <a:p>
            <a:r>
              <a:t>3. requests — the Python library; GET, POST, JSON, errors (25–33)</a:t>
            </a:r>
          </a:p>
          <a:p>
            <a:r>
              <a:t>4. Build it — live weather app together (34–35), then your currency converter project (38–41)</a:t>
            </a:r>
          </a:p>
          <a:p>
            <a:r>
              <a:t>5. Next — a teaser of Web Scraping (47–48)</a:t>
            </a:r>
          </a:p>
          <a:p/>
          <a:p>
            <a:r>
              <a:t>Pacing note: this session is 3 hours. Suggest ~20 min fundamentals, ~35 min web concepts, ~45 min requests + live coding, ~40 min project, rest for exercises/homework.</a:t>
            </a:r>
          </a:p>
          <a:p/>
          <a:p>
            <a:r>
              <a:t>Expectation management: "You will NOT become experts in OAuth today. You WILL be able to fetch real data in under 10 lines." We deliberately avoid deep auth and backend development (that's a later session).</a:t>
            </a:r>
          </a:p>
          <a:p/>
          <a:p>
            <a:r>
              <a:t>Arabic tip: اطلب من الطلاب تخمين "ما هي الخطوة الأهم برأيك؟" ثم أشر إلى أن كل خطوة مبنية على السابقة — الفهم يتراكم.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concept 1 — What is an API.</a:t>
            </a:r>
          </a:p>
          <a:p/>
          <a:p>
            <a:r>
              <a:t>Deliver as a story: You have two programs. Program A (your Python) wants data it doesn't own. Program B (a server) owns the data. The API is the *agreed rules* — "you may ask these specific questions, in this format, and I will answer like this."</a:t>
            </a:r>
          </a:p>
          <a:p/>
          <a:p>
            <a:r>
              <a:t>Reinforce the three words: Application (a program), Programming (for developers), Interface (a boundary with rules).</a:t>
            </a:r>
          </a:p>
          <a:p/>
          <a:p>
            <a:r>
              <a:t>Analogies students connect with:</a:t>
            </a:r>
          </a:p>
          <a:p>
            <a:r>
              <a:t>- The API is the *menu* at a restaurant — you can't see the kitchen, you just pick from the menu.</a:t>
            </a:r>
          </a:p>
          <a:p>
            <a:r>
              <a:t>- The API is the *checkout counter* — you don't wander into the warehouse.</a:t>
            </a:r>
          </a:p>
          <a:p/>
          <a:p>
            <a:r>
              <a:t>Analogy preview: the next slide (08) is the restaurant analogy — use this slide to plant the seed, then go visual.</a:t>
            </a:r>
          </a:p>
          <a:p/>
          <a:p>
            <a:r>
              <a:t>Arabic tip: الترجمة الحرفية "واجهة برمجة التطبيقات" مربكة؛ اشرحها كـ "اتفاقية محادثة بين برنامجين" — اتفقا على الأسئلة المسموحة وصيغة الإجابات.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restaurant analogy — the visual anchor for the whole session.</a:t>
            </a:r>
          </a:p>
          <a:p/>
          <a:p>
            <a:r>
              <a:t>Walk the diagram left to right: You (client) → Waiter (API) → Kitchen (server).</a:t>
            </a:r>
          </a:p>
          <a:p/>
          <a:p>
            <a:r>
              <a:t>Repeat three times if needed; the analogy is the *master key* of the session. Whenever students get lost later, say "remember the waiter."</a:t>
            </a:r>
          </a:p>
          <a:p/>
          <a:p>
            <a:r>
              <a:t>Key points:</a:t>
            </a:r>
          </a:p>
          <a:p>
            <a:r>
              <a:t>- The menu = the documentation. You can only ask for what's listed.</a:t>
            </a:r>
          </a:p>
          <a:p>
            <a:r>
              <a:t>- You never enter the kitchen = you never touch the server's database.</a:t>
            </a:r>
          </a:p>
          <a:p>
            <a:r>
              <a:t>- The waiter enforces rules = the API validates your request and returns an error if invalid.</a:t>
            </a:r>
          </a:p>
          <a:p/>
          <a:p>
            <a:r>
              <a:t>Memory hooks for students: "API = the waiter", "endpoint = menu item", "request = your order", "response = your dish".</a:t>
            </a:r>
          </a:p>
          <a:p/>
          <a:p>
            <a:r>
              <a:t>Quick check (verbal): "If I want the weather, which 'dish' would I order? Where's the waiter?" — then continue to slide 09.</a:t>
            </a:r>
          </a:p>
          <a:p/>
          <a:p>
            <a:r>
              <a:t>Arabic tip: اطلب من طالب أن يلخّص التشبيه بجملة واحدة بالعربية — التكرار بأسلوبهم يثبّت المفهوم.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Real-world API examples. Six cards — have the class count how many they personally use in one day (weather, social, delivery, movies, AI).</a:t>
            </a:r>
          </a:p>
          <a:p/>
          <a:p>
            <a:r>
              <a:t>Point of the slide: APIs are not an obscure tech term — they power nearly every app students touch. "If a phone app shows live data, there's an API behind it."</a:t>
            </a:r>
          </a:p>
          <a:p/>
          <a:p>
            <a:r>
              <a:t>Highlight the two we'll actually code with today:</a:t>
            </a:r>
          </a:p>
          <a:p>
            <a:r>
              <a:t>- Open-Meteo (weather) — free, no API key.</a:t>
            </a:r>
          </a:p>
          <a:p>
            <a:r>
              <a:t>- Frankfurter (currency rates) — free, no API key.</a:t>
            </a:r>
          </a:p>
          <a:p/>
          <a:p>
            <a:r>
              <a:t>Also mention Google Maps, GitHub, and ChatGPT as famous ones — GitHub's API is a great self-study target ("what do my own repositories look like?").</a:t>
            </a:r>
          </a:p>
          <a:p/>
          <a:p>
            <a:r>
              <a:t>Arabic tip: اسأل: "كم تطبيقاً على هاتفك يعرض بيانات 'حية'؟" — كلها تستخدم APIs. اربط المفهوم بحياتهم اليومية مباشرة.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Mid-deck MCQ 1 (real-world APIs). Answer: **B) It asks the store's API**.</a:t>
            </a:r>
          </a:p>
          <a:p/>
          <a:p>
            <a:r>
              <a:t>This is the moment to solidify: data flows from a server to your device only through a controlled API — never by giving away the database itself.</a:t>
            </a:r>
          </a:p>
          <a:p/>
          <a:p>
            <a:r>
              <a:t>If students pick A, probe: "Would any company give you its raw database?" — reinforces why APIs exist.</a:t>
            </a:r>
          </a:p>
          <a:p/>
          <a:p>
            <a:r>
              <a:t>Transition: "Great. Now WHO is talking to WHOM? Let's name the two roles." → slides 11–12 (client vs server).</a:t>
            </a:r>
          </a:p>
          <a:p/>
          <a:p>
            <a:r>
              <a:t>Arabic tip: ذكّرهم: "أنت لا تحصل على قاعدة البيانات، بل على إجابة سؤال محدّد" — هذه هي فلسفة الـ APIs كلها.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 vs server — two cards.</a:t>
            </a:r>
          </a:p>
          <a:p/>
          <a:p>
            <a:r>
              <a:t>Emphasize the asymmetry: the client always *starts* the conversation; the server *waits*. That's why servers run on powerful machines with public addresses, while your laptop just knocks on the door.</a:t>
            </a:r>
          </a:p>
          <a:p/>
          <a:p>
            <a:r>
              <a:t>Real talk: "Your Python script is the client today. When you run `requests.get(...)`, your script is literally a phone app asking for weather."</a:t>
            </a:r>
          </a:p>
          <a:p/>
          <a:p>
            <a:r>
              <a:t>Extra: define "client" broadly — it's not just a browser. Any code making requests is a client.</a:t>
            </a:r>
          </a:p>
          <a:p/>
          <a:p>
            <a:r>
              <a:t>Tease: next slide shows the full journey of a request.</a:t>
            </a:r>
          </a:p>
          <a:p/>
          <a:p>
            <a:r>
              <a:t>Arabic tip: عبّر عنها بـ"سائل ومُجيب" — أدوار ثابتة في كل محادثة بين برنامجين.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the request round trip. Walk the 3 steps with hand motions (out → travel → back).</a:t>
            </a:r>
          </a:p>
          <a:p/>
          <a:p>
            <a:r>
              <a:t>Explain that step 3 returns two things bundled together: a status code (did it work?) and a body (the actual data, usually JSON).</a:t>
            </a:r>
          </a:p>
          <a:p/>
          <a:p>
            <a:r>
              <a:t>Activity: have students draw the triangle (client → internet → server → back) on paper in 30 seconds. Memory: "ASK — FLY — ANSWER."</a:t>
            </a:r>
          </a:p>
          <a:p/>
          <a:p>
            <a:r>
              <a:t>This mental model is used on every later slide; when we call `requests.get()` in slide 26, point back to this diagram.</a:t>
            </a:r>
          </a:p>
          <a:p/>
          <a:p>
            <a:r>
              <a:t>Arabic tip: ارسم المثلث على السبورة وكرر "يسأل، يطير، يجيب" — اجعل الطلاب يرددونها معك.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 basics. Two windows: a raw request and a raw response.</a:t>
            </a:r>
          </a:p>
          <a:p/>
          <a:p>
            <a:r>
              <a:t>Point-by-point:</a:t>
            </a:r>
          </a:p>
          <a:p>
            <a:r>
              <a:t>- Request line: METHOD + path + HTTP version. Headers after it.</a:t>
            </a:r>
          </a:p>
          <a:p>
            <a:r>
              <a:t>- Response: version + status code (200 OK) + headers + body.</a:t>
            </a:r>
          </a:p>
          <a:p>
            <a:r>
              <a:t>- We'll never type this by hand — `requests` does it. But knowing the shape helps read errors and debug.</a:t>
            </a:r>
          </a:p>
          <a:p/>
          <a:p>
            <a:r>
              <a:t>Do a quick "literal HTTP" demo: read a request/response out loud in robot voice to make it stick.</a:t>
            </a:r>
          </a:p>
          <a:p/>
          <a:p>
            <a:r>
              <a:t>Where we go next: the METHOD is the verb. Slides 15–16 cover GET/POST/PUT/DELETE; slide 14 shows request vs response visually.</a:t>
            </a:r>
          </a:p>
          <a:p/>
          <a:p>
            <a:r>
              <a:t>Arabic tip: ترجم "Protocol" بكلمة "بروتوكول/اتفاقية" — أي قواعد متفق عليها مسبقاً بين الطرفين.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vs response, visualized as two envelopes.</a:t>
            </a:r>
          </a:p>
          <a:p/>
          <a:p>
            <a:r>
              <a:t>Point out the parts a request *can* have vs a response *must* have (a response always has a status code).</a:t>
            </a:r>
          </a:p>
          <a:p/>
          <a:p>
            <a:r>
              <a:t>Emphasize: the response body in almost every API is JSON — that's the treasure. We'll dissect it in slides 23–24.</a:t>
            </a:r>
          </a:p>
          <a:p/>
          <a:p>
            <a:r>
              <a:t>Quick pairing activity: students pair up, one pretends to be client and one server; client "sends" a request envelope, server "returns" a response envelope with a status code. 2 minutes.</a:t>
            </a:r>
          </a:p>
          <a:p/>
          <a:p>
            <a:r>
              <a:t>Arabic tip: شبّه الأمر بإرسال رسالة واستلام رد: أنت تكتب السؤال والتفاصيل، والطرف الآخر يرد بكلمة حالة "تم" أو "غير موجود" مع المحتوى.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 methods — four colored cards.</a:t>
            </a:r>
          </a:p>
          <a:p/>
          <a:p>
            <a:r>
              <a:t>Use real-life mapping: </a:t>
            </a:r>
          </a:p>
          <a:p>
            <a:r>
              <a:t>- GET = look at the menu</a:t>
            </a:r>
          </a:p>
          <a:p>
            <a:r>
              <a:t>- POST = place a new order</a:t>
            </a:r>
          </a:p>
          <a:p>
            <a:r>
              <a:t>- PUT = change your order</a:t>
            </a:r>
          </a:p>
          <a:p>
            <a:r>
              <a:t>- DELETE = cancel the order</a:t>
            </a:r>
          </a:p>
          <a:p/>
          <a:p>
            <a:r>
              <a:t>Clarify nuance (keep simple): GET should never change data ("safe"); POST creates; PUT replaces/updates; DELETE removes. Today's session focuses on GET + POST — the other two exist in the same pattern.</a:t>
            </a:r>
          </a:p>
          <a:p/>
          <a:p>
            <a:r>
              <a:t>Tie back: last session (SQLite) did the same CRUD with SQL commands; today the "database" is remote and the "SQL" is an HTTP method.</a:t>
            </a:r>
          </a:p>
          <a:p/>
          <a:p>
            <a:r>
              <a:t>Arabic tip: ترجم CRUD إلى: أنشئ، اقرأ، حدّث، احذف — واطلب من الطلاب تسمية فعلٍ من حياتهم لكل واحدة.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Mid-deck MCQ 2 (HTTP methods). Answer: **B) GET**.</a:t>
            </a:r>
          </a:p>
          <a:p/>
          <a:p>
            <a:r>
              <a:t>Rule to chant: "Read with GET, create with POST, update with PUT, delete with DELETE."</a:t>
            </a:r>
          </a:p>
          <a:p/>
          <a:p>
            <a:r>
              <a:t>Pitfall to flag: students will later use `requests.get` for everything because it's the friendliest. That's fine for this session's read-only APIs; but remind them a POST exists for creating things (slide 31).</a:t>
            </a:r>
          </a:p>
          <a:p/>
          <a:p>
            <a:r>
              <a:t>Arabic tip: أنشئ جملة حفظ سريعة: "اقرأ GET، أنشئ POST، حدّث PUT، احذف DELETE" وكررها مرتين.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URL &amp; endpoint.</a:t>
            </a:r>
          </a:p>
          <a:p/>
          <a:p>
            <a:r>
              <a:t>Two-part mental model: URL = address of the building (server), endpoint/path = which room/door (specific resource). Different endpoints = different "dishes" on the same restaurant menu.</a:t>
            </a:r>
          </a:p>
          <a:p/>
          <a:p>
            <a:r>
              <a:t>Examples to write on the board:</a:t>
            </a:r>
          </a:p>
          <a:p>
            <a:r>
              <a:t>- GET /latest → latest rates</a:t>
            </a:r>
          </a:p>
          <a:p>
            <a:r>
              <a:t>- GET /2023-01-01 → rates on a specific date</a:t>
            </a:r>
          </a:p>
          <a:p>
            <a:r>
              <a:t>- GET /forecast → weather forecast</a:t>
            </a:r>
          </a:p>
          <a:p/>
          <a:p>
            <a:r>
              <a:t>Point out the pattern `/resource` and `/resource/id` — this is the most common API design convention.</a:t>
            </a:r>
          </a:p>
          <a:p/>
          <a:p>
            <a:r>
              <a:t>Arabic tip: شبّه العنوان بـ"الحي" والمجرّد/المسار بـ"الشارع" — كلاهما لازم للوصول إلى المعلومة.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URL anatomy — color-coded dissection. This exact URL (Open-Meteo forecast) is used in our live coding at slides 34–35, so make it stick.</a:t>
            </a:r>
          </a:p>
          <a:p/>
          <a:p>
            <a:r>
              <a:t>Walk each colored segment: scheme, host, path, query string. Emphasize the `?` starts options and `&amp;` separates them.</a:t>
            </a:r>
          </a:p>
          <a:p/>
          <a:p>
            <a:r>
              <a:t>Pro tip: you can open this URL in a browser and see the raw JSON — the browser is a GET client. Let students do it (2 min) so they see that "an API call" is something they've already done as humans.</a:t>
            </a:r>
          </a:p>
          <a:p/>
          <a:p>
            <a:r>
              <a:t>Arabic tip: اجعل طالباً يقرأ الـ URL بصوت عالٍ متوقفاً عند كل لون — التلوين يساعد في ترسيخ الأجزاء.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Query parameters.</a:t>
            </a:r>
          </a:p>
          <a:p/>
          <a:p>
            <a:r>
              <a:t>Rules to memorize (put on board):</a:t>
            </a:r>
          </a:p>
          <a:p>
            <a:r>
              <a:t>1. Starts with `?` after the path.</a:t>
            </a:r>
          </a:p>
          <a:p>
            <a:r>
              <a:t>2. `key=value` pairs.</a:t>
            </a:r>
          </a:p>
          <a:p>
            <a:r>
              <a:t>3. Multiple pairs joined by `&amp;`.</a:t>
            </a:r>
          </a:p>
          <a:p>
            <a:r>
              <a:t>4. No spaces allowed — use `+` or `%20` if needed (requests handles this for you, slide 28!).</a:t>
            </a:r>
          </a:p>
          <a:p/>
          <a:p>
            <a:r>
              <a:t>Why it matters today: query params are how we ask "Cairo, not London" or "USD to EUR". The weather live-coding slide 34 is all query params.</a:t>
            </a:r>
          </a:p>
          <a:p/>
          <a:p>
            <a:r>
              <a:t>Show how Google uses them: `google.com/search?q=penguins` — students instantly connect.</a:t>
            </a:r>
          </a:p>
          <a:p/>
          <a:p>
            <a:r>
              <a:t>Arabic tip: اذكر مثال "بحث جوجل": `search?q=مصطلح` — نفس الفكرة تماماً، حتى في متصفحك العادي.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 status codes — the four color families.</a:t>
            </a:r>
          </a:p>
          <a:p/>
          <a:p>
            <a:r>
              <a:t>Memory aids:</a:t>
            </a:r>
          </a:p>
          <a:p>
            <a:r>
              <a:t>- 2xx = "2 good" → success (green)</a:t>
            </a:r>
          </a:p>
          <a:p>
            <a:r>
              <a:t>- 3xx = "3 redirection" → follow the move</a:t>
            </a:r>
          </a:p>
          <a:p>
            <a:r>
              <a:t>- 4xx = "4 problems on your side" → 404 Not Found, 401 Unauthorized, 429 Too Many Requests (we'll meet 429 again on the rate-limits slide 36!)</a:t>
            </a:r>
          </a:p>
          <a:p>
            <a:r>
              <a:t>- 5xx = "5 servers suffer" → 500, 503</a:t>
            </a:r>
          </a:p>
          <a:p/>
          <a:p>
            <a:r>
              <a:t>Do NOT list all codes — stick to the famous ones. Students will memorize 200/404/500 through repetition during live coding.</a:t>
            </a:r>
          </a:p>
          <a:p/>
          <a:p>
            <a:r>
              <a:t>Emphasize: an API call that "fails" is not a crash — the server still replies, just with a 4xx/5xx code. This is the key to error handling on slide 33.</a:t>
            </a:r>
          </a:p>
          <a:p/>
          <a:p>
            <a:r>
              <a:t>Arabic tip: اجعل الطلاب يحفظونها كـ "إشارات مرور": أخضر نجاح، برتقالي خطأ من طلبك، أحمر عطل الخادم.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Mid-deck MCQ 3 (status codes). Answer: **B) The city wasn't found**.</a:t>
            </a:r>
          </a:p>
          <a:p/>
          <a:p>
            <a:r>
              <a:t>Teaching point: status codes are the server's way of saying "your request was received — but this thing doesn't exist" without crashing. 404 ≠ broken code; it's a *message*.</a:t>
            </a:r>
          </a:p>
          <a:p/>
          <a:p>
            <a:r>
              <a:t>Extra: have students suggest what code they'd get if they typed the API URL wrong in a browser (404), or if the server was down (500/503). Connects the concept to everyday browsing ("404 page").</a:t>
            </a:r>
          </a:p>
          <a:p/>
          <a:p>
            <a:r>
              <a:t>Arabic tip: اسأل: "كم مرة رأيتم صفحة 404 أثناء التصفح؟" — الآن تعرفون معناها الحقيقي!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Headers — the envelope labels.</a:t>
            </a:r>
          </a:p>
          <a:p/>
          <a:p>
            <a:r>
              <a:t>Analogies: headers are like the outside of a postal envelope (from, to, stamps, priority) while the body is the letter inside.</a:t>
            </a:r>
          </a:p>
          <a:p/>
          <a:p>
            <a:r>
              <a:t>Key headers students will actually use today:</a:t>
            </a:r>
          </a:p>
          <a:p>
            <a:r>
              <a:t>- User-Agent: some APIs refuse requests without a real one (bots). requests sets a default; you can override.</a:t>
            </a:r>
          </a:p>
          <a:p>
            <a:r>
              <a:t>- X-Api-Key: where API keys commonly go (slide 32).</a:t>
            </a:r>
          </a:p>
          <a:p>
            <a:r>
              <a:t>- Content-Type: tells the server what format the body is in.</a:t>
            </a:r>
          </a:p>
          <a:p/>
          <a:p>
            <a:r>
              <a:t>Response headers worth noticing: Content-Type (is it really JSON?), and rate-limit headers (slide 36).</a:t>
            </a:r>
          </a:p>
          <a:p/>
          <a:p>
            <a:r>
              <a:t>Do NOT go deep into auth headers/OAuth — explicitly out of scope this session.</a:t>
            </a:r>
          </a:p>
          <a:p/>
          <a:p>
            <a:r>
              <a:t>Arabic tip: "الترويسة" ترجمة حرفية؛ اشرحها كـ"بيانات الغلاف": معلومات إضافية خارج الرسالة نفسها.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 — concept slide.</a:t>
            </a:r>
          </a:p>
          <a:p/>
          <a:p>
            <a:r>
              <a:t>Key reassurance: students already know dicts and lists from earlier sessions. JSON is just "the same thing as text" — that's the whole secret. Repeat: "A JSON response is a dictionary you haven't unpacked yet."</a:t>
            </a:r>
          </a:p>
          <a:p/>
          <a:p>
            <a:r>
              <a:t>Data types table: strings, numbers, booleans, null, objects, arrays. Watch out for the casing difference (true vs True, null vs None) — requests converts automatically, but it's a classic confusion.</a:t>
            </a:r>
          </a:p>
          <a:p/>
          <a:p>
            <a:r>
              <a:t>Why JSON won: it is language-neutral plain text. C, Java, Python, JavaScript — all parse it.</a:t>
            </a:r>
          </a:p>
          <a:p/>
          <a:p>
            <a:r>
              <a:t>Preview: slide 24 shows a realistic response we will actually receive from Open-Meteo in live coding.</a:t>
            </a:r>
          </a:p>
          <a:p/>
          <a:p>
            <a:r>
              <a:t>Arabic tip: "JSON ليست لغة برمجة، بل صيغة نصية" — نقطة يساء فهمها كثيراً، أكدها الآن.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a realistic Open-Meteo JSON response, trimmed for teaching.</a:t>
            </a:r>
          </a:p>
          <a:p/>
          <a:p>
            <a:r>
              <a:t>Walk the nesting: outer dict → "current_weather" → nested dict → "temperature". Show the Python access path:</a:t>
            </a:r>
          </a:p>
          <a:p>
            <a:r>
              <a:t>`data["current_weather"]["temperature"]` → 38.1</a:t>
            </a:r>
          </a:p>
          <a:p/>
          <a:p>
            <a:r>
              <a:t>This exact structure returns in live coding (slides 34–35). If students can read this JSON now, live coding is smooth.</a:t>
            </a:r>
          </a:p>
          <a:p/>
          <a:p>
            <a:r>
              <a:t>Activity (3 min): open the live URL in a browser (it needs internet) and compare with the trimmed version. Let them find "timezone" and "windspeed" in the real payload.</a:t>
            </a:r>
          </a:p>
          <a:p/>
          <a:p>
            <a:r>
              <a:t>Mistake to pre-empt: forgetting that keys are strings with quotes → KeyError on `data[current_weather]`.</a:t>
            </a:r>
          </a:p>
          <a:p/>
          <a:p>
            <a:r>
              <a:t>Arabic tip: علّمهم أن يقرؤوا JSON من "الداخل إلى الخارج": ابدأ من المفتاح الأعمق ثم اخرج. سلسلة مفاتيح مثل خريطة كنز.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requests library — our main tool.</a:t>
            </a:r>
          </a:p>
          <a:p/>
          <a:p>
            <a:r>
              <a:t>Demo install live (30 s): `pip install requests`. Then `import requests; print(requests.__version__)`.</a:t>
            </a:r>
          </a:p>
          <a:p/>
          <a:p>
            <a:r>
              <a:t>The response object is the star. Drill the five attributes with a real call:</a:t>
            </a:r>
          </a:p>
          <a:p>
            <a:r>
              <a:t>- status_code, ok, text, json(), headers.</a:t>
            </a:r>
          </a:p>
          <a:p/>
          <a:p>
            <a:r>
              <a:t>Set up the next two slides: slide 26 = first GET (frankfurter), slide 27 = predict-the-output on those attributes.</a:t>
            </a:r>
          </a:p>
          <a:p/>
          <a:p>
            <a:r>
              <a:t>Common mistake: forgetting to install, then a ModuleNotFoundError at import. Walk them through reading that error calmly.</a:t>
            </a:r>
          </a:p>
          <a:p/>
          <a:p>
            <a:r>
              <a:t>Arabic tip: اشرح أن `requests` مكتبة خارجية تُثبَّت عبر `pip` — وفرّق بين المكتبات المدمجة (مثل sqlite3) والخارجية (مثل requests).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GET — live coding moment (5 minutes).</a:t>
            </a:r>
          </a:p>
          <a:p/>
          <a:p>
            <a:r>
              <a:t>Walk through line by line:</a:t>
            </a:r>
          </a:p>
          <a:p>
            <a:r>
              <a:t>1. import requests</a:t>
            </a:r>
          </a:p>
          <a:p>
            <a:r>
              <a:t>2. requests.get(url) — note we pass the URL *with* query params inline here.</a:t>
            </a:r>
          </a:p>
          <a:p>
            <a:r>
              <a:t>3. resp.status_code → 200</a:t>
            </a:r>
          </a:p>
          <a:p>
            <a:r>
              <a:t>4. resp.text → raw JSON string</a:t>
            </a:r>
          </a:p>
          <a:p/>
          <a:p>
            <a:r>
              <a:t>Then LIVE RUN it in the terminal. If no internet, show the expected output (printed on screen) and move on.</a:t>
            </a:r>
          </a:p>
          <a:p/>
          <a:p>
            <a:r>
              <a:t>Expected output (approx):</a:t>
            </a:r>
          </a:p>
          <a:p>
            <a:r>
              <a:t>```</a:t>
            </a:r>
          </a:p>
          <a:p>
            <a:r>
              <a:t>200</a:t>
            </a:r>
          </a:p>
          <a:p>
            <a:r>
              <a:t>{"amount":1.0,"base":"USD","date":"2026-08-03","rates":{"EUR":0.92}}</a:t>
            </a:r>
          </a:p>
          <a:p>
            <a:r>
              <a:t>```</a:t>
            </a:r>
          </a:p>
          <a:p/>
          <a:p>
            <a:r>
              <a:t>Common issue: ModuleNotFoundError → they forgot `pip install requests`.</a:t>
            </a:r>
          </a:p>
          <a:p/>
          <a:p>
            <a:r>
              <a:t>This is the "hello world" of APIs. Celebrate it: "You just talked to a server in another country."</a:t>
            </a:r>
          </a:p>
          <a:p/>
          <a:p>
            <a:r>
              <a:t>Arabic tip: هذا أول كود فعلي للجلسة — اجعل الطلاب يكتبونه بأيديهم، لا ينسخونه فقط. الكتابة اليدوية تثبّت التعلم.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the output #1. Answers:</a:t>
            </a:r>
          </a:p>
          <a:p>
            <a:r>
              <a:t>1. `` — resp is always a Response object.</a:t>
            </a:r>
          </a:p>
          <a:p>
            <a:r>
              <a:t>2. `True` — status 200 is in the success range, so resp.ok is True.</a:t>
            </a:r>
          </a:p>
          <a:p>
            <a:r>
              <a:t>3. `True` — 200 == 200.</a:t>
            </a:r>
          </a:p>
          <a:p/>
          <a:p>
            <a:r>
              <a:t>Run it live after guesses. If offline, explain the answers from the printed slide.</a:t>
            </a:r>
          </a:p>
          <a:p/>
          <a:p>
            <a:r>
              <a:t>Debrief: the point is that the *type* of the object never changes — only the data inside changes. That's why we can write one pattern and reuse it for any API.</a:t>
            </a:r>
          </a:p>
          <a:p/>
          <a:p>
            <a:r>
              <a:t>Variation: ask what would change if the server were down → status_code 500, resp.ok False, comparison False.</a:t>
            </a:r>
          </a:p>
          <a:p/>
          <a:p>
            <a:r>
              <a:t>Arabic tip: اشرح أن التوقع قبل التشغيل يبني "حدس المبرمج" — ثم نفّذ الكود ليتأكدوا من إجاباتهم.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with query parameters via the `params=` argument.</a:t>
            </a:r>
          </a:p>
          <a:p/>
          <a:p>
            <a:r>
              <a:t>Point out the elegance: we give requests a normal Python dict, it builds the query string. Also mention URL encoding: if a value had a space, requests turns it into %20 automatically.</a:t>
            </a:r>
          </a:p>
          <a:p/>
          <a:p>
            <a:r>
              <a:t>Live demo: print(resp.url) to show what was built — "see, it did the ? and &amp; for us."</a:t>
            </a:r>
          </a:p>
          <a:p/>
          <a:p>
            <a:r>
              <a:t>This is the exact technique the weather live-coding uses (slides 34–35), where params = {latitude, longitude, current_weather}.</a:t>
            </a:r>
          </a:p>
          <a:p/>
          <a:p>
            <a:r>
              <a:t>Common mistake: passing params in the URL AND in params= — you'll get both; choose one.</a:t>
            </a:r>
          </a:p>
          <a:p/>
          <a:p>
            <a:r>
              <a:t>Arabic tip: القاعدة: "المعاملات في القاموس، والرابط نظيف" — لا تكتب علامتي ؟ و&amp; بنفسك أبداً.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Parsing JSON — the .json() moment.</a:t>
            </a:r>
          </a:p>
          <a:p/>
          <a:p>
            <a:r>
              <a:t>Pipeline emphasis: text (string) → .json() → dict. Then everything is normal Python again (indexing, .get(), loops, nested access).</a:t>
            </a:r>
          </a:p>
          <a:p/>
          <a:p>
            <a:r>
              <a:t>Live: after calling, show type(data) is dict, then print(data["rates"]) and data["rates"]["EUR"]. Also demo pprint(data) for readability.</a:t>
            </a:r>
          </a:p>
          <a:p/>
          <a:p>
            <a:r>
              <a:t>Mistakes students will hit:</a:t>
            </a:r>
          </a:p>
          <a:p>
            <a:r>
              <a:t>- data["rates"] gives a dict, and they forget the second key → they print a dict and wonder why "EUR" isn't there.</a:t>
            </a:r>
          </a:p>
          <a:p>
            <a:r>
              <a:t>- KeyError from a typo like "Rates" (capital R) → tell them: JSON keys are case-sensitive, copy-paste from docs.</a:t>
            </a:r>
          </a:p>
          <a:p>
            <a:r>
              <a:t>- resp.json() on a 404 body → error; solve with status check (slide 33).</a:t>
            </a:r>
          </a:p>
          <a:p/>
          <a:p>
            <a:r>
              <a:t>Arabic tip: شبّه الأمر بفتح صندوق الشحن: .text هو الصندوق المغلق (نص)، و.json() يفتحه لتحصل على المحتويات المرتبة.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the output #2. Answer: **B) A number, e.g. 38.1**.</a:t>
            </a:r>
          </a:p>
          <a:p/>
          <a:p>
            <a:r>
              <a:t>Trace: data["current_weather"] is a dict (because in JSON that key's value is an object), so data["current_weather"]["temperature"] is the float temperature value.</a:t>
            </a:r>
          </a:p>
          <a:p/>
          <a:p>
            <a:r>
              <a:t>Why this matters: this exact snippet becomes the heart of our weather live coding in slides 34–35. Students who get this right are ready to build.</a:t>
            </a:r>
          </a:p>
          <a:p/>
          <a:p>
            <a:r>
              <a:t>If someone guesses A: clarify the first key returns a dict, but the second key grabs the number inside it.</a:t>
            </a:r>
          </a:p>
          <a:p/>
          <a:p>
            <a:r>
              <a:t>Extra challenge: ask them what would happen if the key were spelled "Temperature" → KeyError (case-sensitive).</a:t>
            </a:r>
          </a:p>
          <a:p/>
          <a:p>
            <a:r>
              <a:t>Arabic tip: ذكّرهم بخريطة الكنز: كل مفتاح يقودك لمربع جديد حتى تصل إلى الرقم النهائي.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requests — creating data.</a:t>
            </a:r>
          </a:p>
          <a:p/>
          <a:p>
            <a:r>
              <a:t>Contrast with GET:</a:t>
            </a:r>
          </a:p>
          <a:p>
            <a:r>
              <a:t>- GET: no body, read-only, answer is the data.</a:t>
            </a:r>
          </a:p>
          <a:p>
            <a:r>
              <a:t>- POST: body = the new data, answer = the created resource (with an id).</a:t>
            </a:r>
          </a:p>
          <a:p/>
          <a:p>
            <a:r>
              <a:t>Note the `json=` parameter name — requests serializes the Python dict to a JSON body automatically and sets Content-Type: application/json.</a:t>
            </a:r>
          </a:p>
          <a:p/>
          <a:p>
            <a:r>
              <a:t>We use jsonplaceholder.typicode.com — a free fake API built for practice. Real POSTs would need auth/keys (a later session).</a:t>
            </a:r>
          </a:p>
          <a:p/>
          <a:p>
            <a:r>
              <a:t>Live: run it; show 201 and the echoed object with id=101.</a:t>
            </a:r>
          </a:p>
          <a:p/>
          <a:p>
            <a:r>
              <a:t>Pitfall: passing `data=` instead of `json=` — data sends form-encoded text; for APIs use json=.</a:t>
            </a:r>
          </a:p>
          <a:p/>
          <a:p>
            <a:r>
              <a:t>Arabic tip: التمييز الذهبي: "GET يقرأ، POST يُنشئ" — و"json=" تنقل القاموس بأمان إلى الخادم.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keys — identity for your requests.</a:t>
            </a:r>
          </a:p>
          <a:p/>
          <a:p>
            <a:r>
              <a:t>Why keys: identify you, count usage, enforce free-tier limits. Emphasize security: never paste a real key into public code, never commit it to Git. Mention environment variables as the safe pattern (demonstrate `os.environ.get("KEY")`).</a:t>
            </a:r>
          </a:p>
          <a:p/>
          <a:p>
            <a:r>
              <a:t>Reassure: today's weather &amp; currency APIs need no key, so students can experiment freely. When they later use OpenWeatherMap or similar, the pattern is just headers + one URL.</a:t>
            </a:r>
          </a:p>
          <a:p/>
          <a:p>
            <a:r>
              <a:t>Correlate with status codes: missing/wrong key → 401; forbidden permission → 403. Quick tie-back to slide 20.</a:t>
            </a:r>
          </a:p>
          <a:p/>
          <a:p>
            <a:r>
              <a:t>Do NOT teach OAuth flows, token refresh, etc. — explicitly out of scope.</a:t>
            </a:r>
          </a:p>
          <a:p/>
          <a:p>
            <a:r>
              <a:t>Arabic tip: شبّه المفتاح بكلمة مرور لحسابك: تُعطى لك بعد تسجيلك لدى الخدمة، وتحفظها كسرّ شخصي.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handling — the 3-step shield.</a:t>
            </a:r>
          </a:p>
          <a:p/>
          <a:p>
            <a:r>
              <a:t>Walk the code: check status_code != 200 first, print a friendly message + return None. Mention resp.reason gives "Not Found" text.</a:t>
            </a:r>
          </a:p>
          <a:p/>
          <a:p>
            <a:r>
              <a:t>Two error layers students must distinguish:</a:t>
            </a:r>
          </a:p>
          <a:p>
            <a:r>
              <a:t>1. HTTP errors (4xx/5xx) — caught by checking status_code.</a:t>
            </a:r>
          </a:p>
          <a:p>
            <a:r>
              <a:t>2. Network errors (no internet, DNS failure) — these raise exceptions; catch with try/except requests.exceptions.RequestException.</a:t>
            </a:r>
          </a:p>
          <a:p/>
          <a:p>
            <a:r>
              <a:t>Live demo idea: unplug/reload — call get_rate("XXX") (invalid code) → shows the graceful path returns None instead of crashing.</a:t>
            </a:r>
          </a:p>
          <a:p/>
          <a:p>
            <a:r>
              <a:t>This pattern is required in the project (currency converter). Hammer it now.</a:t>
            </a:r>
          </a:p>
          <a:p/>
          <a:p>
            <a:r>
              <a:t>Arabic tip: "احمِ برنامجك كأنه هاتفك — أنت لا ترميه عند انقطاع الإنترنت، بل تعالج الموقف" مثال واقعي قريب من حياتهم.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CODING part 1 — weather app, Open-Meteo (no key).</a:t>
            </a:r>
          </a:p>
          <a:p/>
          <a:p>
            <a:r>
              <a:t>Steps (10 min):</a:t>
            </a:r>
          </a:p>
          <a:p>
            <a:r>
              <a:t>1. Open a new file `weather.py`.</a:t>
            </a:r>
          </a:p>
          <a:p>
            <a:r>
              <a:t>2. `import requests`.</a:t>
            </a:r>
          </a:p>
          <a:p>
            <a:r>
              <a:t>3. Copy the URL constant and params dict EXACTLY. Note coordinates for Cairo (30.05, 31.24).</a:t>
            </a:r>
          </a:p>
          <a:p>
            <a:r>
              <a:t>4. Run `resp = requests.get(URL, params=params)` and `print(data)` to inspect the full JSON.</a:t>
            </a:r>
          </a:p>
          <a:p/>
          <a:p>
            <a:r>
              <a:t>Pause here deliberately. Have students look at the printed dict and find keys like "current_weather", "temperature". This connects live code to the JSON visual from slide 24.</a:t>
            </a:r>
          </a:p>
          <a:p/>
          <a:p>
            <a:r>
              <a:t>Expected data["current_weather"] keys: temperature, windspeed, winddirection, weathercode, is_day, time.</a:t>
            </a:r>
          </a:p>
          <a:p/>
          <a:p>
            <a:r>
              <a:t>If network fails: show the offline fallback — hardcode a sample dict and continue; note that the code itself is correct.</a:t>
            </a:r>
          </a:p>
          <a:p/>
          <a:p>
            <a:r>
              <a:t>Arabic tip: علّمهم قراءة المخرجات بصبر: "البيانات أمامك — اقرأ المفاتيح ثم استخرج ما تريد".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CODING part 2 — finish the weather app.</a:t>
            </a:r>
          </a:p>
          <a:p/>
          <a:p>
            <a:r>
              <a:t>Steps (10 min):</a:t>
            </a:r>
          </a:p>
          <a:p>
            <a:r>
              <a:t>1. Continue weather.py.</a:t>
            </a:r>
          </a:p>
          <a:p>
            <a:r>
              <a:t>2. Extract current_weather → weather dict, then temperature and windspeed.</a:t>
            </a:r>
          </a:p>
          <a:p>
            <a:r>
              <a:t>3. Print the f-string report.</a:t>
            </a:r>
          </a:p>
          <a:p>
            <a:r>
              <a:t>4. Add the if/else comment about temp.</a:t>
            </a:r>
          </a:p>
          <a:p/>
          <a:p>
            <a:r>
              <a:t>Ask students to change the coordinates to their own city and re-run. This makes the lesson personal — expect excited reactions.</a:t>
            </a:r>
          </a:p>
          <a:p/>
          <a:p>
            <a:r>
              <a:t>Common mistakes while typing:</a:t>
            </a:r>
          </a:p>
          <a:p>
            <a:r>
              <a:t>- Forgetting the second index: data["current_weather"]["temperature"] written as data["current_weather"] then printing a dict.</a:t>
            </a:r>
          </a:p>
          <a:p>
            <a:r>
              <a:t>- Typos in key names → KeyError. Remind: copy-paste keys from print(data).</a:t>
            </a:r>
          </a:p>
          <a:p/>
          <a:p>
            <a:r>
              <a:t>Bonus if time: wrap in try/except from slide 33, or add a `while` loop asking for city names.</a:t>
            </a:r>
          </a:p>
          <a:p/>
          <a:p>
            <a:r>
              <a:t>Offline plan: hardcode the sample dict from slide 24 and run the extraction part.</a:t>
            </a:r>
          </a:p>
          <a:p/>
          <a:p>
            <a:r>
              <a:t>Arabic tip: اتركهم يجرّبون مدينتهم الخاصة — "التخصيص" يرفع الحماس ويرسّخ الفهم أكثر من أي شرح.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Rate limits — being a good citizen.</a:t>
            </a:r>
          </a:p>
          <a:p/>
          <a:p>
            <a:r>
              <a:t>Story: servers are shared. If 10,000 students all hit one API every 10 ms, it collapses. 429 is the server politely saying "wait a second."</a:t>
            </a:r>
          </a:p>
          <a:p/>
          <a:p>
            <a:r>
              <a:t>Good habits (write on board):</a:t>
            </a:r>
          </a:p>
          <a:p>
            <a:r>
              <a:t>- time.sleep() between requests in loops</a:t>
            </a:r>
          </a:p>
          <a:p>
            <a:r>
              <a:t>- read the docs' rate-limit section</a:t>
            </a:r>
          </a:p>
          <a:p>
            <a:r>
              <a:t>- cache: store what you fetched instead of re-fetching</a:t>
            </a:r>
          </a:p>
          <a:p>
            <a:r>
              <a:t>- respect Retry-After headers when present</a:t>
            </a:r>
          </a:p>
          <a:p/>
          <a:p>
            <a:r>
              <a:t>This slide connects to status codes (429 was mentioned on slide 20). Quick recall: which family is 429? (4xx — client error: too many requests.)</a:t>
            </a:r>
          </a:p>
          <a:p/>
          <a:p>
            <a:r>
              <a:t>Arabic tip: مثال حي: عندما يتزاحم الجميع على باب واحد لا يدخل أحد — الـ 429 هو "قف قليلاً ثم عد".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public APIs — a playground menu (six cards).</a:t>
            </a:r>
          </a:p>
          <a:p/>
          <a:p>
            <a:r>
              <a:t>Present this as the "toy box": everything here is key-free and free. Each card shows the real GET endpoint.</a:t>
            </a:r>
          </a:p>
          <a:p/>
          <a:p>
            <a:r>
              <a:t>Suggest a 3-minute challenge: pick one API, GET it in a browser (you'll see JSON), then write the 4-line requests version. First five students done get a shout-out.</a:t>
            </a:r>
          </a:p>
          <a:p/>
          <a:p>
            <a:r>
              <a:t>Careful teaching points:</a:t>
            </a:r>
          </a:p>
          <a:p>
            <a:r>
              <a:t>- randomuser.me/api returns data["results"][0]["name"]["first"] — a great nesting exercise.</a:t>
            </a:r>
          </a:p>
          <a:p>
            <a:r>
              <a:t>- jokeapi sometimes returns "setup" + "delivery" (two-part jokes) — handling both shapes is a nice if/else exercise.</a:t>
            </a:r>
          </a:p>
          <a:p>
            <a:r>
              <a:t>- These URLs are real and keyless — verified working class of 2026.</a:t>
            </a:r>
          </a:p>
          <a:p/>
          <a:p>
            <a:r>
              <a:t>Arabic tip: "صندوق ألعاب" حقيقي — دع الطلاب يختارون واحداً ويبنون منه شيئاً صغيراً اليوم أنفسهم.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intro — currency converter.</a:t>
            </a:r>
          </a:p>
          <a:p/>
          <a:p>
            <a:r>
              <a:t>Set the goal: a real tool using the Frankfurter API (keyless, free). It combines almost everything taught: requests, params, JSON parsing, status checks, and input().</a:t>
            </a:r>
          </a:p>
          <a:p/>
          <a:p>
            <a:r>
              <a:t>Project format: students build it in pairs or solo, following slides 39–41. 40 minutes total (15 read+write, 15 build, 10 debugging + sharing).</a:t>
            </a:r>
          </a:p>
          <a:p/>
          <a:p>
            <a:r>
              <a:t>Expectations: working tool + graceful errors. "If your converter crashes when I type garbage, it's not done."</a:t>
            </a:r>
          </a:p>
          <a:p/>
          <a:p>
            <a:r>
              <a:t>Time check: if the session is running long, project slides 39–41 are the core deliverable — do not skip. Exercises/homework can be shortened instead.</a:t>
            </a:r>
          </a:p>
          <a:p/>
          <a:p>
            <a:r>
              <a:t>Arabic tip: اربط المشروع بحياتهم: "كم مرة احتجت تحويل دولار إلى جنيه وفتحت الإنترنت؟ الآن تبني الأداة بنفسك."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code part 1 — get_rates().</a:t>
            </a:r>
          </a:p>
          <a:p/>
          <a:p>
            <a:r>
              <a:t>Teach the new tool raise_for_status(): one line that combines "check the code" + "raise on error". Explain it raises requests.HTTPError for 4xx/5xx.</a:t>
            </a:r>
          </a:p>
          <a:p/>
          <a:p>
            <a:r>
              <a:t>Walk through the function:</a:t>
            </a:r>
          </a:p>
          <a:p>
            <a:r>
              <a:t>- default from_currency="USD"</a:t>
            </a:r>
          </a:p>
          <a:p>
            <a:r>
              <a:t>- params dict, pass to requests.get</a:t>
            </a:r>
          </a:p>
          <a:p>
            <a:r>
              <a:t>- raise_for_status() guards</a:t>
            </a:r>
          </a:p>
          <a:p>
            <a:r>
              <a:t>- return resp.json()["rates"] — the nested dict of rates</a:t>
            </a:r>
          </a:p>
          <a:p/>
          <a:p>
            <a:r>
              <a:t>Expected output: `1 USD = 0.92 EUR` (approx).</a:t>
            </a:r>
          </a:p>
          <a:p/>
          <a:p>
            <a:r>
              <a:t>Student pitfall: returning resp.json() (the whole object) instead of ["rates"] — then later code breaks. Have them print type(rates) → dict.</a:t>
            </a:r>
          </a:p>
          <a:p/>
          <a:p>
            <a:r>
              <a:t>Arabic tip: اشرح raise_for_status كـ"إنذار فوري": إذا لم يكن الرد سليماً أطلق صفارة، لا تواصل بصمت.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code part 2 — convert() + main flow.</a:t>
            </a:r>
          </a:p>
          <a:p/>
          <a:p>
            <a:r>
              <a:t>Walk through:</a:t>
            </a:r>
          </a:p>
          <a:p>
            <a:r>
              <a:t>- convert() takes amount, from, to.</a:t>
            </a:r>
          </a:p>
          <a:p>
            <a:r>
              <a:t>- params get both currencies.</a:t>
            </a:r>
          </a:p>
          <a:p>
            <a:r>
              <a:t>- status check returns None with a friendly message on failure.</a:t>
            </a:r>
          </a:p>
          <a:p>
            <a:r>
              <a:t>- rate extracted, math done, rounded to 2 decimals.</a:t>
            </a:r>
          </a:p>
          <a:p>
            <a:r>
              <a:t>- main: float(input()), call convert, print result.</a:t>
            </a:r>
          </a:p>
          <a:p/>
          <a:p>
            <a:r>
              <a:t>Live: run with 100 USD → EUR. Show the output.</a:t>
            </a:r>
          </a:p>
          <a:p/>
          <a:p>
            <a:r>
              <a:t>Challenge (5 min, optional): make it crash-proof for "abc" input with try/except around float(). Also allow the user to choose the target currency with input().</a:t>
            </a:r>
          </a:p>
          <a:p/>
          <a:p>
            <a:r>
              <a:t>Expected pitfalls:</a:t>
            </a:r>
          </a:p>
          <a:p>
            <a:r>
              <a:t>- float("abc") → ValueError crash (hence the challenge).</a:t>
            </a:r>
          </a:p>
          <a:p>
            <a:r>
              <a:t>- params key "from"/"to" are fine to pass as dict keys in requests.</a:t>
            </a:r>
          </a:p>
          <a:p/>
          <a:p>
            <a:r>
              <a:t>Arabic tip: اجعلهم يفكرون: "ماذا لو كتب المستخدم حروفاً بدل الأرقام؟" — اتركهم يجدون الحل بأنفسهم قبل أن تكشفه.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output — celebrate.</a:t>
            </a:r>
          </a:p>
          <a:p/>
          <a:p>
            <a:r>
              <a:t>Show the actual terminal session: successful conversion (100 USD = 92.0 EUR) and the graceful error path.</a:t>
            </a:r>
          </a:p>
          <a:p/>
          <a:p>
            <a:r>
              <a:t>Have 2–3 volunteers show their output to the class. Praise effort, not just success — the error-handling branch is as impressive as the happy path.</a:t>
            </a:r>
          </a:p>
          <a:p/>
          <a:p>
            <a:r>
              <a:t>Emphasize the emotional beat: "The number on your screen is minutes old, from a server you never met. You did this with Python."</a:t>
            </a:r>
          </a:p>
          <a:p/>
          <a:p>
            <a:r>
              <a:t>If time: quick showcase of a student who did the challenge (typing "abc" doesn't crash).</a:t>
            </a:r>
          </a:p>
          <a:p/>
          <a:p>
            <a:r>
              <a:t>Arabic tip: لحظة الفخر مهمة: اجعلهم يعرضون شاشاتهم لبعضهم — النجاح المرئي يرفع ثقة المجموعة كلها.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Exercises — three levels. Give 15 minutes.</a:t>
            </a:r>
          </a:p>
          <a:p/>
          <a:p>
            <a:r>
              <a:t>EASY solution:</a:t>
            </a:r>
          </a:p>
          <a:p>
            <a:r>
              <a:t>```python</a:t>
            </a:r>
          </a:p>
          <a:p>
            <a:r>
              <a:t>import requests</a:t>
            </a:r>
          </a:p>
          <a:p>
            <a:r>
              <a:t>resp = requests.get("https://api.frankfurter.app/latest?from=USD&amp;to=GBP")</a:t>
            </a:r>
          </a:p>
          <a:p>
            <a:r>
              <a:t>print(resp.json()["rates"]["GBP"])</a:t>
            </a:r>
          </a:p>
          <a:p>
            <a:r>
              <a:t>```</a:t>
            </a:r>
          </a:p>
          <a:p/>
          <a:p>
            <a:r>
              <a:t>MEDIUM solution (example: Cairo):</a:t>
            </a:r>
          </a:p>
          <a:p>
            <a:r>
              <a:t>```python</a:t>
            </a:r>
          </a:p>
          <a:p>
            <a:r>
              <a:t>import requests</a:t>
            </a:r>
          </a:p>
          <a:p>
            <a:r>
              <a:t>resp = requests.get("https://api.open-meteo.com/v1/forecast",</a:t>
            </a:r>
          </a:p>
          <a:p>
            <a:r>
              <a:t>                    params={"latitude": 30.05, "longitude": 31.24, "current_weather": "true"})</a:t>
            </a:r>
          </a:p>
          <a:p>
            <a:r>
              <a:t>data = resp.json()</a:t>
            </a:r>
          </a:p>
          <a:p>
            <a:r>
              <a:t>w = data["current_weather"]</a:t>
            </a:r>
          </a:p>
          <a:p>
            <a:r>
              <a:t>print(f"Your city: {w['temperature']} °C, wind {w['windspeed']} km/h")</a:t>
            </a:r>
          </a:p>
          <a:p>
            <a:r>
              <a:t>print("timezone:", data["timezone"])</a:t>
            </a:r>
          </a:p>
          <a:p>
            <a:r>
              <a:t>```</a:t>
            </a:r>
          </a:p>
          <a:p/>
          <a:p>
            <a:r>
              <a:t>CHALLENGE solution:</a:t>
            </a:r>
          </a:p>
          <a:p>
            <a:r>
              <a:t>```python</a:t>
            </a:r>
          </a:p>
          <a:p>
            <a:r>
              <a:t>import requests</a:t>
            </a:r>
          </a:p>
          <a:p>
            <a:r>
              <a:t>data = requests.get("https://api.frankfurter.app/latest?from=USD").json()</a:t>
            </a:r>
          </a:p>
          <a:p>
            <a:r>
              <a:t>rates = data["rates"]</a:t>
            </a:r>
          </a:p>
          <a:p>
            <a:r>
              <a:t>best = max(rates, key=rates.get)</a:t>
            </a:r>
          </a:p>
          <a:p>
            <a:r>
              <a:t>print(best, rates[best])</a:t>
            </a:r>
          </a:p>
          <a:p>
            <a:r>
              <a:t>```</a:t>
            </a:r>
          </a:p>
          <a:p/>
          <a:p>
            <a:r>
              <a:t>Circulate: students who finish fast can help neighbors — pairs of "teacher/learner" reinforce mastery.</a:t>
            </a:r>
          </a:p>
          <a:p/>
          <a:p>
            <a:r>
              <a:t>Arabic tip: اجعل من أنهى التحدي يشرح حله للصف — الشرح للآخرين أقوى تثبيتاً للمفهوم.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— practice on a NEW API.</a:t>
            </a:r>
          </a:p>
          <a:p/>
          <a:p>
            <a:r>
              <a:t>Why "new": copying today's code is memory; using the pattern on an unseen API is understanding. State this explicitly to students.</a:t>
            </a:r>
          </a:p>
          <a:p/>
          <a:p>
            <a:r>
              <a:t>Checklist to include in their submission: code file + a screenshot of output + the API they used. Next session: 3 volunteers present, 2 minutes each.</a:t>
            </a:r>
          </a:p>
          <a:p/>
          <a:p>
            <a:r>
              <a:t>Give a concrete example of the "two nested values" requirement, e.g. RandomUser:</a:t>
            </a:r>
          </a:p>
          <a:p>
            <a:r>
              <a:t>data["results"][0]["name"]["first"] and data["results"][0]["location"]["country"].</a:t>
            </a:r>
          </a:p>
          <a:p/>
          <a:p>
            <a:r>
              <a:t>Arabic tip: اربط الواجب بالمكافأة: "من يعرض واجهة جديدة بنجاح يبدأ الجلسة القادمة بعلامة كاملة" — حافز بسيط وفعّال.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quiz — answers on the slide: Q1=B (requests), Q2=A (resp.json()), Q3=D (500).</a:t>
            </a:r>
          </a:p>
          <a:p/>
          <a:p>
            <a:r>
              <a:t>Read each question aloud, let students answer on paper or fingers (1–4), then reveal.</a:t>
            </a:r>
          </a:p>
          <a:p/>
          <a:p>
            <a:r>
              <a:t>If someone struggles:</a:t>
            </a:r>
          </a:p>
          <a:p>
            <a:r>
              <a:t>- Q1 → revisit slide 25 (the library that makes requests).</a:t>
            </a:r>
          </a:p>
          <a:p>
            <a:r>
              <a:t>- Q2 → slide 29 (.json() pipeline).</a:t>
            </a:r>
          </a:p>
          <a:p>
            <a:r>
              <a:t>- Q3 → slide 20 (5xx family).</a:t>
            </a:r>
          </a:p>
          <a:p/>
          <a:p>
            <a:r>
              <a:t>Tone: encouraging, zero-pressure. The goal is confidence before the recap.</a:t>
            </a:r>
          </a:p>
          <a:p/>
          <a:p>
            <a:r>
              <a:t>Extra oral question if time: "Which HTTP method would add a new user?" → POST.</a:t>
            </a:r>
          </a:p>
          <a:p/>
          <a:p>
            <a:r>
              <a:t>Arabic tip: اطلب منهم تقييم أنفسهم بالإشارة فقط (بدون رفع اليد العلني) — يشعر الضعيف بالأمان ويشارك بصدق.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— consolidate the golden pattern.</a:t>
            </a:r>
          </a:p>
          <a:p/>
          <a:p>
            <a:r>
              <a:t>Read the golden pattern out loud slowly; students repeat each step. This is the "one pattern" that powers everything: import → get → check → parse → use.</a:t>
            </a:r>
          </a:p>
          <a:p/>
          <a:p>
            <a:r>
              <a:t>Reinforce what they built (weather + currency) — point out they are now doing "real developer work."</a:t>
            </a:r>
          </a:p>
          <a:p/>
          <a:p>
            <a:r>
              <a:t>Ask a fast-fire round of recap questions (30 seconds each):</a:t>
            </a:r>
          </a:p>
          <a:p>
            <a:r>
              <a:t>- What does 404 mean? (not found)</a:t>
            </a:r>
          </a:p>
          <a:p>
            <a:r>
              <a:t>- What does resp.json() return? (dict)</a:t>
            </a:r>
          </a:p>
          <a:p>
            <a:r>
              <a:t>- Which method reads? (GET)</a:t>
            </a:r>
          </a:p>
          <a:p>
            <a:r>
              <a:t>- Why sleep between requests? (rate limits)</a:t>
            </a:r>
          </a:p>
          <a:p/>
          <a:p>
            <a:r>
              <a:t>Then transition: "Today we asked APIs that websites generously open for us. What if we want data that has NO API?" → slide 46 (common mistakes) → 47 (bridge to scraping).</a:t>
            </a:r>
          </a:p>
          <a:p/>
          <a:p>
            <a:r>
              <a:t>Arabic tip: اجعل التلخيص "حلقة سريعة": أنت تسأل، الطلاب يجيبون بسرعة — إنهاء الجلسة بطاقة عالية يثبّت كل شيء.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— wrong vs right, side by side.</a:t>
            </a:r>
          </a:p>
          <a:p/>
          <a:p>
            <a:r>
              <a:t>Walk each row: mistake → fix. Let students self-diagnose which mistake they nearly made today.</a:t>
            </a:r>
          </a:p>
          <a:p/>
          <a:p>
            <a:r>
              <a:t>Emphasize the "three error messages" box:</a:t>
            </a:r>
          </a:p>
          <a:p>
            <a:r>
              <a:t>- KeyError → wrong key name (case-sensitive!)</a:t>
            </a:r>
          </a:p>
          <a:p>
            <a:r>
              <a:t>- ConnectionError → offline / bad domain</a:t>
            </a:r>
          </a:p>
          <a:p>
            <a:r>
              <a:t>- HTTPError → raise_for_status() caught a 4xx/5xx</a:t>
            </a:r>
          </a:p>
          <a:p/>
          <a:p>
            <a:r>
              <a:t>Quick activity: give one minute to find their own mistake from today's session and tell the class what they'd do differently.</a:t>
            </a:r>
          </a:p>
          <a:p/>
          <a:p>
            <a:r>
              <a:t>Arabic tip: اجعلهم يتحلون بالأمانة: "من وقع في أي خطأ اليوم؟" — الاعتراف بالخطأ جزء من التعلم.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to Web Scraping.</a:t>
            </a:r>
          </a:p>
          <a:p/>
          <a:p>
            <a:r>
              <a:t>Set up the contrast: APIs are official doors; scraping is reading the page like a human browser. Both get data from the web; both use requests.</a:t>
            </a:r>
          </a:p>
          <a:p/>
          <a:p>
            <a:r>
              <a:t>Ethics hook (important): scraping has rules — robots.txt, terms of service, be gentle, don't steal logins. We'll cover how to do it the right way next session.</a:t>
            </a:r>
          </a:p>
          <a:p/>
          <a:p>
            <a:r>
              <a:t>Memory: "If there's a door (API), knock politely. If there's no door, next session we learn to read the sign outside."</a:t>
            </a:r>
          </a:p>
          <a:p/>
          <a:p>
            <a:r>
              <a:t>Arabic tip: عبّر عنها بالمجاز: "اليوم فتحنا الباب الرسمي للبيانات؛ الجلسة القادمة سنتعلم قراءة اللافتات على أي بناء".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 for Web Scraping.</a:t>
            </a:r>
          </a:p>
          <a:p/>
          <a:p>
            <a:r>
              <a:t>Keep energy high — this is the "coming soon" trailer. Show the code as pure hype (it's valid, but we don't build it today; bs4 is installed next session).</a:t>
            </a:r>
          </a:p>
          <a:p/>
          <a:p>
            <a:r>
              <a:t>Story: "Anything a human can read on a page, a Python script can read too — and 10,000 times faster."</a:t>
            </a:r>
          </a:p>
          <a:p/>
          <a:p>
            <a:r>
              <a:t>Ethics one-liner: "With great scraping power comes great responsibility — we learn the rules next time."</a:t>
            </a:r>
          </a:p>
          <a:p/>
          <a:p>
            <a:r>
              <a:t>Do not run the code now (bs4 not installed); it's a teaser only. Note requests is reused — today's knowledge is directly transferable.</a:t>
            </a:r>
          </a:p>
          <a:p/>
          <a:p>
            <a:r>
              <a:t>Arabic tip: "المعرفة تراكمية: ما تعلمته اليوم هو نصف المهارة القادمة" — هذا يشعرهم أنهم متقدمون بالفعل.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— celebration + next steps.</a:t>
            </a:r>
          </a:p>
          <a:p/>
          <a:p>
            <a:r>
              <a:t>Praise specifics (not generic): name 2–3 things the class actually did today ("you parsed nested JSON", "your converter survived bad input").</a:t>
            </a:r>
          </a:p>
          <a:p/>
          <a:p>
            <a:r>
              <a:t>Close the loop on the hook: "This morning the weather app told you 38°C. Now YOU know exactly how it got that number — because you wrote code that does it."</a:t>
            </a:r>
          </a:p>
          <a:p/>
          <a:p>
            <a:r>
              <a:t>Final send-off: encourage the homework, preview Web Scraping with excitement, thank them, end on energy.</a:t>
            </a:r>
          </a:p>
          <a:p/>
          <a:p>
            <a:r>
              <a:t>Arabic tip: أنهِ بعبارة حماسية قصيرة وواثقة — النهاية القوية تُبقى الحماس حتى الجلسة القادمة.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Cheat sheet — the whole session in two boxes.</a:t>
            </a:r>
          </a:p>
          <a:p/>
          <a:p>
            <a:r>
              <a:t>Left box: the reusable code pattern (install → import → GET/POST → raise_for_status → .json() → error handling).</a:t>
            </a:r>
          </a:p>
          <a:p/>
          <a:p>
            <a:r>
              <a:t>Right box: methods, status codes, response attributes, and the free API list.</a:t>
            </a:r>
          </a:p>
          <a:p/>
          <a:p>
            <a:r>
              <a:t>Advice for students: screenshot this slide, or copy it into their own notes. It's the reference they'll want for the homework and future projects.</a:t>
            </a:r>
          </a:p>
          <a:p/>
          <a:p>
            <a:r>
              <a:t>Closing note for the teacher: remind students the cheat sheet exists as an HTML slide they can revisit any time.</a:t>
            </a:r>
          </a:p>
          <a:p/>
          <a:p>
            <a:r>
              <a:t>Arabic tip: اطلب من الطلاب "التقاط" هذه الشريحة على هواتفهم — مرجع سريع يحملونه أينما كانوا.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what-is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api-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real-world-a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real-world-apis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client-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client-serv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http-ba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request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http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http-methods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url-end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url-parts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query-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status-c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status-codes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h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json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json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requests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get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predict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get-with-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parsing-j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predict-outpu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post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api-k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error-hand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live-codi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live-codin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rate-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free-public-a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project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project-co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project-co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projec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exerc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common-mista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cheat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