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254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PYTHON_BOOTCAMP //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397000"/>
            <a:ext cx="10972800" cy="546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SESSION 02 — 3 HOURSOperators&amp;Conditions.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4572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Teach your program tothinkanddecide.العمليات والشروط — خلي البرنامج بتاعك يفكر ويقرر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285" y="1587500"/>
            <a:ext cx="3619409" cy="527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if+==andor%**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59690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OPERATORSCONDITIONS4 MINI PROJECTSMCQs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752" y="6350000"/>
            <a:ext cx="228594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 /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HOOK // EVERY APP MAKES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Every app is justmillions of decisions.كل تطبيق بتستخدمه هو ملايين القرارات في الثانية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349500"/>
            <a:ext cx="10972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Q1🔐How does Instagram decide to let you log in?if password == correct →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5911" y="2349500"/>
            <a:ext cx="8635784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Q2▶️How does YouTube pick your next video?if watched &gt; 80% → recommend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349500"/>
            <a:ext cx="5778355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Q3🎮How does a game know you won or lost?if score &gt;= target →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70768" y="2349500"/>
            <a:ext cx="2920926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Q4🚦How does Uber know a driver is nearby?if distance &lt; 2km → 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79" y="4889499"/>
            <a:ext cx="10972800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TODAY'S SUPERPOWEREvery "if" you see up there →you'll write it yourself by 6 PM.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REVIEW MCQ // 01 OF 03 — 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SESSION 1 REVIEWWhat is the type of"17"?إيه هو نوع القيمة "17" 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730500"/>
            <a:ext cx="10972800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Ainta whole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 whole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730500"/>
            <a:ext cx="5778355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BstrCORRECT ✓a text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 text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4064000"/>
            <a:ext cx="109728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Cfloata decimal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 decimal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4064000"/>
            <a:ext cx="5778355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DboolTrue or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True or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79" y="5429250"/>
            <a:ext cx="109728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BQuotes make ANY value a string."17"is text — you cannot add1to it. Useint("17")to convert.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REVIEW MCQ // 02 OF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SESSION 1 REVIEWWhat does this program print?إيه اللي هيطبعه البرنامج ده؟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95500"/>
            <a:ext cx="109728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question.py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508250"/>
            <a:ext cx="10972800" cy="434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8FAFC"/>
                </a:solidFill>
                <a:latin typeface="Calibri"/>
              </a:defRPr>
            </a:pPr>
            <a:r>
              <a:t>x="5"y="3"print(x+y)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254250"/>
            <a:ext cx="6032349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254250"/>
            <a:ext cx="3111422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B"53"✓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346" y="3079750"/>
            <a:ext cx="6032349" cy="377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C"5 + 3"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2" y="3079750"/>
            <a:ext cx="3111422" cy="377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DTypeError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4254500"/>
            <a:ext cx="10972800" cy="26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 — CONCATENATIONWhen+is used between twostrings, itjoins them— not adds them."5"+"3"→"53"# concatenate5+3→8#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REVIEW MCQ // 03 OF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SESSION 1 REVIEWWhich of these variable names isvalid?أي اسم متغير من دول صحيح في Python؟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349500"/>
            <a:ext cx="10972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A2namestarts with a digit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starts with a digit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349500"/>
            <a:ext cx="5778355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Bstudent_ageCORRECT ✓snake_case, letters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snake_case, letters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746500"/>
            <a:ext cx="109728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Cmy-namehyphen looks like 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hyphen looks like subtraction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3746500"/>
            <a:ext cx="5778355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Dprintreserved Python keyword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reserved Python keyword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79" y="5270500"/>
            <a:ext cx="109728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RULESVariable names: start with a letter or_· only letters / digits /_· no spaces or dashes · not a Python keyword.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SESSION TIMELINE // 3H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The plan for today.خطة الجلسة — 3 ساعات، أربع مشاريع، أسئلة كتير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00:00 → 00:15Warm-up + Session 1 Review MCQsHook · 3 review questions · timeline · project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838" y="1828800"/>
            <a:ext cx="571485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00:15 → 00:45Arithmetic + Assignment Operators+ · - · * · / · // · % · ** · += · -= · *= · /=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590799"/>
            <a:ext cx="10972800" cy="42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00:45 → 01:15Comparison + Logical Operators== · != · &gt; · &lt; · &gt;= · &lt;= · and · or ·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838" y="2590799"/>
            <a:ext cx="5714857" cy="42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01:15 → 01:30Membership + Identity + Challengein · not in · is · is not · coding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346450"/>
            <a:ext cx="10972800" cy="351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01:30 → 01:45☕ BREAK — 15 minutesاستراحة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3987799"/>
            <a:ext cx="10972800" cy="287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01:45 → 02:15Conditions: if / elif / elseBoolean logic · flow diagrams · nested conditions · live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838" y="3987799"/>
            <a:ext cx="5714857" cy="287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02:15 → 02:35MCQs + Coding ChallengePredict-the-output · debug game · pair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0" y="4749799"/>
            <a:ext cx="1097280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02:35 → 02:50🎓 4 Mini ProjectsCalculator · BMI · Grade System · Password Validator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4749799"/>
            <a:ext cx="5714857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02:50 → 03:00Final Quiz + Recap + Homework10-question final · what you learned · next session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79" y="5588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TODAY'S RULES1. Everyone types  ·  2. Vote on every MCQ  ·  3. Ask when stuck — never silent-suffer  ·  4. Help your neighbor if they're behind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SECTION 01 //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952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PART 1 OF 2Operators.العمليات — الرموز اللي بتخلي المتغيرات تشتغل مع بعض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984" y="3968750"/>
            <a:ext cx="10972800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01Arithmetic+ − × ÷// % 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936" y="3968750"/>
            <a:ext cx="9651758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02Assignment= += −=*= /=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4888" y="3968750"/>
            <a:ext cx="7746806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03Comparison== != &gt;&lt; &gt;= &lt;=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1" y="3968750"/>
            <a:ext cx="5841853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04Logicalandor 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793" y="3968750"/>
            <a:ext cx="3936901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05Membershipinnot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6" y="3968750"/>
            <a:ext cx="2031949" cy="288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06Identityisis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5397500"/>
            <a:ext cx="109728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SIMPLE IDEAOperators are justverbs— they DO something to values.+"adds",=="compares",and"joins truths".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01 ·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01 OF 06Arithmetic Operators.Do math on numbers.العمليات الحسابية — الرياضة اللي عرفناها من الابتدائي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825750"/>
            <a:ext cx="10972800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+Addition10 + 3 →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6901" y="2825750"/>
            <a:ext cx="8254793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−Subtraction10 - 3 →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5320" y="2825750"/>
            <a:ext cx="5016374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*Multiplication10 * 3 →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82" y="4032249"/>
            <a:ext cx="10972800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/Division (always float!)10 / 3 → 3.333...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6901" y="4032249"/>
            <a:ext cx="8254793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//Integer division10 // 3 →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320" y="4032249"/>
            <a:ext cx="5016374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%Modulo (remainder)10 % 3 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482" y="5238749"/>
            <a:ext cx="109728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**Power (exponent)2 ** 10 → 1024    ·    5 ** 2 →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320" y="5207000"/>
            <a:ext cx="5016374" cy="165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ORDER MATTERSPython follows math rules:1.**power first2.* / // %next3.+ -last   ·  use( )to override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ARITHMETIC — TYPE 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Type this.Predicteach line first.اكتب معايا — قبل ما تشغل، توقّع النتيجة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841500"/>
            <a:ext cx="10972800" cy="501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arithmetic.py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222500"/>
            <a:ext cx="10972800" cy="463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x=10y=3print(x+y)# 13print(x-y)# 7print(x*y)# 30print(x/y)# 3.3333333333333335print(x//y)# 3   (integer division)print(x%y)# 1   (remainder)print(x**y)# 1000 (10 to the power 3)# order of operationsprint(2+3*4)# 14  (not 20)print((2+3)*4)# 20  (parens win)# real use — is this number even?print(8%2)# 0  → evenprint(7%2)# 1  → odd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307" y="2032000"/>
            <a:ext cx="4508387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PREDICT — THEN RUNCommon surpriseNotice10 / 3= 3.333335— that trailing 5 isfloating-point rounding. Normal. Not a bug.// vs / — remember10 / 3= 3.33→ float10 // 3= 3→ intClassroom challengeCompute the number of full 15-minute breaks in100minutes — using//. Then the leftover minutes with%.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ARITHMETIC — VOTE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CHECK YOURSELFWhat is17 % 5?إيه ناتج ‎17 % 5‎ 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349500"/>
            <a:ext cx="10972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A317 ÷ 5 gives 3.4 → rounded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17 ÷ 5 gives 3.4 → rounded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349500"/>
            <a:ext cx="5778355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B2CORRECT ✓the remainder when 17 is divided by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the remainder when 17 is divided by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746500"/>
            <a:ext cx="109728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C3.4the decimal division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the decimal division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3746500"/>
            <a:ext cx="5778355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D85product (17 ×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87" y="76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product (17 ×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79" y="5270500"/>
            <a:ext cx="109728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 — MODULO IS THE REMAINDER17 ÷ 5 = 3 with2 left over. So17 // 5 = 3(quotient) and17 % 5 = 2(remainder).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02 ·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02 OF 06Assignment Operators.Store values in variables — with math shortcuts.التخصيص — بتخزّن قيم، ومختصرات ذكية لتعديلها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730500"/>
            <a:ext cx="10972800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=Assign — put a value in a variablex = 10→ x now holds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3683000"/>
            <a:ext cx="10972800" cy="3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+=Add and store — same asx = x + 5x += 5→ 10 becomes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82" y="4635500"/>
            <a:ext cx="109728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−=Subtract and storex -= 3→ 15 becomes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82" y="5588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*=x *= 2→ doubles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6901" y="5588000"/>
            <a:ext cx="8254793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/=x /= 2→ halves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5815" y="2794000"/>
            <a:ext cx="4825879" cy="40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MENTAL MODELEvery shortcut is just:"take the current value, do math, save it back."x += 5# same asx = x + 5score += 1# "add 1 point"lives -= 1# "lose 1 life"gold *= 2# "double coins"Why bother?Shorter · clearer · standard everywhere in real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99" y="127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Why bother?Shorter · clearer · standard everywhere in real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ASSIGNMENT SHORTCUTS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Game-score simulator.هنكتب محاكي لعبة صغيرة يستخدم كل الاختصارات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841500"/>
            <a:ext cx="10972800" cy="501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game_score.py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222500"/>
            <a:ext cx="10972800" cy="463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start of the gamescore=0lives=3gold=50# player collected a coinscore+=10# score is now 10# player defeated a boss — bonus!score+=100# score is now 110gold*=2# gold doubles → 100# player got hitlives-=1# lives is now 2# player wasted potion — half gold gonegold/=2# gold is now 50.0print(f"Score: {score}")# Score: 110print(f"Lives: {lives}")# Lives: 2print(f"Gold:  {gold}")# Gold:  50.0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307" y="2032000"/>
            <a:ext cx="4508387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VALUE TRACESTEPscorelivesgoldstart0350coin10350boss1103100hit1102100potion110250.0Notice: gold became 50.0/=uses/— always float!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" y="152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Notice: gold became 50.0/=uses/— always float!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TRACE THE CODEWhat is the final value ofx?ايه القيمة النهائية لـ x؟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95500"/>
            <a:ext cx="109728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trace.py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508250"/>
            <a:ext cx="10972800" cy="434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8FAFC"/>
                </a:solidFill>
                <a:latin typeface="Calibri"/>
              </a:defRPr>
            </a:pPr>
            <a:r>
              <a:t>x=4x+=6x*=2x-=5print(x)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317750"/>
            <a:ext cx="6032349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317750"/>
            <a:ext cx="3111422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B15✓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346" y="3206750"/>
            <a:ext cx="6032349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2" y="3206750"/>
            <a:ext cx="3111422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4254500"/>
            <a:ext cx="10972800" cy="26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 — TRACE STEP BY STEPx = 4→ x is 4x += 6→ x = 4 + 6 =10x *= 2→ x = 10 * 2 =20x -= 5→ x = 20 - 5 =15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03 ·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03 OF 06Comparison Operators.Ask questions. Get backTrueorFalse.المقارنات — بتسأل Python سؤال وترد بـ True أو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825750"/>
            <a:ext cx="10972800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==Equal to5 == 5 →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8387" y="2825750"/>
            <a:ext cx="7683307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!=Not equal5 != 3 →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8292" y="2825750"/>
            <a:ext cx="3873403" cy="403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&gt;Greater than10 &gt; 3 →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82" y="4032249"/>
            <a:ext cx="10972800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&lt;Less than3 &lt; 10 →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8387" y="4032249"/>
            <a:ext cx="7683307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&gt;=Greater or equal5 &gt;= 5 →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8292" y="4032249"/>
            <a:ext cx="3873403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&lt;=Less or equal3 &lt;= 5 →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5334000"/>
            <a:ext cx="10972800" cy="152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TRAP #1 — REMEMBER THIS FOREVER=assigns a value into a variable.==compares two values.They are DIFFERENT operators.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COMPARISON — TYPE +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Every line returnsTrueorFalse.قبل ما تشغل — توقّع لكل سطر: True ولا False؟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841500"/>
            <a:ext cx="10972800" cy="501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comparison.py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222500"/>
            <a:ext cx="10972800" cy="463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age=17print(age==18)# Falseprint(age!=18)# Trueprint(age&gt;15)# Trueprint(age&lt;15)# Falseprint(age&gt;=17)# True  (equal counts)print(age&lt;=17)# True  (equal counts)# strings work too — but case mattersprint("Ali"=="Ali")# Trueprint("Ali"=="ali")# False# store the resultis_adult=age&gt;=18print(is_adult)# Falseprint(type(is_adult))# &lt;class 'bool'&gt;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307" y="2032000"/>
            <a:ext cx="4508387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3 THINGS TO REMEMBER1 · Result is ALWAYS boolEvery comparison → True or False. Nothing else.2 · Case-sensitive strings"YES" == "yes" →FalseUse.lower()to compare fairly:"YES".lower() == "yes" →True3 · Store the answerYou can save comparisons into a variable and use them later. Booleans are values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PREDICT // COMPARISON — SHOUT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GAME — TRUE OR FALSE?4 comparisons. Predict.Then we run.اربع مقارنات — اضربوا توقّع، بعدين نشغّل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667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111500"/>
            <a:ext cx="1097280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libri"/>
              </a:defRPr>
            </a:pPr>
            <a:r>
              <a:t>print(10&gt;=10)Answer:True10 is not greater, but equal —&gt;=accepts equal.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667000"/>
            <a:ext cx="6032349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3339" y="3111500"/>
            <a:ext cx="5778355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libri"/>
              </a:defRPr>
            </a:pPr>
            <a:r>
              <a:t>print("5"==5)Answer:FalseLeft is string, right is int — different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987" y="4445000"/>
            <a:ext cx="10972800" cy="241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4889499"/>
            <a:ext cx="10972800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libri"/>
              </a:defRPr>
            </a:pPr>
            <a:r>
              <a:t>print("apple"&lt;"banana")Answer:TrueStrings compare alphabetically — 'a' before 'b'.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9346" y="4445000"/>
            <a:ext cx="6032349" cy="241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339" y="4889499"/>
            <a:ext cx="5778355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Calibri"/>
              </a:defRPr>
            </a:pPr>
            <a:r>
              <a:t>print(3!=3.0)Answer:Falseint + float compare by value — 3 equals 3.0.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04 · LOGICAL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04 OF 06Logical Operators.Combine truths. Answer big questions with tiny words.العمليات المنطقية — بتجمع أسئلة كتير في سؤال واحد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857500"/>
            <a:ext cx="10972800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andTrue only if BOTH are Trueصح لو الاتنين صح — أي واحد غلط، النتيجة غلطTrueandTrue→TrueTrueandFalse→FalseFalseandTrue→FalseFalseandFalse→FalseReal: "must be adult AND have ticket"age &gt;= 18 and has_ticket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9" y="139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Real: "must be adult AND have ticket"age &gt;= 18 and has_ticket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8387" y="2857500"/>
            <a:ext cx="7683307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orTrue if AT LEAST ONE is Trueصح لو واحد على الأقل صحTrueorTrue→TrueTrueorFalse→TrueFalseorTrue→TrueFalseorFalse→FalseReal: "weekend OR holiday → sleep in"is_weekend or is_holiday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" y="139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Real: "weekend OR holiday → sleep in"is_weekend or is_holiday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2" y="2857500"/>
            <a:ext cx="3873403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notFlip the value — True ↔ Falseاقلب القيمة — صح يبقى غلط، والعكسnotTrue→FalsenotFalse→TrueOnly 2 rows — it's a flipper.Real: "not logged in → show login"not is_logged_in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99" y="139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Real: "not logged in → show login"not is_logged_in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LOGICAL — REAL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Age check · login · permissions.3 سيناريوهات من الواقع — نفس الأدوات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841500"/>
            <a:ext cx="10972800" cy="501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logical.py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===== SCENARIO 1 · AGE CHECK =====age=20has_id=Trueprint(age&gt;=18andhas_id)# True# ===== SCENARIO 2 · LOGIN =====username="ali"password="1234"ok=username=="ali"andpassword=="1234"print(ok)# True# ===== SCENARIO 3 · PERMISSIONS =====is_admin=Falseis_owner=Truecan_edit=is_adminoris_ownerprint(can_edit)# True# flip with notis_logged_in=Falseprint(notis_logged_in)# True → show login# combine everythingprint(age&gt;=18and(is_adminoris_owner))#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307" y="2032000"/>
            <a:ext cx="4508387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PATTERNSAge checkage &gt;= 18 and has_idLoginuser == correct and pw == correctPermissionis_admin or is_ownerWatch out — order of operationsnotruns first, thenand, thenor. Use( )when unsure.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LOGICAL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TRUE OR FALSE?What does this print?ايه اللي هيتطبع؟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32000"/>
            <a:ext cx="109728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444749"/>
            <a:ext cx="10972800" cy="441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libri"/>
              </a:defRPr>
            </a:pPr>
            <a:r>
              <a:t>age=16has_parent=Trueprint(age&gt;=18orhas_parent)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254250"/>
            <a:ext cx="6032349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ATrue✓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254250"/>
            <a:ext cx="3111422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346" y="3143250"/>
            <a:ext cx="6032349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CSyntaxError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2" y="3143250"/>
            <a:ext cx="3111422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4254500"/>
            <a:ext cx="10972800" cy="26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A — 'or' NEEDS ONLY ONE TRUEage &gt;= 18→ 16 &gt;= 18 →Falsehas_parent→TrueFalse or True→True✓ one True is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05 · 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05 OF 06Membership Operators.Ask: "is thisinsidethat?"العضوية — بتسأل: الحاجة دي موجودة جوه دي ولا لأ؟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857500"/>
            <a:ext cx="10972800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inTrue if the value is inside the collectionصح لو موجود جواه# check inside a list3in[1,2,3]# True7in[1,2,3]# False# check inside a string"a"in"Cairo"# True"z"in"Cairo"# False"Cai"in"Cairo"# True (substring)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857500"/>
            <a:ext cx="5841853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not inTrue if the value is NOT insideصح لو مش موجود# practical use — banned wordsbanned=["spam","virus"]word="hello"wordnot inbanned# True → allow# email domain check"@"not in"invalid"# True → bad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MEMBERSHIP — LISTS +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Type this.Predicteach answer.اكتب معايا — قبل كل print، توقّع النتيجة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841500"/>
            <a:ext cx="10972800" cy="501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membership.py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=== IN A LIST ===fruits=["apple","banana","cherry"]print("apple"infruits)# Trueprint("mango"infruits)# Falseprint("mango"not infruits)# True# === IN A STRING (substring!) ===email="[email protected]"print("@"inemail)# Trueprint("school"inemail)# Trueprint("XYZ"not inemail)# True# === REAL USE — REGISTRATION FORM ===taken_usernames=["ali99","sara_02","omar"]new_user="noor22"available=new_usernot intaken_usernamesprint(available)# True → sign up!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307" y="2032000"/>
            <a:ext cx="4508387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WHERE YOU'LL USE THISRegistrationIs this username taken?Email validationDoes the string contain"@"?Spam filterIs any banned word in this message?Password rulesDoes password contain a digit?Case-sensitive by default"A" in "apple" → False"a" in "apple" →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OPERATORS // 06 ·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06 OF 06Identity Operators.Ask: "are these theexact same objectin memory?"الهوية — هل ده نفس الكائن في الذاكرة، مش نسخة تانية شبهه؟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857500"/>
            <a:ext cx="10972800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isSame object in memory?هل ده نفس الحاجة، نفس المكان في الذاكرة؟# most common — check for Nonex=NonexisNone# True# check for True / False identitydone=TruedoneisTrue#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857500"/>
            <a:ext cx="5841853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is notDifferent object in memory?هل ده مش نفس الحاجة؟# most common — is result missing?result="data"resultis notNone# True# pattern in real codeanswer=Noneansweris notNone#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DEEP DIVE // == vs is — THE MOST CONFUSED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25499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==vsis— pick the right one.الفرق بين == و is — أشهر خطأ عند المبتدئين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==Value equality — "do they LOOK the same?"5==5# True"Ali"=="Ali"# True[1,2]==[1,2]# True (same contents)3==3.0# True (same value)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159000"/>
            <a:ext cx="5841853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isSame object — "is this the SAME thing?"a=[1,2]b=[1,2]a==b# True  (values match)aisb# False (different objects!)aisa# True  (same object)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479" y="4826000"/>
            <a:ext cx="109728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GOLDEN RULE — MEMORIZE THISUseisonly forNone,True,False. Use==for everything else.✓if answer is None:✓if name == "Ali":✗if name is "Ali":# DANGER — sometimes works, then breaks!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IDENTITY vs 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PICK THE RIGHT OPERATORWhich line is theright wayto check ifresultis missing?أي سطر هو الطريقة الصح للتحقق إن النتيجة غير موجودة؟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317750"/>
            <a:ext cx="10972800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Aif result == None:works, but non-idiomatic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587" y="63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works, but non-idiomatic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317750"/>
            <a:ext cx="5778355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Bif result is None:CORRECT ✓the standard, recommended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587" y="63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the standard, recommended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714750"/>
            <a:ext cx="10972800" cy="314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Cif result = None:SyntaxError —=is assignment, not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" y="63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SyntaxError —=is assignment, not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3714750"/>
            <a:ext cx="5778355" cy="314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Dif result in None:TypeError — None is not iterable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87" y="63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TypeError — None is not iterable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79" y="5175250"/>
            <a:ext cx="10972800" cy="168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 — GOLDEN RULEis Noneis the standard Python way. A works but linters warn against it. Alwaysiswhen comparing toNone.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CODING CHALLENGE //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CHALLENGE · 7 MINUTESOdd or even?اكتب برنامج يقولك الرقم زوجي ولا فردي — بدون شروط لسه!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730500"/>
            <a:ext cx="10972800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the user for a number.02Use%to computethe remainder when divided by 2.03Use==to check if remainder equals 0.04Print the boolean result (True = even, False = odd).Bonus:Ask two numbers, print if their sum is divisible by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9" y="152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Bonus:Ask two numbers, print if their sum is divisible by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540000"/>
            <a:ext cx="5778355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hint_starter.py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3834" y="2984500"/>
            <a:ext cx="5587860" cy="387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fill in the blanksn=int(input("Number: "))remainder=n___2is_even=remainder___0print(is_even)━━━━━━━━━━━━━━━━━━━━━━━# expected runs:# Number: 8  → True# Number: 7  → False# Number: 0  →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15 MINUTE BREAK☕Halfway there.استراحة — 15 دقيقةWater · stretch · after break:conditions + 4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SECTION 02 //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952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PART 2 OF 2Conditions.الشروط — خلي البرنامج بتاعك يفكر ويقرر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4064000"/>
            <a:ext cx="109728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IF · ELIF · ELSEThe 3 Building BlocksEvery decision in code uses one of these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7892" y="4064000"/>
            <a:ext cx="7873803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REAL PROJECTS4 Mini ProjectsCalculator · BMI · Grades ·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37301" y="4064000"/>
            <a:ext cx="4254393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AFTER THE BREAKThe Fun Part Starts NowYou already know the verbs (operators). Now the sentences.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479" y="5556250"/>
            <a:ext cx="10972800" cy="130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THE BIG IDEAOperators let youcompute. Conditions let youdecide. Together they make your programthink.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REAL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CONDITIONS EXISTEvery app makesdecisions.كل تطبيق بتستخدمه هو ملايين القرارات في الثانية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571750"/>
            <a:ext cx="10972800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🔐Instagram Loginif password == correct→ let you inRight password? → 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2412" y="2571750"/>
            <a:ext cx="8699282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📺YouTube Next Videoif watched &gt; 80%→ recommend similarWatched most? → Suggest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342" y="2571750"/>
            <a:ext cx="5905352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🎮Game Win / Lossif score &gt;= target→ you win!Hit the target? → Victory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571750"/>
            <a:ext cx="3111422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🚗Uber Driver Matchif distance &lt; 2km→ assign driverClose driver? → Book ride.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79" y="4826000"/>
            <a:ext cx="109728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THE PUNCHLINEEveryifyou see up there —you'll write it yourself by 6 PM.كل if شفتوها فوق — هتكتبوها بنفسك النهارده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BOOLEAN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TRUE OR FALSE — NOTHING ELSEEverything isTrueorFalse.كل حاجة في الشروط إما True أو False — مافيش حاجة في النص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476500"/>
            <a:ext cx="10972800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IN PYTHON, THESE ARE TRUTHYTrue→ obviously True1,42,-7→ any non-zero number"hello","ali"→ any non-empty string[1, 2, 3]→ any non-empty listRule: non-empty =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476500"/>
            <a:ext cx="5841853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IN PYTHON, THESE ARE FALSYFalse→ obviously False0,0.0→ zero is False""→ empty string is FalseNone→ nothing = False[]→ empty list is FalseRule: empty / zero / None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479" y="57150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💡ifonly cares about True/False. If you writeif "ali":— it runs because"ali"is truthy (non-empty string).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THE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01 OF 03ifRun codeonly whena condition is true.لو — شغّل الكود بس لما الشرط يبقى صحيح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603500"/>
            <a:ext cx="10972800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SYNTAXsyntax.pyifcondition:do_something()# condition is True → runs# condition is False → skips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603500"/>
            <a:ext cx="5841853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EXAMPLEexample.pyage=20ifage&gt;=18:print("You can vote!")→ You can vote!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479" y="4984750"/>
            <a:ext cx="10972800" cy="187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3 RULES TO REMEMBER1.Always ends with:(colon)2.Indented code runs when True3.No indentation = runs always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IF ·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02 OF 03if/elseTwo paths — one for True, one for False.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IF ALONE — ONE PATHif_only.pyifrainy:print("Take umbrella")# Not rainy? → nothing happens# No else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286000"/>
            <a:ext cx="584185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IF / ELSE — TWO PATHSif_else.pyifrainy:print("Take umbrella")else:print("Wear sunglasses")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479" y="4826000"/>
            <a:ext cx="109728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REAL EXAMPLE — AGE CHECKage_check.pyage=15ifage&gt;=18:print("Adult")else:print("Minor")→ Minor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IF · ELIF ·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FAMILY 03 OF 03if/elif/elseMore than two options? Addelifin the middle.لو / لو كذا / وإلا — كل الأפשרيات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grade_system.py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603500"/>
            <a:ext cx="10972800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libri"/>
              </a:defRPr>
            </a:pPr>
            <a:r>
              <a:t>score=85ifscore&gt;=90:grade="A"elifscore&gt;=80:grade="B"elifscore&gt;=70:grade="C"elifscore&gt;=60:grade="D"else:grade="F"print(grade)# →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3834" y="2349500"/>
            <a:ext cx="558786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HOW IT FLOWS1.Checkifscore &gt;= 90 →False2.Checkelifscore &gt;= 80 →True ✓→ grade = "B" → DONE!Stops checking after the first True.skips remaining elif + else.// KEY RULEOnly ONE block runs.Python checks from top to bottom.Stops at thefirst True.elif= "else if" — combines two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LIVE CODING // CONDITIONS — TYPE 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Type this. Run it.اكتب معايا — كل مثال، شغّله، شوف النتيجة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778000"/>
            <a:ext cx="109728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if_and_if_else.py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159000"/>
            <a:ext cx="109728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--- Basic if ---age=20ifage&gt;=18:print("Adult")# --- if / else ---score=55ifscore&gt;=60:print("Pass")else:print("Fail")→ Adult→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904" y="1778000"/>
            <a:ext cx="838179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if_elif_else.py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399" y="2159000"/>
            <a:ext cx="8191295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--- if / elif / else ---temp=32iftemp&gt;30:print("Hot")eliftemp&gt;20:print("Warm")else:print("Cold")→ 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323" y="1968500"/>
            <a:ext cx="5143371" cy="4889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TRACE EACH ONEage = 2020 &gt;= 18 →True→ prints "Adult"score = 5555 &gt;= 60 →False→ goes toelse→ prints "Fail"temp = 3232 &gt; 30 →True→ prints "Hot"STOPS here — skips elif + else// KEY OBSERVATIONChangetempto22→ "Warm"Changetempto10→ "Cold"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CONDITIONS // NESTED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CONDITIONS INSIDE CONDITIONSNested Conditions.شروط جوه شروط — لما القرار ي depend على أكتر من حاجة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nested.py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730500"/>
            <a:ext cx="10972800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Real example: theme park entryage=16has_ticket=Trueifage&gt;=18:print("You can enter alone")else:# nested: check ticketifhas_ticket:print("Enter with guardian")else:print("Buy a ticket first")→ Enter with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476500"/>
            <a:ext cx="5778355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THE FLOW1.Is age &gt;= 18? →No(16)→ Go toelse2.Inside else: Is has_ticket True? →Yes→ Print "Enter with guardian"3.Done — skips inner else// ⚠️ WARNINGNested conditions work, but too many levelsmake code hard to read. If you have 3+ levels,consider usingand/orto combine conditions.Better alternative:if age &gt;= 18 or has_ticket: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" y="10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Better alternative:if age &gt;= 18 or has_ticket: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CONDITIONS — VOTE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WHAT DOES IT PRINT?What does this code print?ايه اللي هيتطبع؟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32000"/>
            <a:ext cx="109728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444749"/>
            <a:ext cx="10972800" cy="441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libri"/>
              </a:defRPr>
            </a:pPr>
            <a:r>
              <a:t>x=10ifx&gt;5:print("A")elifx&gt;8:print("B")else:print("C")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254250"/>
            <a:ext cx="6032349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AA✓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254250"/>
            <a:ext cx="3111422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BA,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346" y="3143250"/>
            <a:ext cx="6032349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2" y="3143250"/>
            <a:ext cx="3111422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4254500"/>
            <a:ext cx="10972800" cy="26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A — NOT B!x &gt; 5→  10 &gt; 5 →True→ prints "A" →STOPS!elif x &gt; 8  →  never checked (already stopped)else       →  never checked⚠x &gt; 8is ALSO True, but Python never gets there!Order matters: first True wins. Always check from most specific to least.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MCQ // CONDITIONS — VOTE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MCQ · PREDICT THE OUTPUTWhat does this code print?توقّع — ايه اللي هيتطبع؟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32000"/>
            <a:ext cx="109728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482" y="2444749"/>
            <a:ext cx="10972800" cy="441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  <a:latin typeface="Calibri"/>
              </a:defRPr>
            </a:pPr>
            <a:r>
              <a:t>password="hello123"iflen(password)&lt;6:print("Too short")elif"123"inpassword:print("Weak password")else:print("Strong password")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9346" y="2254250"/>
            <a:ext cx="6032349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AToo 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2" y="2254250"/>
            <a:ext cx="3111422" cy="460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BWeak password✓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346" y="3143250"/>
            <a:ext cx="6032349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CStrong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2" y="3143250"/>
            <a:ext cx="3111422" cy="371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DNothing 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4254500"/>
            <a:ext cx="10972800" cy="260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WHY B — COMBINES OPERATORS + CONDITIONSlen("hello123") &lt; 6→  8 &lt; 6 →False→ skip"123" in "hello123"→True→ prints "Weak password"else  →  never reached💡 Usesin(membership) insideelif(condition).Combines what you learned in Part 1 with Part 2!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CODING CHALLENGE //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CHALLENGE · 10 MINUTESPass or Fail?اكتب برنامج ياخذ درجة الطالب ويقوله: ناجح / راسب / ممتاز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730500"/>
            <a:ext cx="10972800" cy="412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the user for their score (0–100).02If score &gt;= 90 → print"Excellent"03If score &gt;= 60 → print"Pass"04Otherwise → print"Fail"Bonus:Add a grade (A/B/C/D/F) using elif. Think about the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9" y="152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Bonus:Add a grade (A/B/C/D/F) using elif. Think about the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339" y="2540000"/>
            <a:ext cx="5778355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hint_starter.py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3834" y="2984500"/>
            <a:ext cx="5587860" cy="387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8FAFC"/>
                </a:solidFill>
                <a:latin typeface="Calibri"/>
              </a:defRPr>
            </a:pPr>
            <a:r>
              <a:t># fill in the logicscore=int(input("Score: "))ifscore___90:print("___")elifscore___60:print("___")else:print("___")━━━━━━━━━━━━━━━━━━━━━━━# expected runs:# Score: 95 → Excellent# Score: 72 → Pass# Score: 45 →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MINI PROJECT 01 //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PROJECT 01 OF 04Calculatorآلة حاسبة — بناءها بنفسك!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476500"/>
            <a:ext cx="10972800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WHAT IT LOOKS LIKEcalculator.pynum1=float(input("First number: "))op=input("Operator (+ - * /): ")num2=float(input("Second number: 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342" y="2476500"/>
            <a:ext cx="5905352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for two numbers and an operator.02Useif/elif/elseto check which operator.03Perform the calculation and print the result.04Handle invalid operators with an error message.Hint:Each operator = one elif branch. Useelsefor invalid input.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99" y="127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Hint:Each operator = one elif branch. Useelsefor invalid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MINI PROJECT 02 // BMI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PROJECT 02 OF 04BMI Calculatorحاسبة مؤشر كتلة الجسم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476500"/>
            <a:ext cx="10972800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THE FORMULABMI = weight / (height × height)bmi.pyweight=float(input("Weight (kg): "))height=float(input("Height (m): "))bmi=weight/(height*height)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342" y="2476500"/>
            <a:ext cx="5905352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for weight (kg) and height (m).02Calculate BMI = weight / (height × height).03Useif/elif/elseto categorize:Under 18.5→ "Underweight"18.5 – 24.9→ "Normal"25 – 29.9→ "Overweight"30+→ "Obese"04Print the BMI rounded to 1 decimal.Hint:Useround(bmi, 1)for 1 decimal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99" y="10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Hint:Useround(bmi, 1)for 1 decimal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MINI PROJECT 03 // GRADE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PROJECT 03 OF 04Grade Systemنظام الدرجات — المثال الكلاسيكي للشروط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476500"/>
            <a:ext cx="10972800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GRADE SCALEA90 – 100ExcellentB80 – 89Very GoodC70 – 79GoodD60 – 69PassF0 – 59FailPractice:This is the same pattern as the coding challenge, but with 5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9" y="127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Practice:This is the same pattern as the coding challenge, but with 5 branches.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342" y="2476500"/>
            <a:ext cx="5905352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for score (0–100).02Useif/elif/elsefor 5 grades.03Print the grade letter AND description.04Handle invalid scores (&lt; 0or&gt; 100).Key Pattern:Start from the highest score and work down. Each elif is a "safety net" for the next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" y="10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Key Pattern:Start from the highest score and work down. Each elif is a "safety net" for the next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MINI PROJECT 04 // PASSWORD 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PROJECT 04 OF 04Password Validatorمدقق كلمة المرور — أقوى مشروع في الحصة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476500"/>
            <a:ext cx="10972800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EXAMPLE RUNSterminal# Run 1:Password:hiToo short (min 6 chars)# Run 2:Password:helloNo number found# Run 3:Password:hello123Strong password! ✓# Run 4:Password:123456No letter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342" y="2476500"/>
            <a:ext cx="5905352" cy="438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REQUIREMENTS01Ask for a password.02Check length &gt;= 6 characters.03Check it contains at least onenumber.04Check it contains at least oneletter.Pro Tips:Useany(char.isdigit() for char in pw)to check for digits.Useany(char.isalpha() for char in pw)to check for letters.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99" y="10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Pro Tips:Useany(char.isdigit() for char in pw)to check for digits.Useany(char.isalpha() for char in pw)to check for letters.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EXERCISES // EASY — 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EASYWarm Upتمارين سهلة — عشان تتأكد إنك فاهم الأساسيات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603500"/>
            <a:ext cx="10972800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01Positive or Negative?Ask for a number. Print "Positive" if &gt; 0, "Negative" if &lt; 0, "Zero" if == 0.Uses: if / elif / else, comparison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603500"/>
            <a:ext cx="5841853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02Old Enough to Drive?Ask for age. Print "Can drive" if &gt;= 18, else "Too young".Uses: if / else, comparison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82" y="4318000"/>
            <a:ext cx="109728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03Even or Odd?Ask for a number. Use%to check if even or odd. Print the result.Uses: % operator, == comparison, if/else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1" y="4318000"/>
            <a:ext cx="5841853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04Greater Than 100?Ask for a number. Print "Big" if &gt; 100, "Small" if &lt;= 100.Uses: if / else, comparison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EXERCISES // MEDIUM — LEVEL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MEDIUMLevel Upتمارين متوسطة — شوية تفكير أكتر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603500"/>
            <a:ext cx="10972800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01Leap Year?Ask for a year. Divisible by 4 AND (not by 100 OR by 400) → leap year. Useand/or.Uses: if/elif/else, logical operators,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603500"/>
            <a:ext cx="5841853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02Ticket PriceUnder 12: free. 12–17: $10. 18–59: $25. 60+: $15. Ask age, print price.Uses: if/elif/else (4 branches)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82" y="4318000"/>
            <a:ext cx="109728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03Day of the WeekAsk for a number (1–7). Print the day name. Handle invalid numbers.Uses: if/elif/else (7 branches), 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1" y="4318000"/>
            <a:ext cx="5841853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04Is it a Vowel?Ask for a letter. Print "Vowel" or "Consonant". Handle uppercase too.Uses: if/elif/else, membershipin, .lower()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EXERCISES // CHALLENGE — FINAL BOSS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CHALLENGEFinal Bossتمارين صعبة — لو حلّيتها، إنت جاهز لل projet接下来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603500"/>
            <a:ext cx="10972800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01Simple Calculator (Full)Build a calculator that handles+ - * /and division by zero. Print "Invalid" for unknown operators.Uses: if/elif/else, arithmetic, input validation, nested 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1" y="2603500"/>
            <a:ext cx="5841853" cy="42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02Rock, Paper, ScissorsAsk for your choice. Generate computer choice (userandom). Compare and print winner.Uses: if/elif/else, == comparison, import 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82" y="4318000"/>
            <a:ext cx="109728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03Body Mass Index (Advanced)Calculate BMI. Addweight status(under/normal/over/obese). Add health tip based on category.Uses: arithmetic, if/elif/else, nested if for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1" y="4318000"/>
            <a:ext cx="5841853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04Shipping Cost CalculatorWeight &lt; 1kg: $5. 1–5kg: $10. Over 5kg: $20. Add $10 if express shipping. Print total.Uses: if/elif/else, nested if (express),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DEBUGGING // 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Common Mistakes.أخطاء شائعة — لو انت عملتها قبل كده، مش لوحدك!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317750"/>
            <a:ext cx="10972800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01Missing colonif x &gt; 5if x &gt; 5:Every if/elif/else line needs: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8387" y="2317750"/>
            <a:ext cx="7683307" cy="454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02Wrong indentationif True:print("hi")if True:print("hi")Indented code = inside the if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82" y="3841750"/>
            <a:ext cx="10972800" cy="301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03=vs==in conditionsif x = 5:if x == 5:=assigns.==compares.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8387" y="3841750"/>
            <a:ext cx="7683307" cy="301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04Condition always Trueif True:  # always runs!if age &gt;= 18:  # real checkUse a real comparison, not just True/False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482" y="5365750"/>
            <a:ext cx="10972800" cy="149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05elif after elseif/else/elifif/elif/elseelsealways comes 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387" y="5365750"/>
            <a:ext cx="7683307" cy="149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MISTAKE 06Multiple blocks runif/if/if (all run)if/elif/else (one runs)Useelifwhen only ONE should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HOMEWORK // BEFORE NEXT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HOMEWORKHomework.واجب البيت — عشان تثبّت اللي اتعلمت النهارده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984500"/>
            <a:ext cx="10972800" cy="387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MAIN TASKBuild aUniversity Eligibility Checker1.Ask the user for their age.2.Ask for their Math score.3.Ask for their English score.4.Check eligibility usingif/elif/else:Age &gt;= 18 AND Math &gt;= 85 AND English &gt;= 705.Print the result:"Congratulations! You are eligible.""Sorry, you do not meet the criteria."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194" y="25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ACC15"/>
                </a:solidFill>
                <a:latin typeface="Calibri"/>
              </a:defRPr>
            </a:pPr>
            <a:r>
              <a:t>Age &gt;= 18 AND Math &gt;= 85 AND English &gt;=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194" y="25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3E635"/>
                </a:solidFill>
                <a:latin typeface="Calibri"/>
              </a:defRPr>
            </a:pPr>
            <a:r>
              <a:t>"Congratulations! You are eligible."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304" y="2952750"/>
            <a:ext cx="4381390" cy="3905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BONUS 01Tell the ReasonIf not eligible, tell them whichcriteria they failed:"Your Math score is too low."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304" y="4603750"/>
            <a:ext cx="4381390" cy="225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BONUS 02Multiple StudentsCheck 3 students in a row.Count how many are eligible.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FINAL QUIZ // S02 — 5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8890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FINAL QUIZ · 5 MINUTESFinal Quizالاختبار الأخير — 5 أسئلة سريعة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482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Q1What is10 % 3?A) 3   B) 1   C) 3.33   D)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8387" y="2286000"/>
            <a:ext cx="768330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Q2=and==are the same thing. True or False?A) True   B)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8292" y="2286000"/>
            <a:ext cx="387340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Q3How many blocks run in anif/elif/else?A) AllTrue ones   B) Only the first True   C) All of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82" y="3238500"/>
            <a:ext cx="1097280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Q4Which is the correct way to check ifxequals 5?A) if x = 5:   B) if x == 5:   C) if x equals 5: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8387" y="3238500"/>
            <a:ext cx="7683307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Q5What does"a" in "Cairo"return?A) True   B) False   C)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8292" y="3270250"/>
            <a:ext cx="3873403" cy="358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ANSWERSQ1:B) 1(remainder)Q2:B) False(= assigns, == compares)Q3:B) Only the first TrueQ4:B) if x == 5:Q5:A) True(substring exists)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RECAP // WHAT YOU LEARNED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9525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You now know how tothink.إنت دلوقتي تعرف إزاي تخلي البرنامج يفكر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984" y="2540000"/>
            <a:ext cx="109728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🔢6 Operator Familiesarithmetic, assignment, comparison,logical, membership,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6" y="2540000"/>
            <a:ext cx="9270768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🔀if / elif / elseconditions, branching,nested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6869" y="2540000"/>
            <a:ext cx="6984825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🧮4 Mini Projectscalculator, BMI,grades, 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2812" y="2540000"/>
            <a:ext cx="4698882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✅Golden Rules= vs ==, is for None,first True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8755" y="2540000"/>
            <a:ext cx="2412939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💻Live Coding6 hands-on demosyou typed along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479" y="4381499"/>
            <a:ext cx="109728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NEXT SESSION — SESSION 03Loops —forandwhile. Repeat things without rewriting code.الحلقات — for و while — متكرّرthings بدون ما تعيد كتابة الكود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1905000"/>
            <a:ext cx="109728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Calibri"/>
              </a:defRPr>
            </a:pPr>
            <a:r>
              <a:t>// SESSION 02 COMPLETENow your programcanthink.دلوقتي البرنامج بتاعك يعرف يفكرSee you inSession 03: Loops🔄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