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1 — Cover (2 min)**</a:t>
            </a:r>
          </a:p>
          <a:p>
            <a:r>
              <a:t>- Welcome students warmly. Today they graduate from "code that only lives on one laptop" to "code the world can see."</a:t>
            </a:r>
          </a:p>
          <a:p>
            <a:r>
              <a:t>- Say: "By the end of today, every one of you will have a live project on GitHub. That is your coding CV."</a:t>
            </a:r>
          </a:p>
          <a:p>
            <a:r>
              <a:t>- Set expectations: this is the most hands-on session yet — we will type commands, a LOT.</a:t>
            </a:r>
          </a:p>
          <a:p>
            <a:r>
              <a:t>- Arabic tip: اطمئن الطلاب أنه لا يوجد حفظ خاطئ بعد اليوم — Git سيتولى الحفظ عنهم.</a:t>
            </a:r>
          </a:p>
          <a:p>
            <a:r>
              <a:t>- Emphasise: session is 3 hours, keep energy high, follow along.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2 — Hook (3 min)**</a:t>
            </a:r>
          </a:p>
          <a:p>
            <a:r>
              <a:t>- Ask the room: "Raise your hand if you have a file called `final_FINAL_v2.py` on your laptop right now." Almost everyone will raise a hand — laugh with them.</a:t>
            </a:r>
          </a:p>
          <a:p>
            <a:r>
              <a:t>- Walk through the classic nightmare: you "fixed" a feature, it broke, and you cannot undo because you overwrote the only good copy.</a:t>
            </a:r>
          </a:p>
          <a:p>
            <a:r>
              <a:t>- Key emotional line: "Version control is an UNDO button for your whole project — and a backup that lives on the internet."</a:t>
            </a:r>
          </a:p>
          <a:p>
            <a:r>
              <a:t>- Arabic tip: اسألهم بالعربية: "من فقد ملفاً بسبب تعطّل حاسوبه؟" — اربط الحاجة بمشاعرهم.</a:t>
            </a:r>
          </a:p>
          <a:p>
            <a:r>
              <a:t>- Transition: "Let's build the fix. First, understand the problem we're solving."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3 — Review MCQ 1 (2 min) — Exceptions**</a:t>
            </a:r>
          </a:p>
          <a:p>
            <a:r>
              <a:t>- Give 30 seconds of thinking time, then poll the room (A/B/C/D by show of hands).</a:t>
            </a:r>
          </a:p>
          <a:p>
            <a:r>
              <a:t>- **Correct answer: B.** The except block runs, then execution continues normally after the try/except construct.</a:t>
            </a:r>
          </a:p>
          <a:p>
            <a:r>
              <a:t>- Common misconception: students think an exception always kills the program. Remind them: that is the whole point of catching — you keep the program alive.</a:t>
            </a:r>
          </a:p>
          <a:p>
            <a:r>
              <a:t>- Quick demo: `try: x = int("abc") except ValueError: x = 0` then `print(x)` → 0.</a:t>
            </a:r>
          </a:p>
          <a:p>
            <a:r>
              <a:t>- Arabic tip: اشرح "إمساك الخطأ" بالعربية: الإكسيبشن هو كرة، وtry/except هي اليد التي تلتقطها قبل أن تتحطم على الأرض.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4 — Review MCQ 2 (2 min) — Modules &amp; pip**</a:t>
            </a:r>
          </a:p>
          <a:p>
            <a:r>
              <a:t>- **Correct answer: A.** `pip install requests` pulls the package from PyPI and installs it locally.</a:t>
            </a:r>
          </a:p>
          <a:p>
            <a:r>
              <a:t>- B is wrong (`python install` is not a pip command), C uses the wrong verb (`add`), D is missing pip entirely.</a:t>
            </a:r>
          </a:p>
          <a:p>
            <a:r>
              <a:t>- Reinforce: `import requests` works only AFTER `pip install requests`. This exact confusion will come back in the gitignore slide (venv/ folder).</a:t>
            </a:r>
          </a:p>
          <a:p>
            <a:r>
              <a:t>- Arabic tip: ذكّرهم: "إذا نسي أحدهم تثبيت المكتبة، سيصرخ بايثون ModuleNotFoundError" — اربطها برسالة الخطأ الشهيرة.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5 — Review MCQ 3 (2 min) — Mixed**</a:t>
            </a:r>
          </a:p>
          <a:p>
            <a:r>
              <a:t>- **Correct answer: B.** `from math import sqrt` imports only the function, so you call `sqrt(16)` directly.</a:t>
            </a:r>
          </a:p>
          <a:p>
            <a:r>
              <a:t>- A and C fail: `math.sqrt` is not a module — you cannot import a function as if it were a package.</a:t>
            </a:r>
          </a:p>
          <a:p>
            <a:r>
              <a:t>- D has the wrong order — Python syntax is always `from module import name`.</a:t>
            </a:r>
          </a:p>
          <a:p>
            <a:r>
              <a:t>- Bridging comment: "Version control is exactly the same skill as modules — organisation. You're organising your history now."</a:t>
            </a:r>
          </a:p>
          <a:p>
            <a:r>
              <a:t>- Arabic tip: ذكّرهم بقاعدة الذاكرة: "من المكتبة ← استورد الاسم"، أي من math استورد sqrt.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6 — Timeline (2 min)**</a:t>
            </a:r>
          </a:p>
          <a:p>
            <a:r>
              <a:t>- Walk the map once, quickly. Do not read it verbatim — point at each step and say one sentence.</a:t>
            </a:r>
          </a:p>
          <a:p>
            <a:r>
              <a:t>- Hook the journey: "Step 3 is where you feel the magic. Step 6 is where your project becomes public."</a:t>
            </a:r>
          </a:p>
          <a:p>
            <a:r>
              <a:t>- Set a pace promise: "We stop for live demos twice — first commit and first push."</a:t>
            </a:r>
          </a:p>
          <a:p>
            <a:r>
              <a:t>- Arabic tip: اجعل الطلاب يحفظون الأوامر الكبرى: init، commit، push — هذه هي الثالوث المقدس اليوم.</a:t>
            </a:r>
          </a:p>
          <a:p>
            <a:r>
              <a:t>- There will be a break recommendation after slide 31 (before project) if time is tight.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7 — Why version control (4 min)**</a:t>
            </a:r>
          </a:p>
          <a:p>
            <a:r>
              <a:t>- Compare version control to game save points: "You don't finish a game without saving. Why code without saving?"</a:t>
            </a:r>
          </a:p>
          <a:p>
            <a:r>
              <a:t>- Manual copies are NOT version control — they are chaos (reference the hook slide).</a:t>
            </a:r>
          </a:p>
          <a:p>
            <a:r>
              <a:t>- Emphasise: a commit is like a checkpoint you can reload any time.</a:t>
            </a:r>
          </a:p>
          <a:p>
            <a:r>
              <a:t>- Interactive: ask students "what's the worst thing that ever happened to your files?" Share 1–2 stories.</a:t>
            </a:r>
          </a:p>
          <a:p>
            <a:r>
              <a:t>- Arabic tip: اشرح المعنى الحرفي: "التحكم بالإصدارات" = التحكم بتاريخ عملك؛ كل إصدار = نسخة قابلة للعودة إليها.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8 — Visual: snapshots (3 min)**</a:t>
            </a:r>
          </a:p>
          <a:p>
            <a:r>
              <a:t>- Explain that each snapshot records the ENTIRE project state at that moment (Git actually stores differences, but the mental model is "full save").</a:t>
            </a:r>
          </a:p>
          <a:p>
            <a:r>
              <a:t>- The short hash (e.g. `c1a2b3d`) is the commit ID — every commit gets a unique one.</a:t>
            </a:r>
          </a:p>
          <a:p>
            <a:r>
              <a:t>- Point out "Fix score bug" only changed 3 lines — yet it's still a complete checkpoint.</a:t>
            </a:r>
          </a:p>
          <a:p>
            <a:r>
              <a:t>- Interactive: "If 'Add boss level' broke the game, which commit do we jump back to?" → `k8l9m0n` or `g7h8i9j`.</a:t>
            </a:r>
          </a:p>
          <a:p>
            <a:r>
              <a:t>- Arabic tip: شبّه الأمر بأرشيف كاميرات المراقبة: كل لحظة محفوظة، والكود هو الفيديو.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9 — Git vs GitHub (3 min)**</a:t>
            </a:r>
          </a:p>
          <a:p>
            <a:r>
              <a:t>- Most beginners think they are the same thing. Make the difference crisp with an analogy:</a:t>
            </a:r>
          </a:p>
          <a:p>
            <a:r>
              <a:t>  - Git = the engine in your car. GitHub = the garage where you park it so others can see it.</a:t>
            </a:r>
          </a:p>
          <a:p>
            <a:r>
              <a:t>- Key sentence: "Git works without internet. GitHub is where the internet version of your project lives."</a:t>
            </a:r>
          </a:p>
          <a:p>
            <a:r>
              <a:t>- Fun fact: Git was created by Linus Torvalds (the Linux guy) in 2005.</a:t>
            </a:r>
          </a:p>
          <a:p>
            <a:r>
              <a:t>- Arabic tip: استخدم تشبيهاً محلياً: "Git هو الكاميرا، وGitHub هو الألبوم السحابي".</a:t>
            </a:r>
          </a:p>
          <a:p>
            <a:r>
              <a:t>- Bridge: "Now let's meet the star of the show — the repository."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10 — Repository concept (4 min)**</a:t>
            </a:r>
          </a:p>
          <a:p>
            <a:r>
              <a:t>- Say: "From today, the word *repository* (or *repo*) means: a folder Git is watching over."</a:t>
            </a:r>
          </a:p>
          <a:p>
            <a:r>
              <a:t>- Stress: the `.git` folder is what makes a plain folder a repo. No .git, no history.</a:t>
            </a:r>
          </a:p>
          <a:p>
            <a:r>
              <a:t>- Tell them .git is hidden by default — in Git Bash/terminal run `ls -la` to see it; on Windows Explorer enable "show hidden files".</a:t>
            </a:r>
          </a:p>
          <a:p>
            <a:r>
              <a:t>- Warn: never delete .git, never open it and edit files inside.</a:t>
            </a:r>
          </a:p>
          <a:p>
            <a:r>
              <a:t>- Arabic tip: "الريبو" هو مصطلح معروف حتى بالعربية في مجتمع المطورين — استخدمه بثقة.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11 — Install &amp; configure (live, 6 min)**</a:t>
            </a:r>
          </a:p>
          <a:p>
            <a:r>
              <a:t>- LIVE: walk around to confirm everyone has Git installed (Windows: Git Bash; macOS/Linux: git is usually built in).</a:t>
            </a:r>
          </a:p>
          <a:p>
            <a:r>
              <a:t>- `git --version` proves installation. If a student has an old version, don't panic — commands still work.</a:t>
            </a:r>
          </a:p>
          <a:p>
            <a:r>
              <a:t>- `git config --global` stores your identity for ALL repos on that machine. Without it, commits have no author.</a:t>
            </a:r>
          </a:p>
          <a:p>
            <a:r>
              <a:t>- `init.defaultBranch main` makes new repos default to `main` instead of the outdated `master`.</a:t>
            </a:r>
          </a:p>
          <a:p>
            <a:r>
              <a:t>- COMMON MISTAKE: typing a fake email like `asdf@asdf` — GitHub then shows your commits as "unknown author". Encourage the real email they will use for GitHub.</a:t>
            </a:r>
          </a:p>
          <a:p>
            <a:r>
              <a:t>- Arabic tip: اشرح كلمة "عالمي" في --global: الإعداد يُحفظ على مستوى الحاسوب وليس المشروع.</a:t>
            </a:r>
          </a:p>
          <a:p>
            <a:r>
              <a:t>- Teacher: run the demo yourself first, then let students copy.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12 — git init (5 min)**</a:t>
            </a:r>
          </a:p>
          <a:p>
            <a:r>
              <a:t>- Demo: create a folder, `cd` into it, run `git init -b main`.</a:t>
            </a:r>
          </a:p>
          <a:p>
            <a:r>
              <a:t>- Show the output line "Initialized empty Git repository in ..." — celebrate it.</a:t>
            </a:r>
          </a:p>
          <a:p>
            <a:r>
              <a:t>- Then run `git status` → shows "On branch main" + "No commits yet". This proves the repo exists.</a:t>
            </a:r>
          </a:p>
          <a:p>
            <a:r>
              <a:t>- Tell them to check the hidden `.git` folder with `ls -la` (Git Bash) — a fun "behind the scenes" moment.</a:t>
            </a:r>
          </a:p>
          <a:p>
            <a:r>
              <a:t>- Note: if they forget `-b main`, the branch is called `master`. Not a disaster — we'll mention fixing it with `git branch -M main` later.</a:t>
            </a:r>
          </a:p>
          <a:p>
            <a:r>
              <a:t>- Arabic tip: العبارة "Initialized empty..." تعني "تم تهيئة مستودع فارغ" — اجعلهم يقرؤونها كأول نجاح.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13 — git status (5 min)**</a:t>
            </a:r>
          </a:p>
          <a:p>
            <a:r>
              <a:t>- Call it the "most-used command" — you will type it constantly.</a:t>
            </a:r>
          </a:p>
          <a:p>
            <a:r>
              <a:t>- Explain "untracked": Git KNOWS the files exist but is not saving versions of them yet. Tracking starts when you `git add`.</a:t>
            </a:r>
          </a:p>
          <a:p>
            <a:r>
              <a:t>- Have students run `git status` in their fresh repo with their game files — everyone should see their files listed as untracked.</a:t>
            </a:r>
          </a:p>
          <a:p>
            <a:r>
              <a:t>- Pro tip: when lost, `git status` tells you exactly where you are. "When in doubt — status."</a:t>
            </a:r>
          </a:p>
          <a:p>
            <a:r>
              <a:t>- Arabic tip: كلمة Untracked = "غير مُتتبَّع"؛ أي أن Git لا يتابع هذا الملف بعد.</a:t>
            </a:r>
          </a:p>
          <a:p>
            <a:r>
              <a:t>- Encourage shouting the output: "No commits yet" means "history is empty — let's fix that!"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14 — git add (5 min)**</a:t>
            </a:r>
          </a:p>
          <a:p>
            <a:r>
              <a:t>- Demo: `git add app.py`, then `git status` — show "Changes to be committed".</a:t>
            </a:r>
          </a:p>
          <a:p>
            <a:r>
              <a:t>- Explain why it exists: so you can commit ONE logical change (e.g., only the bug fix, not the half-written feature).</a:t>
            </a:r>
          </a:p>
          <a:p>
            <a:r>
              <a:t>- `git add .` is great for beginners but show the targeted form too.</a:t>
            </a:r>
          </a:p>
          <a:p>
            <a:r>
              <a:t>- PREDICT-QUESTION for the room: "After `git add .`, what will `git status` say?" → files move to "Changes to be committed".</a:t>
            </a:r>
          </a:p>
          <a:p>
            <a:r>
              <a:t>- Arabic tip: نطق "add" كما هو؛ اشرح معناه "أضِف الملفات إلى الحزمة القادمة".</a:t>
            </a:r>
          </a:p>
          <a:p>
            <a:r>
              <a:t>- Common slip: students add, then forget to commit. Remind: add is only the first half.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15 — Staging area visual (4 min)**</a:t>
            </a:r>
          </a:p>
          <a:p>
            <a:r>
              <a:t>- This is THE core mental model of Git. Do not rush it.</a:t>
            </a:r>
          </a:p>
          <a:p>
            <a:r>
              <a:t>- Three zones: working directory (your editor), staging area (waiting room), history (.git).</a:t>
            </a:r>
          </a:p>
          <a:p>
            <a:r>
              <a:t>- `git add` moves files INTO the waiting room; `git commit` takes the whole waiting room and stamps it as one snapshot.</a:t>
            </a:r>
          </a:p>
          <a:p>
            <a:r>
              <a:t>- Emphasise: a commit always captures the staging area, not whatever is open in the editor.</a:t>
            </a:r>
          </a:p>
          <a:p>
            <a:r>
              <a:t>- Analogy: it's like preparing your suitcase (add) then sealing it with a label (commit).</a:t>
            </a:r>
          </a:p>
          <a:p>
            <a:r>
              <a:t>- Arabic tip: استخدم استعارة "غرفة الانتظار": git add يُدخل الملفات لغرفة الانتظار، وgit commit يغلق الباب ويحفظ اللقطة.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16 — git commit (6 min)**</a:t>
            </a:r>
          </a:p>
          <a:p>
            <a:r>
              <a:t>- Demo the full moment: `git add .` then `git commit -m "Add rock-paper-scissors game"`.</a:t>
            </a:r>
          </a:p>
          <a:p>
            <a:r>
              <a:t>- Read the output together: `[main a1b2c3d]` → branch, short hash, message; then "2 files changed, 45 insertions".</a:t>
            </a:r>
          </a:p>
          <a:p>
            <a:r>
              <a:t>- Then run `git status` → "working tree clean". That green feeling = a saved checkpoint.</a:t>
            </a:r>
          </a:p>
          <a:p>
            <a:r>
              <a:t>- WARNING (very common): `git commit` without `-m` opens Vim. Students panic. Teach: press `ESC`, type `:q!`, Enter to escape, then retry with `-m`. Mention troubleshooting slide later.</a:t>
            </a:r>
          </a:p>
          <a:p>
            <a:r>
              <a:t>- Arabic tip: "commit" تعني "التزام" — التزم برسالة واضحة تصف التغيير.</a:t>
            </a:r>
          </a:p>
          <a:p>
            <a:r>
              <a:t>- Encourage every student to complete their FIRST commit now — big class celebration.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17 — Commit messages (3 min)**</a:t>
            </a:r>
          </a:p>
          <a:p>
            <a:r>
              <a:t>- Make it memorable: "The person who reads your commits the most is YOU, six months from now."</a:t>
            </a:r>
          </a:p>
          <a:p>
            <a:r>
              <a:t>- Show bad vs good side by side and read them aloud with drama.</a:t>
            </a:r>
          </a:p>
          <a:p>
            <a:r>
              <a:t>- Golden rules: present tense ("Fix", not "Fixed"), short (under ~50 chars), explain the WHY when it's not obvious.</a:t>
            </a:r>
          </a:p>
          <a:p>
            <a:r>
              <a:t>- Encourage committing small chunks: one feature or one bugfix per commit.</a:t>
            </a:r>
          </a:p>
          <a:p>
            <a:r>
              <a:t>- MCQ prompt (answer in your head / discuss): which is a good message? → "Fix score bug in level 3".</a:t>
            </a:r>
          </a:p>
          <a:p>
            <a:r>
              <a:t>- Arabic tip: القاعدة الذهبية: رسالة "التزام" تُخبر القارئ ماذا غيّرت ولماذا.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18 — LIVE CODING: first commit (15 min, THE key moment)**</a:t>
            </a:r>
          </a:p>
          <a:p>
            <a:r>
              <a:t>- Run the whole sequence on the projector, pausing after each command.</a:t>
            </a:r>
          </a:p>
          <a:p>
            <a:r>
              <a:t>- PREDICT: after `touch app.py`, ask "what will git status say?" → B: untracked: app.py.</a:t>
            </a:r>
          </a:p>
          <a:p>
            <a:r>
              <a:t>- IMPORTANT: `touch` works in Git Bash on Windows; if using cmd/PowerShell, create the file via the editor instead.</a:t>
            </a:r>
          </a:p>
          <a:p>
            <a:r>
              <a:t>- Walk slowly at step 4 (init) and 7 (commit) — these are the two big "aha" moments.</a:t>
            </a:r>
          </a:p>
          <a:p>
            <a:r>
              <a:t>- Check the room: every student must see `[main ...]` and "1 file changed". Call out success.</a:t>
            </a:r>
          </a:p>
          <a:p>
            <a:r>
              <a:t>- If someone opens Vim by mistake (no -m): ESC, :q!, Enter.</a:t>
            </a:r>
          </a:p>
          <a:p>
            <a:r>
              <a:t>- Arabic tip: اجعل الطلاب يكررون التسلسل ذهنياً: أنشئ ← عرّف ← أضف ← التزم.</a:t>
            </a:r>
          </a:p>
          <a:p>
            <a:r>
              <a:t>- Time-box: don't let them tweak code yet; the point is the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19 — git log (4 min)**</a:t>
            </a:r>
          </a:p>
          <a:p>
            <a:r>
              <a:t>- Demo `git log --oneline` right after the live commit — students should see their "Add app skeleton" commit.</a:t>
            </a:r>
          </a:p>
          <a:p>
            <a:r>
              <a:t>- Explain the "diary" framing: every commit you made today is now visible history.</a:t>
            </a:r>
          </a:p>
          <a:p>
            <a:r>
              <a:t>- Show that `git log --oneline` prints newest first (top = most recent).</a:t>
            </a:r>
          </a:p>
          <a:p>
            <a:r>
              <a:t>- `--graph` becomes exciting when we do branches — mention we'll revisit it in ~20 minutes.</a:t>
            </a:r>
          </a:p>
          <a:p>
            <a:r>
              <a:t>- If a student sees "(HEAD -&gt; main)" in the log — explain it means "this commit is where main currently points".</a:t>
            </a:r>
          </a:p>
          <a:p>
            <a:r>
              <a:t>- Arabic tip: "log" = سجل — اعرض السجل كأنكم تفتحون يوميات مشروعكم.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20 — git diff (4 min)**</a:t>
            </a:r>
          </a:p>
          <a:p>
            <a:r>
              <a:t>- Live: edit a file, DON'T stage it yet, run `git diff`.</a:t>
            </a:r>
          </a:p>
          <a:p>
            <a:r>
              <a:t>- Explain red (-) = lines removed, green (+) = lines added. Green is usually what you typed.</a:t>
            </a:r>
          </a:p>
          <a:p>
            <a:r>
              <a:t>- Emphasise the habit: `git diff` before commit = proofreading your change.</a:t>
            </a:r>
          </a:p>
          <a:p>
            <a:r>
              <a:t>- `git diff --staged` shows the diff of files already in the staging area (a common beginner confusion — they run plain `git diff` after staging and see nothing!).</a:t>
            </a:r>
          </a:p>
          <a:p>
            <a:r>
              <a:t>- Warn: if `git diff` shows nothing after editing, the file is probably staged — use `--staged`.</a:t>
            </a:r>
          </a:p>
          <a:p>
            <a:r>
              <a:t>- Arabic tip: اشرح أن diff اختصار difference = "الفرق"؛ يعرض الفرق بين ما كان وما أصبح.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21 — Predict the output MCQ (3 min)**</a:t>
            </a:r>
          </a:p>
          <a:p>
            <a:r>
              <a:t>- Pause: let students call out letters. **Correct answer: B** — the file is now "modified" and appears under "Changes not staged for commit".</a:t>
            </a:r>
          </a:p>
          <a:p>
            <a:r>
              <a:t>- Walk through why each other option is wrong:</a:t>
            </a:r>
          </a:p>
          <a:p>
            <a:r>
              <a:t>  - A fails because the file differs from the last snapshot.</a:t>
            </a:r>
          </a:p>
          <a:p>
            <a:r>
              <a:t>  - C fails because the file was already tracked (it's not untracked anymore).</a:t>
            </a:r>
          </a:p>
          <a:p>
            <a:r>
              <a:t>  - D is wrong — git status never errors here; committing would complain, but status is fine.</a:t>
            </a:r>
          </a:p>
          <a:p>
            <a:r>
              <a:t>- Reinforce the 3 states of a tracked file: modified → staged → committed.</a:t>
            </a:r>
          </a:p>
          <a:p>
            <a:r>
              <a:t>- Arabic tip: ذكّرهم: "المعدّل" = تغيّر منذ آخر التزام، و"غير المتتبَّع" = ملف جديد لم يُضف قط.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22 — Branches intro (3 min)**</a:t>
            </a:r>
          </a:p>
          <a:p>
            <a:r>
              <a:t>- Analogy: a novel's main plot vs a "what-if" draft you write in another document. If the draft is great, you copy it into the main story.</a:t>
            </a:r>
          </a:p>
          <a:p>
            <a:r>
              <a:t>- Stress safety: branches let you break things without breaking main. Great for the "boss level" experiment.</a:t>
            </a:r>
          </a:p>
          <a:p>
            <a:r>
              <a:t>- Keep expectations grounded: today is basic branch + merge only (per prompt: no advanced branching strategies).</a:t>
            </a:r>
          </a:p>
          <a:p>
            <a:r>
              <a:t>- Mention: default branch is `main` (that's why we used `-b main` at init).</a:t>
            </a:r>
          </a:p>
          <a:p>
            <a:r>
              <a:t>- Arabic tip: "الفرع" كأنه ورقة تجارب منفصلة؛ النتيجة الناجحة تُنسخ إلى الدفتر الرئيسي.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23 — Branch visual (4 min)**</a:t>
            </a:r>
          </a:p>
          <a:p>
            <a:r>
              <a:t>- Draw the timeline live on the board as you talk.</a:t>
            </a:r>
          </a:p>
          <a:p>
            <a:r>
              <a:t>- main: c1 → c2 → c3. Then "feature-boss" branches off from c3 and gets its own commit c4.</a:t>
            </a:r>
          </a:p>
          <a:p>
            <a:r>
              <a:t>- The dashed box emphasises: main does NOT contain c4 until merge.</a:t>
            </a:r>
          </a:p>
          <a:p>
            <a:r>
              <a:t>- Steps on the left summarise the exact commands they'll type on the next slide.</a:t>
            </a:r>
          </a:p>
          <a:p>
            <a:r>
              <a:t>- Point at c5: after merge, main contains everything (c1+c2+c3+c4).</a:t>
            </a:r>
          </a:p>
          <a:p>
            <a:r>
              <a:t>- Arabic tip: شبّه الفروع بشجرة حقيقية: جذع واحد (main) وأغصان تنمو ثم تعود للاندماج مع الجذع.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24 — Branch commands (live, 8 min)**</a:t>
            </a:r>
          </a:p>
          <a:p>
            <a:r>
              <a:t>- LIVE: build a real branch on the projector. Add a tiny feature on `feature-boss`, commit, switch back to main, merge.</a:t>
            </a:r>
          </a:p>
          <a:p>
            <a:r>
              <a:t>- Point out the `*` in `git branch` output — it marks your current branch.</a:t>
            </a:r>
          </a:p>
          <a:p>
            <a:r>
              <a:t>- `git switch -c` is the modern way (Git ≥ 2.23). If a student's git is older, `git checkout -b feature-boss` works identically.</a:t>
            </a:r>
          </a:p>
          <a:p>
            <a:r>
              <a:t>- Teach the mental rule: "you merge INTO the branch you're standing on." `git merge` must be run from main.</a:t>
            </a:r>
          </a:p>
          <a:p>
            <a:r>
              <a:t>- Optional: delete the merged branch with `git branch -d feature-boss` (show once, don't stress it).</a:t>
            </a:r>
          </a:p>
          <a:p>
            <a:r>
              <a:t>- Arabic tip: قل القاعدة بصوت عالٍ: "دمج = تعال أنت إليَّ". أي أننا نقف على main ونستدعي الفرع.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25 — Branch MCQ (2 min)**</a:t>
            </a:r>
          </a:p>
          <a:p>
            <a:r>
              <a:t>- **Correct answer: B.** `git switch -c ui` creates the branch and moves you onto it.</a:t>
            </a:r>
          </a:p>
          <a:p>
            <a:r>
              <a:t>- A (`git branch ui`) creates the branch but does NOT switch — you stay on main.</a:t>
            </a:r>
          </a:p>
          <a:p>
            <a:r>
              <a:t>- C (`git merge ui`) fails — ui doesn't exist yet.</a:t>
            </a:r>
          </a:p>
          <a:p>
            <a:r>
              <a:t>- D (`git switch main`) just moves you back to main.</a:t>
            </a:r>
          </a:p>
          <a:p>
            <a:r>
              <a:t>- Quick follow-up question for the room: "How do you see which branch you're on?" → `git branch`.</a:t>
            </a:r>
          </a:p>
          <a:p>
            <a:r>
              <a:t>- Arabic tip: اربط "-c" بـ"create/أنشئ"، و"switch" بـ"بدّل/انتقل".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26 — Remote repositories (4 min)**</a:t>
            </a:r>
          </a:p>
          <a:p>
            <a:r>
              <a:t>- Connect back to Git vs GitHub (slide 09): local Git repo + remote copy on GitHub.</a:t>
            </a:r>
          </a:p>
          <a:p>
            <a:r>
              <a:t>- The word "remote" just means "not on this computer". `origin` is the conventional nickname for your GitHub copy.</a:t>
            </a:r>
          </a:p>
          <a:p>
            <a:r>
              <a:t>- push = upload; pull = download. Revisit the arrow diagram — this is the heart of collaboration.</a:t>
            </a:r>
          </a:p>
          <a:p>
            <a:r>
              <a:t>- Analogy: local is the draft folder, remote is the published folder; you choose when to publish (push) and when to refresh (pull).</a:t>
            </a:r>
          </a:p>
          <a:p>
            <a:r>
              <a:t>- Arabic tip: "بعيد" = remote؛ أي نسخة موجودة على خادم بعيد عن جهازك.</a:t>
            </a:r>
          </a:p>
          <a:p>
            <a:r>
              <a:t>- Bridge: "Now let's learn the three remote commands: clone, push, pull."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27 — git clone (4 min)**</a:t>
            </a:r>
          </a:p>
          <a:p>
            <a:r>
              <a:t>- Demo: clone a real, public repo (e.g. a small GitHub repo) and open it — students love seeing someone else's history appear.</a:t>
            </a:r>
          </a:p>
          <a:p>
            <a:r>
              <a:t>- Emphasise: cloning gives you the ENTIRE history, not just the files. Compare to Download ZIP (which has no .git).</a:t>
            </a:r>
          </a:p>
          <a:p>
            <a:r>
              <a:t>- Note: you can clone repos you don't own — this is the door to open source (we revisit later).</a:t>
            </a:r>
          </a:p>
          <a:p>
            <a:r>
              <a:t>- Where to find the URL: GitHub repo page → green "Code" button → HTTPS tab → copy.</a:t>
            </a:r>
          </a:p>
          <a:p>
            <a:r>
              <a:t>- Arabic tip: الفرق بين التحميل والاستنساخ: الاستنساخ يجلب معه "تاريخ المشروع" (.git) وليس الملفات فقط.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28 — push &amp; pull (5 min)**</a:t>
            </a:r>
          </a:p>
          <a:p>
            <a:r>
              <a:t>- Read both commands aloud with energy — this is the moment projects go public.</a:t>
            </a:r>
          </a:p>
          <a:p>
            <a:r>
              <a:t>- `-u origin main`: sets upstream tracking so future commands are just `git push` / `git pull`.</a:t>
            </a:r>
          </a:p>
          <a:p>
            <a:r>
              <a:t>- Golden habit: pull before you start work, and pull before you push. Avoids the "rejected" error we fix later.</a:t>
            </a:r>
          </a:p>
          <a:p>
            <a:r>
              <a:t>- Clarify push does NOT happen automatically — commits stay local until you push. (Very common beginner confusion.)</a:t>
            </a:r>
          </a:p>
          <a:p>
            <a:r>
              <a:t>- Arabic tip: قارن الدفع بالإرسال إلى الصندوق البريدي، والسحب بجلب الرسائل الجديدة.</a:t>
            </a:r>
          </a:p>
          <a:p>
            <a:r>
              <a:t>- Note for teacher: on first push GitHub may ask for authentication (HTTPS token / credential manager). Have them sign in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29 — LIVE CODING: push to GitHub (15 min)**</a:t>
            </a:r>
          </a:p>
          <a:p>
            <a:r>
              <a:t>- Preparation: every student must have a GitHub account BEFORE this slide (tell them to sign up during the break).</a:t>
            </a:r>
          </a:p>
          <a:p>
            <a:r>
              <a:t>- Step 1: create an empty repo on GitHub (do NOT tick "Add a README" — it creates an extra commit that causes conflicts later).</a:t>
            </a:r>
          </a:p>
          <a:p>
            <a:r>
              <a:t>- Step 2: copy the exact `git remote add origin ` line GitHub offers.</a:t>
            </a:r>
          </a:p>
          <a:p>
            <a:r>
              <a:t>- Step 3: run it locally, verify with `git remote -v`, then `git push -u origin main`.</a:t>
            </a:r>
          </a:p>
          <a:p>
            <a:r>
              <a:t>- On first push GitHub asks for login — using the credential manager is fine for the bootcamp. Mention PAT/token only if advanced students ask.</a:t>
            </a:r>
          </a:p>
          <a:p>
            <a:r>
              <a:t>- PREDICT: after push, GitHub shows files + commit list + "main" branch. Refresh the page together.</a:t>
            </a:r>
          </a:p>
          <a:p>
            <a:r>
              <a:t>- If a student accidentally created README on GitHub: teach `git pull origin main` then push (or start clean).</a:t>
            </a:r>
          </a:p>
          <a:p>
            <a:r>
              <a:t>- Arabic tip: بعد النجاح، ارفعوا أصابعكم وقل "شحننا!" — هذه أول لحظة فخر في الجلسة.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30 — .gitignore (5 min)**</a:t>
            </a:r>
          </a:p>
          <a:p>
            <a:r>
              <a:t>- Demo: create `.gitignore`, add the common Python entries, commit it.</a:t>
            </a:r>
          </a:p>
          <a:p>
            <a:r>
              <a:t>- Show the benefit live: create a `__pycache__` (run a python file once) → `git status` no longer lists it after adding to .gitignore.</a:t>
            </a:r>
          </a:p>
          <a:p>
            <a:r>
              <a:t>- SECURITY emphasis: never commit `.env` files — real companies get hacked this way. Don't share passwords on GitHub.</a:t>
            </a:r>
          </a:p>
          <a:p>
            <a:r>
              <a:t>- Note: patterns with `/` = folders; `*` = wildcard (e.g. `*.log`).</a:t>
            </a:r>
          </a:p>
          <a:p>
            <a:r>
              <a:t>- Arabic tip: الاسم يعني "تجاهُل Git" — أي أن Git يتجاهل هذه الملفات تماماً.</a:t>
            </a:r>
          </a:p>
          <a:p>
            <a:r>
              <a:t>- Common slip: creating `.gitignore.txt` (wrong). In Git Bash `touch .gitignore` creates it correctly.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31 — README.md (5 min)**</a:t>
            </a:r>
          </a:p>
          <a:p>
            <a:r>
              <a:t>- Ask: "When someone visits your GitHub repo, what's the first thing they see?" → the README, rendered below the file list.</a:t>
            </a:r>
          </a:p>
          <a:p>
            <a:r>
              <a:t>- Walk the example line by line: title (#), run instructions, features, tech used.</a:t>
            </a:r>
          </a:p>
          <a:p>
            <a:r>
              <a:t>- Markdown basics: `#` headings, `-` bullets, backticks for code. That's 90% of what they'll need.</a:t>
            </a:r>
          </a:p>
          <a:p>
            <a:r>
              <a:t>- Encourage writing it BEFORE the project section — they'll need it on the next slides.</a:t>
            </a:r>
          </a:p>
          <a:p>
            <a:r>
              <a:t>- Arabic tip: README = "اقرأني" — رسالة ترحيب تشرح مشروعك بسرعة ووضوح.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32 — Project intro (2 min)**</a:t>
            </a:r>
          </a:p>
          <a:p>
            <a:r>
              <a:t>- Frame it as the payoff: "Everything you built before today becomes visible to the world."</a:t>
            </a:r>
          </a:p>
          <a:p>
            <a:r>
              <a:t>- Each student picks ONE previous project (the one they're proudest of).</a:t>
            </a:r>
          </a:p>
          <a:p>
            <a:r>
              <a:t>- Four steps preview: prepare → commit → push → upgrade. Slides 33–35 go through steps 1–3; step 4 is the challenge in exercises.</a:t>
            </a:r>
          </a:p>
          <a:p>
            <a:r>
              <a:t>- Set a timer (25 min) and a clear deliverable: a shareable GitHub URL.</a:t>
            </a:r>
          </a:p>
          <a:p>
            <a:r>
              <a:t>- Arabic tip: ذكّرهم أن أول مشروع على GitHub هو بداية "المحفظة البرمجية" (portfolio) الخاصة بهم.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33 — Project code 1 (12 min)**</a:t>
            </a:r>
          </a:p>
          <a:p>
            <a:r>
              <a:t>- Live: pick a demo project on the projector and do Step 1 with the class.</a:t>
            </a:r>
          </a:p>
          <a:p>
            <a:r>
              <a:t>- Students do the SAME with their own project. Keep files minimal: one README + one .gitignore first.</a:t>
            </a:r>
          </a:p>
          <a:p>
            <a:r>
              <a:t>- Remind them `touch` works in Git Bash; in other shells create the files in the editor.</a:t>
            </a:r>
          </a:p>
          <a:p>
            <a:r>
              <a:t>- README checklist: title + "how to run" + features (from slide 31). .gitignore: `__pycache__/`, `venv/`, `*.pyc`.</a:t>
            </a:r>
          </a:p>
          <a:p>
            <a:r>
              <a:t>- First commit is docs-only — praise that as a professional habit.</a:t>
            </a:r>
          </a:p>
          <a:p>
            <a:r>
              <a:t>- Watch for: students naming it `readme.md` (works, but `README.md` is convention).</a:t>
            </a:r>
          </a:p>
          <a:p>
            <a:r>
              <a:t>- Arabic tip: "النظافة قبل الكود" — اشرح أنها عادة المحترفين: يبدأون بسجل المشروع.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34 — Project code 2 (12 min)**</a:t>
            </a:r>
          </a:p>
          <a:p>
            <a:r>
              <a:t>- Live the full flow: add all code → commit → create empty GitHub repo → add remote → push -u origin main.</a:t>
            </a:r>
          </a:p>
          <a:p>
            <a:r>
              <a:t>- Insist on the correct order: remote add BEFORE push, commit BEFORE push.</a:t>
            </a:r>
          </a:p>
          <a:p>
            <a:r>
              <a:t>- After the first successful push, have them add ONE small feature, then re-commit + re-push to feel the loop.</a:t>
            </a:r>
          </a:p>
          <a:p>
            <a:r>
              <a:t>- Check everyone's GitHub URL is live. Collect 2–3 links and open them on the projector.</a:t>
            </a:r>
          </a:p>
          <a:p>
            <a:r>
              <a:t>- Troubleshoot on the spot: "remote origin already exists" → `git remote set-url origin `.</a:t>
            </a:r>
          </a:p>
          <a:p>
            <a:r>
              <a:t>- Arabic tip: الإيقاع المحترف: عدّل ← التزم ← ادفع. هذا كل شيء — البساطة قوة.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35 — Project output (3 min)**</a:t>
            </a:r>
          </a:p>
          <a:p>
            <a:r>
              <a:t>- Open 2–3 student repos live on the projector. The room gets loud — enjoy it.</a:t>
            </a:r>
          </a:p>
          <a:p>
            <a:r>
              <a:t>- Point out each element: commit count, README rendered, files list, branch name, contributor.</a:t>
            </a:r>
          </a:p>
          <a:p>
            <a:r>
              <a:t>- Explain what visitors see: README is the landing page; the file list is the menu; commit history is the story.</a:t>
            </a:r>
          </a:p>
          <a:p>
            <a:r>
              <a:t>- Encourage them to write the URL on a sticky note / send it to their phone.</a:t>
            </a:r>
          </a:p>
          <a:p>
            <a:r>
              <a:t>- Arabic tip: اجعل لحظة "الرابط" احتفالية — أول رابط GitHub في حياة كل طالب هو إنجاز يُفتخر به.</a:t>
            </a:r>
          </a:p>
          <a:p>
            <a:r>
              <a:t>- Transition: "Your project is public. Now — how do professional teams use this every day?"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36 — GitHub workflow (3 min)**</a:t>
            </a:r>
          </a:p>
          <a:p>
            <a:r>
              <a:t>- This is the routine students will live by. Drill it until it's reflex.</a:t>
            </a:r>
          </a:p>
          <a:p>
            <a:r>
              <a:t>- Write the loop on the board: edit → add → commit → push, plus pull at the start.</a:t>
            </a:r>
          </a:p>
          <a:p>
            <a:r>
              <a:t>- Emphasise pull-before-push to avoid the "rejected" error (we fix it on the troubleshooting slide).</a:t>
            </a:r>
          </a:p>
          <a:p>
            <a:r>
              <a:t>- Compare to a game save + upload: save locally (commit), upload to cloud (push), download updates (pull).</a:t>
            </a:r>
          </a:p>
          <a:p>
            <a:r>
              <a:t>- Arabic tip: اجعل الطلاب يرددون الإيقاع بصوت واحد: "عدّل، أضف، التزم، ادفع" حتى يحفظوه.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37 — Collaboration concept (3 min)**</a:t>
            </a:r>
          </a:p>
          <a:p>
            <a:r>
              <a:t>- Real-world framing: at companies, hundreds of people work on one repo without stepping on each other.</a:t>
            </a:r>
          </a:p>
          <a:p>
            <a:r>
              <a:t>- The recipe: every dev clones, branches, commits, pushes; the maintainer merges good work into main.</a:t>
            </a:r>
          </a:p>
          <a:p>
            <a:r>
              <a:t>- Keep it light: we only INTRODUCE the concept — the pull-request workflow details are on slide 48–49.</a:t>
            </a:r>
          </a:p>
          <a:p>
            <a:r>
              <a:t>- Arabic tip: اشرح المبدأ: "كل واحد في فرعه، والفرع السليم يندمج مع الرئيسي".</a:t>
            </a:r>
          </a:p>
          <a:p>
            <a:r>
              <a:t>- No live demo here; the concept lands after they've pushed their own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38 — Exercises (15 min)**</a:t>
            </a:r>
          </a:p>
          <a:p>
            <a:r>
              <a:t>- Let students work at their own pace; the three levels keep everyone busy.</a:t>
            </a:r>
          </a:p>
          <a:p>
            <a:r>
              <a:t>- Easy: check everyone completed two commits. Watch for "no commits yet".</a:t>
            </a:r>
          </a:p>
          <a:p>
            <a:r>
              <a:t>- Medium: verify the branch was actually created (git branch shows feature-menu) and merged into main.</a:t>
            </a:r>
          </a:p>
          <a:p>
            <a:r>
              <a:t>- Challenge: students push and open their GitHub commits tab — celebrate the log on screen.</a:t>
            </a:r>
          </a:p>
          <a:p>
            <a:r>
              <a:t>- Circulate: fix "git commit without -m" (Vim panic) and "forgot to git add" (nothing staged).</a:t>
            </a:r>
          </a:p>
          <a:p>
            <a:r>
              <a:t>- Arabic tip: شجع التنافس اللطيف: من ينهي التحدي أولاً يشرحه للبقية بالعربية.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39 — Homework (2 min)**</a:t>
            </a:r>
          </a:p>
          <a:p>
            <a:r>
              <a:t>- Deliverable is a URL — make the submission frictionless (a shared sheet or chat).</a:t>
            </a:r>
          </a:p>
          <a:p>
            <a:r>
              <a:t>- Grading hints: README quality, .gitignore present, ≥3 clear commits, repo is public, no secrets/junk.</a:t>
            </a:r>
          </a:p>
          <a:p>
            <a:r>
              <a:t>- Tell them this homework doubles as their first portfolio piece — quality over speed.</a:t>
            </a:r>
          </a:p>
          <a:p>
            <a:r>
              <a:t>- Remind them to re-read their own README as a stranger would.</a:t>
            </a:r>
          </a:p>
          <a:p>
            <a:r>
              <a:t>- Arabic tip: اشرح أن "نظيف" تعني: منظمة ملفات، رسائل واضحة، بلا أسرار وبلا ملفات مؤقتة.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40 — Final quiz (5 min)**</a:t>
            </a:r>
          </a:p>
          <a:p>
            <a:r>
              <a:t>- Run as a live poll, one question at a time.</a:t>
            </a:r>
          </a:p>
          <a:p>
            <a:r>
              <a:t>- Answers: Q1 = B (`git commit -m`), Q2 = B (uploads commits to remote), Q3 = A (.gitignore), Q4 = C (`git log --oneline`).</a:t>
            </a:r>
          </a:p>
          <a:p>
            <a:r>
              <a:t>- Explain each wrong option quickly (e.g. Q2 option A is actually `git pull`).</a:t>
            </a:r>
          </a:p>
          <a:p>
            <a:r>
              <a:t>- If the class misses any question, revisit that slide briefly before moving on.</a:t>
            </a:r>
          </a:p>
          <a:p>
            <a:r>
              <a:t>- Arabic tip: حوّل الاختبار إلى لعبة جماعية: كل إجابة صحيحة تسجل نقطة للفريق.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41 — Recap (2 min)**</a:t>
            </a:r>
          </a:p>
          <a:p>
            <a:r>
              <a:t>- Speed-run the checklist with the class, letting them shout the commands back at you.</a:t>
            </a:r>
          </a:p>
          <a:p>
            <a:r>
              <a:t>- Celebrate: everyone pushed a repo today. That is a real professional skill.</a:t>
            </a:r>
          </a:p>
          <a:p>
            <a:r>
              <a:t>- Ask one "stand up if..." question: "Stand up if your project is live on GitHub right now."</a:t>
            </a:r>
          </a:p>
          <a:p>
            <a:r>
              <a:t>- Arabic tip: لحظة فخر جماعية: "من وقف ومشروعه على GitHub؟" — كلهم يقفون.</a:t>
            </a:r>
          </a:p>
          <a:p>
            <a:r>
              <a:t>- Bridge: "Git organises your history. Next, we organise your CODE — that's OOP."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42 — Bridge to OOP (2 min)**</a:t>
            </a:r>
          </a:p>
          <a:p>
            <a:r>
              <a:t>- Connect: today = organisation of TIME (history). Next = organisation of CODE.</a:t>
            </a:r>
          </a:p>
          <a:p>
            <a:r>
              <a:t>- Ask the room: "Who has a project that got messy as it grew?" — plenty of hands.</a:t>
            </a:r>
          </a:p>
          <a:p>
            <a:r>
              <a:t>- Promise: OOP makes big projects feel small again by grouping data + actions into classes.</a:t>
            </a:r>
          </a:p>
          <a:p>
            <a:r>
              <a:t>- Mention: your new GitHub repo is the perfect place to publish OOP projects next session.</a:t>
            </a:r>
          </a:p>
          <a:p>
            <a:r>
              <a:t>- Arabic tip: اشرح الربط: "اليوم نظمنا التاريخ، والأسبوع القادم ننظم الكود نفسه."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43 — Teaser (1 min)**</a:t>
            </a:r>
          </a:p>
          <a:p>
            <a:r>
              <a:t>- Sell it: "Your games will go from one big script to clean objects you can reuse."</a:t>
            </a:r>
          </a:p>
          <a:p>
            <a:r>
              <a:t>- The "everything is an object" fact usually blows minds — use it to create curiosity.</a:t>
            </a:r>
          </a:p>
          <a:p>
            <a:r>
              <a:t>- Concrete promise: next session ends with another published OOP game on their repo.</a:t>
            </a:r>
          </a:p>
          <a:p>
            <a:r>
              <a:t>- Arabic tip: اخلق حماساً: "الأسبوع القادم ستنشئ الأعداء في لعبتك ككائنات حقيقية!"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44 — Closing (1 min)**</a:t>
            </a:r>
          </a:p>
          <a:p>
            <a:r>
              <a:t>- Read "Commit early. Commit often." slowly — that is the session's motto.</a:t>
            </a:r>
          </a:p>
          <a:p>
            <a:r>
              <a:t>- Celebrate loudly. If possible, show the class repo collection (links on a shared board).</a:t>
            </a:r>
          </a:p>
          <a:p>
            <a:r>
              <a:t>- Tonight's mission: homework + share the link.</a:t>
            </a:r>
          </a:p>
          <a:p>
            <a:r>
              <a:t>- Arabic tip: أنهِ بكلمة "أحسنت" والعبارة الختامية: "كل التزام يقربك من أن تكون مبرمجاً محترفاً".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45 — Cheat sheet (hand-out, 1 min)**</a:t>
            </a:r>
          </a:p>
          <a:p>
            <a:r>
              <a:t>- Have students screenshot this slide or copy the block — it's their take-home reference.</a:t>
            </a:r>
          </a:p>
          <a:p>
            <a:r>
              <a:t>- Go down the list once at speaking pace; no explanation needed, just pointing.</a:t>
            </a:r>
          </a:p>
          <a:p>
            <a:r>
              <a:t>- Reiterate the golden habits line as the takeaway.</a:t>
            </a:r>
          </a:p>
          <a:p>
            <a:r>
              <a:t>- Arabic tip: شجعهم على وضع هذه الأوامر كخلفية أو ملصق بجانب الحاسوب خلال الأسبوع.</a:t>
            </a:r>
          </a:p>
          <a:p>
            <a:r>
              <a:t>- Note: this stays on screen while the extended labs (46–50) follow; it's a great reference during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46 — Common mistakes (3 min)**</a:t>
            </a:r>
          </a:p>
          <a:p>
            <a:r>
              <a:t>- Read each mistake like a confession students already know ("who has done #4? hands up").</a:t>
            </a:r>
          </a:p>
          <a:p>
            <a:r>
              <a:t>- The Vim panic is the funniest and most common — demo it once so they're not afraid.</a:t>
            </a:r>
          </a:p>
          <a:p>
            <a:r>
              <a:t>- `git rm -r --cached __pycache__` = untrack without deleting files (only if they already committed cache).</a:t>
            </a:r>
          </a:p>
          <a:p>
            <a:r>
              <a:t>- Message: "Every mistake here is a badge of learning. You'll all hit several today."</a:t>
            </a:r>
          </a:p>
          <a:p>
            <a:r>
              <a:t>- Arabic tip: اطمئنهم: "الخطأ ليس فشلاً؛ كل المبرمجين المحترفين وقعوا في الـ Vim يوماً ما".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47 — Troubleshooting (4 min)**</a:t>
            </a:r>
          </a:p>
          <a:p>
            <a:r>
              <a:t>- Live-demo the "failed to push" fix: two students push from different clones, second one hits the error, we pull then push.</a:t>
            </a:r>
          </a:p>
          <a:p>
            <a:r>
              <a:t>- The #1 fix ("pull origin main") resolves the vast majority of beginner errors.</a:t>
            </a:r>
          </a:p>
          <a:p>
            <a:r>
              <a:t>- "fatal: not a git repository" is almost always being in the wrong folder — demonstrate `pwd`/`ls`.</a:t>
            </a:r>
          </a:p>
          <a:p>
            <a:r>
              <a:t>- Reassure: Git protects your data; even "failed" pushes never lose commits.</a:t>
            </a:r>
          </a:p>
          <a:p>
            <a:r>
              <a:t>- Arabic tip: علّمهم العادة: عند أي خطأ → git status أولاً، ثم اقرأ آخر سطر من الخطأ.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48 — Pull requests &amp; open source (4 min)**</a:t>
            </a:r>
          </a:p>
          <a:p>
            <a:r>
              <a:t>- Explain PR simply: "ask permission to merge your branch into someone else's repo."</a:t>
            </a:r>
          </a:p>
          <a:p>
            <a:r>
              <a:t>- The fork→clone→branch→commit→push→PR flow is the standard open-source loop.</a:t>
            </a:r>
          </a:p>
          <a:p>
            <a:r>
              <a:t>- Emphasise labels: `good first issue` = beginner-friendly tasks on real projects.</a:t>
            </a:r>
          </a:p>
          <a:p>
            <a:r>
              <a:t>- Motivation: your first PR to a real open-source project is a legendary moment for a junior dev — put it on your CV.</a:t>
            </a:r>
          </a:p>
          <a:p>
            <a:r>
              <a:t>- Arabic tip: عرّف المصطلحات: Fork = نسخة من المشروع في حسابك، وPR = طلب دمج تغييراتك.</a:t>
            </a:r>
          </a:p>
          <a:p>
            <a:r>
              <a:t>- Next slide is the live version of this exact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49 — LIVE CODING 2: collaborate via PR (15 min, optional/extra)**</a:t>
            </a:r>
          </a:p>
          <a:p>
            <a:r>
              <a:t>- Pair students A &amp; B. A is repo owner, B is contributor.</a:t>
            </a:r>
          </a:p>
          <a:p>
            <a:r>
              <a:t>- B's flow: fork on GitHub → clone fork → `git switch -c` → edit → commit → push to fork.</a:t>
            </a:r>
          </a:p>
          <a:p>
            <a:r>
              <a:t>- PREDICT moment: after push, GitHub shows the yellow "Compare &amp; pull request" button on B's fork page (and as a banner on A's repo page).</a:t>
            </a:r>
          </a:p>
          <a:p>
            <a:r>
              <a:t>- A reviews the PR (looks at the diff), clicks Merge. Celebrate the first PR merge!</a:t>
            </a:r>
          </a:p>
          <a:p>
            <a:r>
              <a:t>- If time is short, do it as ONE live demo with the projector instead of pairs.</a:t>
            </a:r>
          </a:p>
          <a:p>
            <a:r>
              <a:t>- Arabic tip: هذا الدرس يجعلهم يشعرون بالاحتراف: "أنت الآن تساهم في مشروع زميلك".</a:t>
            </a:r>
          </a:p>
          <a:p>
            <a:r>
              <a:t>- Time check: if running late, compress this to a demonstration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**Slide 50 — GitHub profile = CV (3 min)**</a:t>
            </a:r>
          </a:p>
          <a:p>
            <a:r>
              <a:t>- Frame: recruiters and teammates check your GitHub. Make it look like you.</a:t>
            </a:r>
          </a:p>
          <a:p>
            <a:r>
              <a:t>- Profile README tip: create a repo named exactly `username/username` → GitHub renders it on your profile.</a:t>
            </a:r>
          </a:p>
          <a:p>
            <a:r>
              <a:t>- The green contribution graph rewards consistency — small regular commits beat one giant push.</a:t>
            </a:r>
          </a:p>
          <a:p>
            <a:r>
              <a:t>- Challenge: one polished project (today's!) already beats 99% of beginners.</a:t>
            </a:r>
          </a:p>
          <a:p>
            <a:r>
              <a:t>- Arabic tip: اربط بين المكافأة والواقع: "الالتزام المنتظم كل أسبوع = ملف إنجازات ينمو معك".</a:t>
            </a:r>
          </a:p>
          <a:p>
            <a:r>
              <a:t>- Close the session with energy; remind them of the homework URL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-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-02-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-03-review-mcq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-04-review-mcq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-05-review-mcq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-06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-07-why-version-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-08-version-history-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-09-git-vs-git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-10-repo-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-11-install-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-12-git-i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-13-git-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-14-git-a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-15-staging-a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-16-git-com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-17-commit-mess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-18-live-com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-19-git-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-20-git-d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-21-predict-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-22-branches-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-23-branches-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-24-branch-comm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-25-branch-mc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-26-remote-re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-27-git-cl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-28-git-push-p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-29-live-p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0-30-gitign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1-31-read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2-32-project-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-33-project-co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4-34-project-co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5-35-project-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6-36-github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7-37-collabo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8-38-exerci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9-39-ho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0-40-final-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1-41-re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2-42-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3-43-tea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4-44-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5-45-no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6-46-common-mistak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7-47-troubleshoo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8-48-pull-requ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9-49-live-col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0-50-github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