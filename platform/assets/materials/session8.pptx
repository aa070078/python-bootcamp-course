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**Cover — 2 min.**</a:t>
            </a:r>
          </a:p>
          <a:p/>
          <a:p>
            <a:r>
              <a:t>Say: "Welcome back, bootcamp! Today we turn scripts into *real software* — software that remembers."</a:t>
            </a:r>
          </a:p>
          <a:p/>
          <a:p>
            <a:r>
              <a:t>- Open with the money line: "Everything you've built so far is wiped the second the program closes. Today we fix that."</a:t>
            </a:r>
          </a:p>
          <a:p>
            <a:r>
              <a:t>- Walk the chips: open(), read/write, with, CSV, JSON, and a full mini project.</a:t>
            </a:r>
          </a:p>
          <a:p>
            <a:r>
              <a:t>- Mention this is a 3-hour session and that by the end they'll have a notes manager that survives restarts.</a:t>
            </a:r>
          </a:p>
          <a:p/>
          <a:p>
            <a:r>
              <a:t>Arabic tip: Read the Arabic subtitle aloud — «اجعل برامجك تتذكّر البيانات» (make your programs remember data). Ask them to guess what "persistence" means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**Hook — 5 min.**</a:t>
            </a:r>
          </a:p>
          <a:p/>
          <a:p>
            <a:r>
              <a:t>Tell three short stories that happened "to your friend": a game losing a save, a note lost, contacts wiped. Let students groan — that groan is the motivation.</a:t>
            </a:r>
          </a:p>
          <a:p/>
          <a:p>
            <a:r>
              <a:t>- Ask: "Has anything like this ever happened to you?" (games saves are the universal answer).</a:t>
            </a:r>
          </a:p>
          <a:p>
            <a:r>
              <a:t>- Write on the board: RAM = memory of a goldfish. Disk = memory of an elephant.</a:t>
            </a:r>
          </a:p>
          <a:p>
            <a:r>
              <a:t>- End with the promise: "By the end of today your programs will have an elephant's memory."</a:t>
            </a:r>
          </a:p>
          <a:p/>
          <a:p>
            <a:r>
              <a:t>Arabic tip: say «الذاكرة تُمحى» (memory is wiped) and «الملف يبقى» (the file stays). Get them to repeat the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**Review MCQ 1 — 2 min.**</a:t>
            </a:r>
          </a:p>
          <a:p/>
          <a:p>
            <a:r>
              <a:t>`def greet(name): print("hi")` → calling `x = greet("Nour")` → `x is None`.</a:t>
            </a:r>
          </a:p>
          <a:p/>
          <a:p>
            <a:r>
              <a:t>- Common mistake: students think a function that only prints returns nothing special, but Python *always* returns something — the default is `None`.</a:t>
            </a:r>
          </a:p>
          <a:p>
            <a:r>
              <a:t>- Quick rule: no `return` → `None`.</a:t>
            </a:r>
          </a:p>
          <a:p>
            <a:r>
              <a:t>- Arabic tip: «الوظيفة بلا return تُرجع None» — say it twice, students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**Review MCQ 2 — 2 min.**</a:t>
            </a:r>
          </a:p>
          <a:p/>
          <a:p>
            <a:r>
              <a:t>`return` is the only way a function hands a value back to its caller (print only displays it).</a:t>
            </a:r>
          </a:p>
          <a:p/>
          <a:p>
            <a:r>
              <a:t>- Clarify the classic trap: `print` shows text, `return` gives a value you can store in a variable. `yield` is for generators — not needed yet.</a:t>
            </a:r>
          </a:p>
          <a:p>
            <a:r>
              <a:t>- Follow-up: `result = add(2,3)` → `result` holds `5` because `add` used `return`.</a:t>
            </a:r>
          </a:p>
          <a:p>
            <a:r>
              <a:t>- Arabic tip: «return يُرجِع القيمة، print يَعرض فقط».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**Review MCQ 3 — 2 min.**</a:t>
            </a:r>
          </a:p>
          <a:p/>
          <a:p>
            <a:r>
              <a:t>`add(3)` uses the default `b=5`, so `3 + 5 = 8`.</a:t>
            </a:r>
          </a:p>
          <a:p/>
          <a:p>
            <a:r>
              <a:t>- Common mistake: students answer `35` thinking string concatenation — but both are ints, so it's arithmetic.</a:t>
            </a:r>
          </a:p>
          <a:p>
            <a:r>
              <a:t>- Reinforce default parameter idea: it kicks in when the argument is missing.</a:t>
            </a:r>
          </a:p>
          <a:p>
            <a:r>
              <a:t>- Arabic tip: «المُعامل الافتراضي يُستخدَم إذا لم تُمرَّر قيمة».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**Timeline — 3 min.**</a:t>
            </a:r>
          </a:p>
          <a:p/>
          <a:p>
            <a:r>
              <a:t>Set the pace and expectations for a 3-hour session.</a:t>
            </a:r>
          </a:p>
          <a:p/>
          <a:p>
            <a:r>
              <a:t>- Show the 10 stops. Point out the two big "aha" moments: `with` (safety) and JSON (the API language).</a:t>
            </a:r>
          </a:p>
          <a:p>
            <a:r>
              <a:t>- Give the break plan and the end-goal ("you will have shipped a real app").</a:t>
            </a:r>
          </a:p>
          <a:p>
            <a:r>
              <a:t>- Encourage: today has 2 live-coding blocks and 1 mini project — keyboards down while they watch, up when they type.</a:t>
            </a:r>
          </a:p>
          <a:p>
            <a:r>
              <a:t>- Arabic tip: read the roadmap heading «خارطة الطريق» and point at the arrow between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**Why persistence matters — 5 min.**</a:t>
            </a:r>
          </a:p>
          <a:p/>
          <a:p>
            <a:r>
              <a:t>- Contrast: a variable is a post-it note; a file is a notebook. Close the program → post-its fly away, the notebook stays.</a:t>
            </a:r>
          </a:p>
          <a:p>
            <a:r>
              <a:t>- Ask for real apps they use that MUST remember: WhatsApp chats, game saves, Instagram likes.</a:t>
            </a:r>
          </a:p>
          <a:p>
            <a:r>
              <a:t>- Reframe: everything they built in sessions 1–7 forgot everything. Today = memory.</a:t>
            </a:r>
          </a:p>
          <a:p>
            <a:r>
              <a:t>- Arabic tip: «البيانات تبقى بعد إغلاق البرنامج إذا حُفظت في ملف» — repeat and have them say "persistence".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**RAM vs Disk visual — 4 min.**</a:t>
            </a:r>
          </a:p>
          <a:p/>
          <a:p>
            <a:r>
              <a:t>- Draw the life-cycle: run → read file from disk into RAM → work → write back to disk → close. Without step 3, data is lost.</a:t>
            </a:r>
          </a:p>
          <a:p>
            <a:r>
              <a:t>- Analogy: RAM is a whiteboard, disk is your notebook. You copy homework from the whiteboard into the notebook *before* the class ends.</a:t>
            </a:r>
          </a:p>
          <a:p>
            <a:r>
              <a:t>- Common misunderstanding: "why not keep everything in RAM?" → because RAM is expensive and volatile.</a:t>
            </a:r>
          </a:p>
          <a:p>
            <a:r>
              <a:t>- Arabic tip: «الذاكرة عشوائية، القرص دائم» (RAM is random/volatile, disk is permanent).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**File paths — 5 min.**</a:t>
            </a:r>
          </a:p>
          <a:p/>
          <a:p>
            <a:r>
              <a:t>- Ask: "How do you tell a friend where your house is?" Either the full country→street address (absolute) or "from school, walk 2 blocks" (relative). Same idea.</a:t>
            </a:r>
          </a:p>
          <a:p>
            <a:r>
              <a:t>- Emphasize: most bootcamp work uses relative paths — the file sits next to your `.py`.</a:t>
            </a:r>
          </a:p>
          <a:p>
            <a:r>
              <a:t>- Note the backslash gotcha: on Windows prefer `/` in Python strings so you don't need double backslashes.</a:t>
            </a:r>
          </a:p>
          <a:p>
            <a:r>
              <a:t>- Arabic tip: «المسار هو عنوان الملف» — have them translate "absolute" and "relative" back to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**Folder tree visual — 4 min.**</a:t>
            </a:r>
          </a:p>
          <a:p/>
          <a:p>
            <a:r>
              <a:t>- Walk the tree together: from Desktop you dive into python_bootcamp → session8 → notes.txt.</a:t>
            </a:r>
          </a:p>
          <a:p>
            <a:r>
              <a:t>- Point out: relative paths are written *as if you're standing inside* the running folder (here `session8/`).</a:t>
            </a:r>
          </a:p>
          <a:p>
            <a:r>
              <a:t>- Ask students to "climb" the tree: what path reaches `projects/app.py` from `session8`? → `../projects/app.py`.</a:t>
            </a:r>
          </a:p>
          <a:p>
            <a:r>
              <a:t>- Arabic tip: «شجرة المجلدات» (folder tree) — have students point at the tree while saying each folder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**Path MCQ — 2 min.**</a:t>
            </a:r>
          </a:p>
          <a:p/>
          <a:p>
            <a:r>
              <a:t>- A = absolute (starts with drive letter), B = absolute (starts at root `/`), C = relative, D = URL scheme (not even a path).</a:t>
            </a:r>
          </a:p>
          <a:p>
            <a:r>
              <a:t>- Rule of thumb: starts with a drive/root → absolute. Starts with a folder or filename → relative.</a:t>
            </a:r>
          </a:p>
          <a:p>
            <a:r>
              <a:t>- Live demo: ask a student for their desktop path, show both forms.</a:t>
            </a:r>
          </a:p>
          <a:p>
            <a:r>
              <a:t>- Arabic tip: «المسار النسبي لا يبدأ من جذر القرص» (a relative path doesn't start at the disk root).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**open() — 5 min.**</a:t>
            </a:r>
          </a:p>
          <a:p/>
          <a:p>
            <a:r>
              <a:t>- Walk the three steps out loud: open → use → close. Use the door metaphor physically (knock, walk in, close).</a:t>
            </a:r>
          </a:p>
          <a:p>
            <a:r>
              <a:t>- Show that `open("notes.txt")` works without the mode because `"r"` is the default.</a:t>
            </a:r>
          </a:p>
          <a:p>
            <a:r>
              <a:t>- Preview: `with` will replace the manual close — but we still need to understand what close means.</a:t>
            </a:r>
          </a:p>
          <a:p>
            <a:r>
              <a:t>- Live demo: open a file in the interpreter and show the `` object.</a:t>
            </a:r>
          </a:p>
          <a:p>
            <a:r>
              <a:t>- Arabic tip: «افتح ثم استخدم ثم أغلق» (open, use, close) — three-word chant.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**Open modes visual — 4 min.**</a:t>
            </a:r>
          </a:p>
          <a:p/>
          <a:p>
            <a:r>
              <a:t>- Hammer the three letters: r read, w write (wipes!), a append (safe).</a:t>
            </a:r>
          </a:p>
          <a:p>
            <a:r>
              <a:t>- The `w` warning is the most common data-loss bug in the class — make them gasp.</a:t>
            </a:r>
          </a:p>
          <a:p>
            <a:r>
              <a:t>- Mention `r+` (read+write) exists but we keep it simple today.</a:t>
            </a:r>
          </a:p>
          <a:p>
            <a:r>
              <a:t>- Arabic tip: «r قراءة، w كتابة، a إضافة» — students chant modes with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**Reading functions — 4 min.**</a:t>
            </a:r>
          </a:p>
          <a:p/>
          <a:p>
            <a:r>
              <a:t>- read = whole book, readline = next page, readlines = table of contents as a list.</a:t>
            </a:r>
          </a:p>
          <a:p>
            <a:r>
              <a:t>- Warn about the `\n` newline that comes WITH each line — we'll strip it with `.strip()`.</a:t>
            </a:r>
          </a:p>
          <a:p>
            <a:r>
              <a:t>- `for line in f:` is the everyday pattern for big files (memory friendly).</a:t>
            </a:r>
          </a:p>
          <a:p>
            <a:r>
              <a:t>- Arabic tip: «read كاملة، readline سطر، readlines قائمة».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**Read code — 6 min.**</a:t>
            </a:r>
          </a:p>
          <a:p/>
          <a:p>
            <a:r>
              <a:t>Live code both variants.</a:t>
            </a:r>
          </a:p>
          <a:p/>
          <a:p>
            <a:r>
              <a:t>1. `read_all.py`: run it, show the whole file printed as one block.</a:t>
            </a:r>
          </a:p>
          <a:p>
            <a:r>
              <a:t>2. `read_lines.py`: run it — same visual output, but note we processed line-by-line.</a:t>
            </a:r>
          </a:p>
          <a:p>
            <a:r>
              <a:t>- Emphasize `.strip()`: removes the trailing `\n` so lines don't double-space.</a:t>
            </a:r>
          </a:p>
          <a:p>
            <a:r>
              <a:t>- Challenge: what does `print(len(text))` give? (character count of whole file).</a:t>
            </a:r>
          </a:p>
          <a:p>
            <a:r>
              <a:t>- Arabic tip: «نقرأ السطر وننظّفه بـ strip» (read the line and clean it with strip).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**Predict output #1 — 3 min.**</a:t>
            </a:r>
          </a:p>
          <a:p/>
          <a:p>
            <a:r>
              <a:t>- The file has 3 lines. `readline()` consumes the FIRST line ("10\n"), so `readlines()` returns only the remaining two → `len(rest) == 2`.</a:t>
            </a:r>
          </a:p>
          <a:p>
            <a:r>
              <a:t>- Common error: students say 3. It's a cursor metaphor: the file remembers where you stopped reading.</a:t>
            </a:r>
          </a:p>
          <a:p>
            <a:r>
              <a:t>- Run it live to confirm. Then ask: "what would len(rest) be if we never called readline?" (3).</a:t>
            </a:r>
          </a:p>
          <a:p>
            <a:r>
              <a:t>- Arabic tip: «المؤشر يتحرك مع كل قراءة» (the cursor advances with each read).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**Read MCQ — 2 min.**</a:t>
            </a:r>
          </a:p>
          <a:p/>
          <a:p>
            <a:r>
              <a:t>- `readlines()` → list, `read()` → string, `readline()` → string. Traps: A confuses read with readlines, D is nonsense.</a:t>
            </a:r>
          </a:p>
          <a:p>
            <a:r>
              <a:t>- Follow-up: "how would you print the 2nd line?" → `lines[1].strip()`.</a:t>
            </a:r>
          </a:p>
          <a:p>
            <a:r>
              <a:t>- Arabic tip: «readlines تُرجع قائمة» (readlines returns a list).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**Writing functions — 4 min.**</a:t>
            </a:r>
          </a:p>
          <a:p/>
          <a:p>
            <a:r>
              <a:t>- Big warning board: opening with "w" on an existing file = instant wipe. Demo it with a precious file (or a fake one) to make the point stick.</a:t>
            </a:r>
          </a:p>
          <a:p>
            <a:r>
              <a:t>- `write` takes exactly one string. Newlines are NOT automatic — that's the #1 "why is it all on one line" bug.</a:t>
            </a:r>
          </a:p>
          <a:p>
            <a:r>
              <a:t>- Arabic tip: «w يمسح، a يُبقي» (w erases, a keeps).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**Write code — 6 min.**</a:t>
            </a:r>
          </a:p>
          <a:p/>
          <a:p>
            <a:r>
              <a:t>Live code `write_notes.py`, then open the file in the editor to PROVE it wrote.</a:t>
            </a:r>
          </a:p>
          <a:p/>
          <a:p>
            <a:r>
              <a:t>- Walk: str(95) — writing numbers needs conversion to string.</a:t>
            </a:r>
          </a:p>
          <a:p>
            <a:r>
              <a:t>- Then `writelines.py`: emphasize the list literal and that each element still needs `\n`.</a:t>
            </a:r>
          </a:p>
          <a:p>
            <a:r>
              <a:t>- Demo the destructive part: run the same program twice; second run wipes and rewrites (same result), then try writing fewer lines to see truncation.</a:t>
            </a:r>
          </a:p>
          <a:p>
            <a:r>
              <a:t>- Arabic tip: «افتح الملف وتأكد» (open the file and verify) — verification is a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**Append — 4 min.**</a:t>
            </a:r>
          </a:p>
          <a:p/>
          <a:p>
            <a:r>
              <a:t>- Contrast with "w": same position on the keyboard, opposite destiny. w = reset button, a = "keep going".</a:t>
            </a:r>
          </a:p>
          <a:p>
            <a:r>
              <a:t>- Ask students for use cases (logs, chat, diary) and tie to real apps.</a:t>
            </a:r>
          </a:p>
          <a:p>
            <a:r>
              <a:t>- Clarify "a" never rewrites old lines — you can only add at the tail.</a:t>
            </a:r>
          </a:p>
          <a:p>
            <a:r>
              <a:t>- Arabic tip: «أضف دون حذف» (add without deleting) — append's slogan.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**Append code — 5 min.**</a:t>
            </a:r>
          </a:p>
          <a:p/>
          <a:p>
            <a:r>
              <a:t>Live code and run TWICE.</a:t>
            </a:r>
          </a:p>
          <a:p/>
          <a:p>
            <a:r>
              <a:t>- First run creates log.txt; second run shows both new lines appended after old ones.</a:t>
            </a:r>
          </a:p>
          <a:p>
            <a:r>
              <a:t>- Let a student predict the before/after content before you run.</a:t>
            </a:r>
          </a:p>
          <a:p>
            <a:r>
              <a:t>- Compare with a version using "w" that would keep only the last two lines — dramatic contrast.</a:t>
            </a:r>
          </a:p>
          <a:p>
            <a:r>
              <a:t>- Arabic tip: «شغّلها مرتين لترى النمو» (run twice to see it grow).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**with statement — 5 min.**</a:t>
            </a:r>
          </a:p>
          <a:p/>
          <a:p>
            <a:r>
              <a:t>- Story: "forgot to close() your file → the write may never hit the disk, and open handles leak."</a:t>
            </a:r>
          </a:p>
          <a:p>
            <a:r>
              <a:t>- `with` is a context manager: it runs setup (open) and guaranteed cleanup (close).</a:t>
            </a:r>
          </a:p>
          <a:p>
            <a:r>
              <a:t>- Rule going forward: always `with`. Show how the indented block is the only place `f` is alive.</a:t>
            </a:r>
          </a:p>
          <a:p>
            <a:r>
              <a:t>- Arabic tip: «with تُغلق بنفسها» (with closes itself) — students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**with code — 5 min.**</a:t>
            </a:r>
          </a:p>
          <a:p/>
          <a:p>
            <a:r>
              <a:t>- Type both blocks; emphasize that reading inside the first block and writing in the second happen as independent sessions.</a:t>
            </a:r>
          </a:p>
          <a:p>
            <a:r>
              <a:t>- Try: use `f` AFTER the with block → NameError/ValueError? Actually f still exists but closed; demonstrate reading → error "I/O operation on closed file" to prove auto-close.</a:t>
            </a:r>
          </a:p>
          <a:p>
            <a:r>
              <a:t>- Arabic tip: «بعد الكتلة الملف مقفول» (after the block, the file is locked).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**with MCQ — 2 min.**</a:t>
            </a:r>
          </a:p>
          <a:p/>
          <a:p>
            <a:r>
              <a:t>- A forgets close(), C doesn't even store the object, D is impossible. B is the professional standard.</a:t>
            </a:r>
          </a:p>
          <a:p>
            <a:r>
              <a:t>- Poll: raise hands for each letter before revealing.</a:t>
            </a:r>
          </a:p>
          <a:p>
            <a:r>
              <a:t>- Arabic tip: «with = سلامة» (with = safety).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**Live coding 1 — 12 min.** Type together, slowly. Keep the pace: keyboard-up when they watch, keyboard-down when they type.</a:t>
            </a:r>
          </a:p>
          <a:p/>
          <a:p>
            <a:r>
              <a:t>Steps:</a:t>
            </a:r>
          </a:p>
          <a:p>
            <a:r>
              <a:t>1. Create `diary.py`. Start with the `with open("diary.txt","a")` line — ask: why append not write? (never lose old lines).</a:t>
            </a:r>
          </a:p>
          <a:p>
            <a:r>
              <a:t>2. Add the infinite `while True` and `input()`.</a:t>
            </a:r>
          </a:p>
          <a:p>
            <a:r>
              <a:t>3. Add the `quit` break — predict what happens without it (infinite loop).</a:t>
            </a:r>
          </a:p>
          <a:p>
            <a:r>
              <a:t>4. `f.write(line + "\n")` — ask why `\n` is needed.</a:t>
            </a:r>
          </a:p>
          <a:p>
            <a:r>
              <a:t>5. Run it, type 3 lines + quit. Re-run and show history is preserved. Open diary.txt in the editor.</a:t>
            </a:r>
          </a:p>
          <a:p>
            <a:r>
              <a:t>6. Add the read-back block so the diary "prints itself" at the end.</a:t>
            </a:r>
          </a:p>
          <a:p/>
          <a:p>
            <a:r>
              <a:t>Common mistakes: forgetting `\n`, infinite loop without break, writing when file opened "r".</a:t>
            </a:r>
          </a:p>
          <a:p>
            <a:r>
              <a:t>Arabic tip: «المذكرة تحفظ كل جلسة» (the diary saves every session) — remind them the file is the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**CSV concept — 5 min.**</a:t>
            </a:r>
          </a:p>
          <a:p/>
          <a:p>
            <a:r>
              <a:t>- Show the file then the mental table: header row + 3 data rows.</a:t>
            </a:r>
          </a:p>
          <a:p>
            <a:r>
              <a:t>- Connect: this is how you'd export a Google Sheet and bring it into Python.</a:t>
            </a:r>
          </a:p>
          <a:p>
            <a:r>
              <a:t>- Keep it simple per the brief: no csv module deep-dive — split(",") is enough today.</a:t>
            </a:r>
          </a:p>
          <a:p>
            <a:r>
              <a:t>- Arabic tip: «فاصلة = فاصل» (comma = separator) — the whole format in one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**CSV code — 8 min.**</a:t>
            </a:r>
          </a:p>
          <a:p/>
          <a:p>
            <a:r>
              <a:t>- Write + read in one file. When reading, walk the unpacking: `name, score = row.split(",")`.</a:t>
            </a:r>
          </a:p>
          <a:p>
            <a:r>
              <a:t>- Note `strip()` before `split` — otherwise the last column keeps a `\n`.</a:t>
            </a:r>
          </a:p>
          <a:p>
            <a:r>
              <a:t>- CSV gotcha: the header row is read too. For numeric math, skip it: `header = f.readline()` once, or guard with `if line.strip() == "name,score": continue`. The demo above intentionally prints every row (including the header).</a:t>
            </a:r>
          </a:p>
          <a:p>
            <a:r>
              <a:t>- Extend: convert score to int and compute the average of scores — tiny math win.</a:t>
            </a:r>
          </a:p>
          <a:p>
            <a:r>
              <a:t>- Keep csv module mention one line ("there's a fancier csv module for real projects").</a:t>
            </a:r>
          </a:p>
          <a:p>
            <a:r>
              <a:t>- Arabic tip: «قسّم على الفاصلة» (split on the comma) — the reading mantra.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**JSON concept — 5 min.**</a:t>
            </a:r>
          </a:p>
          <a:p/>
          <a:p>
            <a:r>
              <a:t>- Get excited: "Everything modern runs on JSON" — Instagram feeds, weather apps, game stats.</a:t>
            </a:r>
          </a:p>
          <a:p>
            <a:r>
              <a:t>- Show the Python↔JSON mapping table; the surprises are True→true and None→null.</a:t>
            </a:r>
          </a:p>
          <a:p>
            <a:r>
              <a:t>- Note `import json` needs no installation (stdlib).</a:t>
            </a:r>
          </a:p>
          <a:p>
            <a:r>
              <a:t>- Arabic tip: «JSON لغة عالمية» (JSON is a universal language).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**JSON visual — 4 min.**</a:t>
            </a:r>
          </a:p>
          <a:p/>
          <a:p>
            <a:r>
              <a:t>- Read the document out loud as a sentence: "user has name Nour, age 18, is a student, tags python and code, level 8."</a:t>
            </a:r>
          </a:p>
          <a:p>
            <a:r>
              <a:t>- Point out nesting: object inside object, array of strings.</a:t>
            </a:r>
          </a:p>
          <a:p>
            <a:r>
              <a:t>- This is exactly what they'll parse from APIs next session.</a:t>
            </a:r>
          </a:p>
          <a:p>
            <a:r>
              <a:t>- Arabic tip: «المفتاح نص، والقيمة أي نوع» (key is text, value can be any type).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**dumps / loads — 6 min.**</a:t>
            </a:r>
          </a:p>
          <a:p/>
          <a:p>
            <a:r>
              <a:t>- mnemonic: the **s** in dumps/loads = **s**tring. dump/load (no s) = **f**ile. Save this slide for the cheat sheet.</a:t>
            </a:r>
          </a:p>
          <a:p>
            <a:r>
              <a:t>- Live demo: print `type(text)` → str; then loads brings the dict back and we index `back["name"]`.</a:t>
            </a:r>
          </a:p>
          <a:p>
            <a:r>
              <a:t>- Show what happens with `indent=2` for pretty printing.</a:t>
            </a:r>
          </a:p>
          <a:p>
            <a:r>
              <a:t>- Arabic tip: «s تعني نص» (s means string).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**dump/load on disk — 8 min.**</a:t>
            </a:r>
          </a:p>
          <a:p/>
          <a:p>
            <a:r>
              <a:t>- This is THE core pattern of the whole session. Type it live, then open notes.json in the editor to show the pretty output.</a:t>
            </a:r>
          </a:p>
          <a:p>
            <a:r>
              <a:t>- Point out `False` became `false`, `True` → `true` — JSON's lowercase booleans.</a:t>
            </a:r>
          </a:p>
          <a:p>
            <a:r>
              <a:t>- `indent=2` = readable file; without it, one long line.</a:t>
            </a:r>
          </a:p>
          <a:p>
            <a:r>
              <a:t>- Ask: why does the list of dicts come back perfectly? Because JSON stores the structure, not just text.</a:t>
            </a:r>
          </a:p>
          <a:p>
            <a:r>
              <a:t>- Arabic tip: «dump للكتابة، load للقراءة» (dump writes, load reads).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**JSON MCQ — 2 min.**</a:t>
            </a:r>
          </a:p>
          <a:p/>
          <a:p>
            <a:r>
              <a:t>- Memory hook: the **s**-versions work on **s**trings; the no-s versions take a **file object**.</a:t>
            </a:r>
          </a:p>
          <a:p>
            <a:r>
              <a:t>- C and D are fake functions — teach them to notice "does this function even exist?"</a:t>
            </a:r>
          </a:p>
          <a:p>
            <a:r>
              <a:t>- Arabic tip: «مع s نص، بدون s ملف» (with s = string, without s = 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**Structured data — 7 min.**</a:t>
            </a:r>
          </a:p>
          <a:p/>
          <a:p>
            <a:r>
              <a:t>- Framing: a phone is not one contact; it's a list of dicts. Same for orders, scores, chat messages.</a:t>
            </a:r>
          </a:p>
          <a:p>
            <a:r>
              <a:t>- Emphasize round-trip: what you dump is exactly what you load (types preserved: dict↔object, list↔array).</a:t>
            </a:r>
          </a:p>
          <a:p>
            <a:r>
              <a:t>- Quick win: loop over loaded data and print both fields.</a:t>
            </a:r>
          </a:p>
          <a:p>
            <a:r>
              <a:t>- Arabic tip: «السجل = قاموس» (a record = a dict) — the building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**File errors — 4 min.**</a:t>
            </a:r>
          </a:p>
          <a:p/>
          <a:p>
            <a:r>
              <a:t>- Teach the error name → cause mapping. Don't read the whole traceback; read the LAST line.</a:t>
            </a:r>
          </a:p>
          <a:p>
            <a:r>
              <a:t>- Demo: `open("does_not_exist.txt")` live and let them see FileNotFoundError.</a:t>
            </a:r>
          </a:p>
          <a:p>
            <a:r>
              <a:t>- Preview: next slide's try/except is the medicine. Sessions 9 covers exceptions deeply — today we just need the bandage.</a:t>
            </a:r>
          </a:p>
          <a:p>
            <a:r>
              <a:t>- Arabic tip: «اقرأ آخر سطر من الخطأ» (read the last line of the error).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**try/except code — 6 min.**</a:t>
            </a:r>
          </a:p>
          <a:p/>
          <a:p>
            <a:r>
              <a:t>- Type it; the "fail-safe load" is the single most reused snippet in file-based apps.</a:t>
            </a:r>
          </a:p>
          <a:p>
            <a:r>
              <a:t>- Run three scenarios live: 1) no file → prints warning, data = []; 2) valid file → loads; 3) corrupt file → "corrupted".</a:t>
            </a:r>
          </a:p>
          <a:p>
            <a:r>
              <a:t>- Mention: full exceptions course comes next session — today we just need FileNotFoundError + JSONDecodeError.</a:t>
            </a:r>
          </a:p>
          <a:p>
            <a:r>
              <a:t>- Arabic tip: «شبكة الأمان» (safety net) — that's what try/except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**Practical persistence — 7 min.**</a:t>
            </a:r>
          </a:p>
          <a:p/>
          <a:p>
            <a:r>
              <a:t>- Framing: "every game you've played does exactly this on the save button."</a:t>
            </a:r>
          </a:p>
          <a:p>
            <a:r>
              <a:t>- Walk save_score/load_score: save always overwrites, load uses fail-safe with a default score of 0.</a:t>
            </a:r>
          </a:p>
          <a:p>
            <a:r>
              <a:t>- Extend idea: settings files (theme, volume, language) are the same pattern.</a:t>
            </a:r>
          </a:p>
          <a:p>
            <a:r>
              <a:t>- Arabic tip: «احفظ الحالة» (save the state) — the phrase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**Predict output #2 — 3 min.**</a:t>
            </a:r>
          </a:p>
          <a:p/>
          <a:p>
            <a:r>
              <a:t>- level loaded as int → 12*2 = 24, printed after "Nour".</a:t>
            </a:r>
          </a:p>
          <a:p>
            <a:r>
              <a:t>- hp 80 &gt; 50 → "Healthy!" printed too.</a:t>
            </a:r>
          </a:p>
          <a:p>
            <a:r>
              <a:t>- Trap: students may print the level as a string ("1212") if they forget JSON converts numbers properly.</a:t>
            </a:r>
          </a:p>
          <a:p>
            <a:r>
              <a:t>- Arabic tip: «الأرقام تبقى أرقاماً» (numbers stay numbers) after json.load.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**Live coding 2 — 15 min.** Build the expense tracker step by step; students type along.</a:t>
            </a:r>
          </a:p>
          <a:p/>
          <a:p>
            <a:r>
              <a:t>1. Start with imports + empty list. Ask: where do previous expenses come from? → the JSON file.</a:t>
            </a:r>
          </a:p>
          <a:p>
            <a:r>
              <a:t>2. Add the fail-safe load (reuse from slide 35).</a:t>
            </a:r>
          </a:p>
          <a:p>
            <a:r>
              <a:t>3. Loop with input; add `float()` conversion — warn: typing text crashes, we accept that for now.</a:t>
            </a:r>
          </a:p>
          <a:p>
            <a:r>
              <a:t>4. Append a dict per expense.</a:t>
            </a:r>
          </a:p>
          <a:p>
            <a:r>
              <a:t>5. Save with dump + indent=2.</a:t>
            </a:r>
          </a:p>
          <a:p>
            <a:r>
              <a:t>6. Compute total with a generator in sum().</a:t>
            </a:r>
          </a:p>
          <a:p>
            <a:r>
              <a:t>7. Run twice: second run still shows the first session's expenses — prove persistence.</a:t>
            </a:r>
          </a:p>
          <a:p/>
          <a:p>
            <a:r>
              <a:t>Extension: print each expense with an index so they see the loaded data.</a:t>
            </a:r>
          </a:p>
          <a:p>
            <a:r>
              <a:t>Arabic tip: «حمّل · عدّل · احفظ» (load · edit · save) — the three-step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**Project intro — 4 min.**</a:t>
            </a:r>
          </a:p>
          <a:p/>
          <a:p>
            <a:r>
              <a:t>- Set the mission: 20 minutes, build "My Notes" from scratch. They can look at slides 35 &amp; 38 patterns.</a:t>
            </a:r>
          </a:p>
          <a:p>
            <a:r>
              <a:t>- Walk features: add / view / delete by number / exit.</a:t>
            </a:r>
          </a:p>
          <a:p>
            <a:r>
              <a:t>- Show notes.json will be plain text they can inspect — demystify the "file" part.</a:t>
            </a:r>
          </a:p>
          <a:p>
            <a:r>
              <a:t>- Motivate: "This is the same skeleton as real note apps and todo apps."</a:t>
            </a:r>
          </a:p>
          <a:p>
            <a:r>
              <a:t>- Arabic tip: «المشروع يحفظ نفسه» (the project saves itself) — punchline before they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**Project part 1 — 5 min.**</a:t>
            </a:r>
          </a:p>
          <a:p/>
          <a:p>
            <a:r>
              <a:t>- Explain the separation: load_notes/save_notes own ALL file interaction. Adding features later = zero file code.</a:t>
            </a:r>
          </a:p>
          <a:p>
            <a:r>
              <a:t>- Ask: why fail-safe? (first run has no file yet → must not crash).</a:t>
            </a:r>
          </a:p>
          <a:p>
            <a:r>
              <a:t>- Have students run just this part: call load_notes() in the interpreter → []; then save_notes([{"note":"test"}]) and open notes.json.</a:t>
            </a:r>
          </a:p>
          <a:p>
            <a:r>
              <a:t>- Arabic tip: «التخزين في مكان واحد» (storage in one place) — good architecture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**Project part 2 — 8 min.**</a:t>
            </a:r>
          </a:p>
          <a:p/>
          <a:p>
            <a:r>
              <a:t>- This is the menu loop. Emphasize the invariant: any change to the list is followed by save_notes().</a:t>
            </a:r>
          </a:p>
          <a:p>
            <a:r>
              <a:t>- enumerate(notes, 1) gives 1-based numbering for humans; pop uses 0-based index → subtract 1.</a:t>
            </a:r>
          </a:p>
          <a:p>
            <a:r>
              <a:t>- Watch for the off-by-one bug; guard with `0 &lt;= i &lt; len(notes)` before popping.</a:t>
            </a:r>
          </a:p>
          <a:p>
            <a:r>
              <a:t>- Let students run, add 3 notes, exit, re-run → notes persist.</a:t>
            </a:r>
          </a:p>
          <a:p>
            <a:r>
              <a:t>- Arabic tip: «عدّل ثم احفظ فوراً» (edit then save immediately).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**Project output — 4 min.**</a:t>
            </a:r>
          </a:p>
          <a:p/>
          <a:p>
            <a:r>
              <a:t>- Run a student's completed notes.py on the projector. Add notes, view, delete one, exit.</a:t>
            </a:r>
          </a:p>
          <a:p>
            <a:r>
              <a:t>- Open notes.json side-by-side to connect terminal → file.</a:t>
            </a:r>
          </a:p>
          <a:p>
            <a:r>
              <a:t>- Then relaunch: the data survived. Cue the applause — this is the session's payoff.</a:t>
            </a:r>
          </a:p>
          <a:p>
            <a:r>
              <a:t>- Arabic tip: «البيانات نجت من الإغلاق» (data survived closing) — celebrate in Arabic.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**Exercises — 25 min.**</a:t>
            </a:r>
          </a:p>
          <a:p/>
          <a:p>
            <a:r>
              <a:t>Easy solution:</a:t>
            </a:r>
          </a:p>
          <a:p>
            <a:r>
              <a:t>```python</a:t>
            </a:r>
          </a:p>
          <a:p>
            <a:r>
              <a:t>with open("poem.txt") as f:</a:t>
            </a:r>
          </a:p>
          <a:p>
            <a:r>
              <a:t>    lines = f.readlines()</a:t>
            </a:r>
          </a:p>
          <a:p>
            <a:r>
              <a:t>    print("lines:", len(lines))</a:t>
            </a:r>
          </a:p>
          <a:p>
            <a:r>
              <a:t>    print("chars:", sum(len(l) for l in lines))</a:t>
            </a:r>
          </a:p>
          <a:p>
            <a:r>
              <a:t>```</a:t>
            </a:r>
          </a:p>
          <a:p/>
          <a:p>
            <a:r>
              <a:t>Medium solution:</a:t>
            </a:r>
          </a:p>
          <a:p>
            <a:r>
              <a:t>```python</a:t>
            </a:r>
          </a:p>
          <a:p>
            <a:r>
              <a:t>with open("log.txt", "a") as f:</a:t>
            </a:r>
          </a:p>
          <a:p>
            <a:r>
              <a:t>    f.write("line 1\nline 2\nline 3\n")</a:t>
            </a:r>
          </a:p>
          <a:p>
            <a:r>
              <a:t>with open("log.txt") as f:</a:t>
            </a:r>
          </a:p>
          <a:p>
            <a:r>
              <a:t>    print(f.read())</a:t>
            </a:r>
          </a:p>
          <a:p>
            <a:r>
              <a:t>```</a:t>
            </a:r>
          </a:p>
          <a:p/>
          <a:p>
            <a:r>
              <a:t>Challenge: contact book reusing load/save + a loop comparing `c["name"] == search`.</a:t>
            </a:r>
          </a:p>
          <a:p/>
          <a:p>
            <a:r>
              <a:t>Coach around: forgetting `\n`, and FileNotFoundError on first run. Arabic tip: «جرّب ثم أعد المحاولة» (try, then try again).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**Homework — 3 min.**</a:t>
            </a:r>
          </a:p>
          <a:p/>
          <a:p>
            <a:r>
              <a:t>- Clear acceptance criteria: todo.json persists; every change saves; done flag works.</a:t>
            </a:r>
          </a:p>
          <a:p>
            <a:r>
              <a:t>- The CSV bonus is the "real world" task — many will be amazed a Sheet becomes a file.</a:t>
            </a:r>
          </a:p>
          <a:p>
            <a:r>
              <a:t>- Give a starter tip: copy load_notes/save_notes from the project and rename.</a:t>
            </a:r>
          </a:p>
          <a:p>
            <a:r>
              <a:t>- Arabic tip: «قائمة المهام» (to-do list) — assign confidently, it's within their skills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**Final quiz — 5 min.**</a:t>
            </a:r>
          </a:p>
          <a:p/>
          <a:p>
            <a:r>
              <a:t>- Run as a quick-fire: read Q, count to three, students show 1-4 fingers.</a:t>
            </a:r>
          </a:p>
          <a:p>
            <a:r>
              <a:t>- Q1: append = "a". Q2: dump = file (dumpS would be string). Q3: with = auto-close. Q4: readlines = list.</a:t>
            </a:r>
          </a:p>
          <a:p>
            <a:r>
              <a:t>- Review each wrong answer briefly; celebrate perfect scores.</a:t>
            </a:r>
          </a:p>
          <a:p>
            <a:r>
              <a:t>- Arabic tip: «واحد اثنان ثلاثة» countdown with fingers.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**Recap — 3 min.**</a:t>
            </a:r>
          </a:p>
          <a:p/>
          <a:p>
            <a:r>
              <a:t>- Rapid-fire the 10 bullets; students shout the answers before you read them.</a:t>
            </a:r>
          </a:p>
          <a:p>
            <a:r>
              <a:t>- End on the golden pattern — this one sentence is the course's takeaway.</a:t>
            </a:r>
          </a:p>
          <a:p>
            <a:r>
              <a:t>- Arabic tip: «النمط الذهبي» (the golden pattern) — let it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**Bridge — 3 min.**</a:t>
            </a:r>
          </a:p>
          <a:p/>
          <a:p>
            <a:r>
              <a:t>- Sell the next session hard: exceptions = bulletproof code, modules = clean code, pip = the entire internet of libraries.</a:t>
            </a:r>
          </a:p>
          <a:p>
            <a:r>
              <a:t>- Connect: today's JSON work becomes API work next session.</a:t>
            </a:r>
          </a:p>
          <a:p>
            <a:r>
              <a:t>- Ask who's excited to fetch live data — build the anticipation.</a:t>
            </a:r>
          </a:p>
          <a:p>
            <a:r>
              <a:t>- Arabic tip: «سنقرأ بيانات حية من الإنترنت» (we'll read live data from the internet).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**Teaser — 3 min.**</a:t>
            </a:r>
          </a:p>
          <a:p/>
          <a:p>
            <a:r>
              <a:t>- Show the preview: requests.get + .json() — note how familiar json.load feels.</a:t>
            </a:r>
          </a:p>
          <a:p>
            <a:r>
              <a:t>- Set expectations: "same data format, now from the whole internet."</a:t>
            </a:r>
          </a:p>
          <a:p>
            <a:r>
              <a:t>- Ask them to dream up apps: weather, movies, stock prices, football stats.</a:t>
            </a:r>
          </a:p>
          <a:p>
            <a:r>
              <a:t>- Arabic tip: «الإنترنت يرسل JSON» (the internet sends JSON) — simple and memorable.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**Closing — 3 min.**</a:t>
            </a:r>
          </a:p>
          <a:p/>
          <a:p>
            <a:r>
              <a:t>- Congratulations + quick emotional beat: "Two hours ago your programs forgot everything. Now they don't."</a:t>
            </a:r>
          </a:p>
          <a:p>
            <a:r>
              <a:t>- Encourage them to actually USE the notes manager all week.</a:t>
            </a:r>
          </a:p>
          <a:p>
            <a:r>
              <a:t>- Preview the wave goodbye to Session 09 and remind them of homework.</a:t>
            </a:r>
          </a:p>
          <a:p>
            <a:r>
              <a:t>- Arabic tip: say «أحسنت» (well done) — a warm close in Arabic.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**Cheat sheet — close of session.**</a:t>
            </a:r>
          </a:p>
          <a:p/>
          <a:p>
            <a:r>
              <a:t>- Encourage screenshotting or saving this slide as a reference while coding.</a:t>
            </a:r>
          </a:p>
          <a:p>
            <a:r>
              <a:t>- Read through once quickly; point at the fail-safe load as "the one you'll paste most."</a:t>
            </a:r>
          </a:p>
          <a:p>
            <a:r>
              <a:t>- Remind: dumps/loads for strings (the s), dump/load for files.</a:t>
            </a:r>
          </a:p>
          <a:p>
            <a:r>
              <a:t>- Arabic tip: «الورقة المرجعية» (the reference sheet) — tell them to keep it handy.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-02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-03-review-mcq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-04-review-mcq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-05-review-mcq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-06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-07-why-persis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-08-ram-vs-d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-09-file-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-10-path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-11-path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-12-open-fun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-13-open-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-14-read-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-15-read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-16-predict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-17-read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-18-write-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-19-write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-20-append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-21-append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-22-with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-23-with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-24-with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-25-live-codin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-26-csv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-27-csv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-28-json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-29-json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-30-json-dumps-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-31-json-dump-load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-32-json-mc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-33-structured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-34-error-hand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-35-error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-36-practical-persis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-37-predict-outpu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-38-live-coding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-39-project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-40-project-co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-41-project-co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-42-project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-43-exerc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-44-ho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-45-final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-46-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-47-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-48-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-49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-50-cheat-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