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**Welcome / hook (2 min):** "Up until now you've been writing *scripts* — today you learn to build *software*. Everything that matters in Python — pandas, Django, pygame — is built from classes."</a:t>
            </a:r>
          </a:p>
          <a:p/>
          <a:p>
            <a:r>
              <a:t>- Say the arc out loud: 3 hours = ~1h theory, ~1h live project (PyBank), ~1h practice + quiz.</a:t>
            </a:r>
          </a:p>
          <a:p>
            <a:r>
              <a:t>- Big energy moment: this is the session where they "level up" from functions to objects.</a:t>
            </a:r>
          </a:p>
          <a:p>
            <a:r>
              <a:t>- Arabic tip: the term is «البرمجة الشيئية» (or الكائنية); tell them to remember "صنف/كائن" = class/object — we will use them constantly.</a:t>
            </a:r>
          </a:p>
          <a:p>
            <a:r>
              <a:t>- Optional: poll the room — who has heard of OOP before? Who has ever used `class`?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**Teaching script:** Walk the code line by line. The bug is *structural*: `students` and `grades` must stay perfectly aligned, but nothing enforces it.</a:t>
            </a:r>
          </a:p>
          <a:p/>
          <a:p>
            <a:r>
              <a:t>- Ask: "What happens if someone sorts `students` alphabetically but forgets `grades`? 💥"</a:t>
            </a:r>
          </a:p>
          <a:p>
            <a:r>
              <a:t>- Ask: "What if Sara changes her name? We'd need to update every list."</a:t>
            </a:r>
          </a:p>
          <a:p>
            <a:r>
              <a:t>- Foreshadow: "A class puts Sara — her name, her grades, and her average() — in one box that can't drift apart."</a:t>
            </a:r>
          </a:p>
          <a:p>
            <a:r>
              <a:t>- Arabic tip: «كل شيء عن الطالبة في مكان واحد» — this is the *spirit* of OOP.</a:t>
            </a:r>
          </a:p>
          <a:p>
            <a:r>
              <a:t>- Transition: "Let's see why OOP was invented at all."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 B — `git add main.py`.** `add` puts changes into the staging area; `commit` snapshots them; `push` uploads; `status` only shows state.</a:t>
            </a:r>
          </a:p>
          <a:p/>
          <a:p>
            <a:r>
              <a:t>- Recap the pipeline on the board: **working dir → `git add` → staging → `git commit` → local → `git push` → remote**.</a:t>
            </a:r>
          </a:p>
          <a:p>
            <a:r>
              <a:t>- Common confusion: students try to `commit` directly. Remind them: commit only commits *staged* changes.</a:t>
            </a:r>
          </a:p>
          <a:p>
            <a:r>
              <a:t>- Tip: `git add .` stages everything; `git add main.py` stages one file.</a:t>
            </a:r>
          </a:p>
          <a:p>
            <a:r>
              <a:t>- Arabic tip: «المرحلة» = staging area — like a shopping cart before checkout.</a:t>
            </a:r>
          </a:p>
          <a:p>
            <a:r>
              <a:t>- Move on: "You remember Git — we'll use it in homework to ship the Library project."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 B — `-m` = message.** Every commit needs a message explaining *what* changed (and ideally *why*).</a:t>
            </a:r>
          </a:p>
          <a:p/>
          <a:p>
            <a:r>
              <a:t>- Demo: run `git commit` without `-m` → it opens an editor (confusing for beginners!). `-m` keeps it one-liner friendly.</a:t>
            </a:r>
          </a:p>
          <a:p>
            <a:r>
              <a:t>- Best practice: short, imperative message: `git commit -m "fix login bug"`.</a:t>
            </a:r>
          </a:p>
          <a:p>
            <a:r>
              <a:t>- Arabic tip: «رسالة الـ commit» — اكتبها واضحة حتى يفهمها فريقك لاحقًا.</a:t>
            </a:r>
          </a:p>
          <a:p>
            <a:r>
              <a:t>- Bridge: "Next one — staying in sync with teammates."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 A — `git pull`.** `pull` downloads remote changes (fetch) and merges them into your branch. `push` is the opposite direction.</a:t>
            </a:r>
          </a:p>
          <a:p/>
          <a:p>
            <a:r>
              <a:t>- Memory hook: **push = upload, pull = download.**</a:t>
            </a:r>
          </a:p>
          <a:p>
            <a:r>
              <a:t>- `git log --oneline` only *reads* history — it never changes your files.</a:t>
            </a:r>
          </a:p>
          <a:p>
            <a:r>
              <a:t>- Warn them: pull before you start working each day to avoid merge conflicts.</a:t>
            </a:r>
          </a:p>
          <a:p>
            <a:r>
              <a:t>- Arabic tip: «الدفع» push و«السحب» pull — تذكّر: الدفع يرسل، والسحب يستلم.</a:t>
            </a:r>
          </a:p>
          <a:p>
            <a:r>
              <a:t>- Transition to today: "Git is your safety net for the Library homework. Now — objects."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**Orientation slide.** Read the roadmap out loud so students can track where they are.</a:t>
            </a:r>
          </a:p>
          <a:p/>
          <a:p>
            <a:r>
              <a:t>- Promise them: "By the end, you'll build two apps and understand 90% of how big Python projects are structured."</a:t>
            </a:r>
          </a:p>
          <a:p>
            <a:r>
              <a:t>- Note the arc: first 5 stops are vocabulary, next 3 are the big principles (encapsulation, inheritance, polymorphism), then we refactor, then we build.</a:t>
            </a:r>
          </a:p>
          <a:p>
            <a:r>
              <a:t>- Arabic tip: «المحطة» = station — we stop at each one today.</a:t>
            </a:r>
          </a:p>
          <a:p>
            <a:r>
              <a:t>- Keep this slide under 1 minute — it's a map, not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**Core idea of the session.** OOP exists because real things bundle data AND behavior.</a:t>
            </a:r>
          </a:p>
          <a:p/>
          <a:p>
            <a:r>
              <a:t>- Analogy: a dog isn't just "a name" in one list and "bark" in another file. The dog is the name + the bark together.</a:t>
            </a:r>
          </a:p>
          <a:p>
            <a:r>
              <a:t>- Contrast with what they know: procedural code = data in variables, behavior in functions, connected by *convention* (you must remember which function edits which list). OOP = the connection is structural.</a:t>
            </a:r>
          </a:p>
          <a:p>
            <a:r>
              <a:t>- History note (30s): OOP grew out of simulation projects in the 60s (Simula) — modeling real-world entities.</a:t>
            </a:r>
          </a:p>
          <a:p>
            <a:r>
              <a:t>- Arabic tip: «البيانات والسلوك في صندوق واحد» = data and behavior in one box.</a:t>
            </a:r>
          </a:p>
          <a:p>
            <a:r>
              <a:t>- Ask: "Can you think of a program that models things with state?" (bank, game player, library book).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**Pattern-spotting slide.** Every real object has *attributes* (nouns — data) and *methods* (verbs — behavior).</a:t>
            </a:r>
          </a:p>
          <a:p/>
          <a:p>
            <a:r>
              <a:t>- Have the class shout examples: "A car! A book! A pizza! A student!" then pick one and enumerate its attributes + methods together.</a:t>
            </a:r>
          </a:p>
          <a:p>
            <a:r>
              <a:t>- This slide plants the vocabulary: **attribute = property/خاصية**, **method = behavior/سلوك**.</a:t>
            </a:r>
          </a:p>
          <a:p>
            <a:r>
              <a:t>- Rule of thumb they'll reuse: "If you can describe it with adjectives → attribute. If it's something it does → method."</a:t>
            </a:r>
          </a:p>
          <a:p>
            <a:r>
              <a:t>- Arabic tip: الخصائص (attributes) نتعامل معها كصفات، والسلوك (methods) كأفعال.</a:t>
            </a:r>
          </a:p>
          <a:p>
            <a:r>
              <a:t>- Transition: "Great — now the two words that unlock all of this: class vs object."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**The single most important distinction of the session: class vs object.**</a:t>
            </a:r>
          </a:p>
          <a:p/>
          <a:p>
            <a:r>
              <a:t>- Cookie cutter analogy works well — the cutter is the class, each cookie is an object. Same shape, different cookies.</a:t>
            </a:r>
          </a:p>
          <a:p>
            <a:r>
              <a:t>- Alternate analogies: house blueprint vs the houses; car design vs the cars on the road; game character template vs the actual character you control.</a:t>
            </a:r>
          </a:p>
          <a:p>
            <a:r>
              <a:t>- Key sentence to memorize: "A class is a blueprint; an object is something built from it."</a:t>
            </a:r>
          </a:p>
          <a:p>
            <a:r>
              <a:t>- Arabic tip: «الصنف = المخطط، الكائن = الناتج» — repeat it aloud.</a:t>
            </a:r>
          </a:p>
          <a:p>
            <a:r>
              <a:t>- Check for understanding before moving on — everything else builds on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 B — class / object.**</a:t>
            </a:r>
          </a:p>
          <a:p/>
          <a:p>
            <a:r>
              <a:t>- `class Dog:` is the blueprint (the cutter). `rex = Dog()` calls the class to build an actual instance in memory.</a:t>
            </a:r>
          </a:p>
          <a:p>
            <a:r>
              <a:t>- Reinforce: `Dog()` is a *constructor call* — it looks like calling a function, but it builds an object.</a:t>
            </a:r>
          </a:p>
          <a:p>
            <a:r>
              <a:t>- Quick follow-up question for the room: "If I make 3 dogs, how many objects exist? How many classes?" → 3 objects, 1 class.</a:t>
            </a:r>
          </a:p>
          <a:p>
            <a:r>
              <a:t>- Arabic tip: «الصنف واحد، والكائنات كثيرة» = one class, many objects.</a:t>
            </a:r>
          </a:p>
          <a:p>
            <a:r>
              <a:t>- If many students miss it, re-run the cookie analogy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**First code slide — have students type along.**</a:t>
            </a:r>
          </a:p>
          <a:p/>
          <a:p>
            <a:r>
              <a:t>- Steps: create `dog_001.py`, write the class, run it, see the `` output. Explain the memory address in the repr is just Python's internal id.</a:t>
            </a:r>
          </a:p>
          <a:p>
            <a:r>
              <a:t>- `pass` = valid empty body. Why? Python requires indented content after `:` — `pass` is a no-op placeholder.</a:t>
            </a:r>
          </a:p>
          <a:p>
            <a:r>
              <a:t>- Naming rule: classes use **PascalCase** (`MyClass`, `DogHouse`), variables/functions use snake_case (`my_class`).</a:t>
            </a:r>
          </a:p>
          <a:p>
            <a:r>
              <a:t>- Each `Dog()` call makes a *distinct* object: `rex is not bella` → `True`. Demo that live.</a:t>
            </a:r>
          </a:p>
          <a:p>
            <a:r>
              <a:t>- Arabic tip: اسم الصنف يبدأ بحرف كبير دائمًا — «قاعدة التسمية» بالـ PascalCase.</a:t>
            </a:r>
          </a:p>
          <a:p>
            <a:r>
              <a:t>- Common mistake to flag: naming a class with lowercase (works, but breaks convention).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**Live demo.** Type this together. Emphasize that `__init__` is called automatically.</a:t>
            </a:r>
          </a:p>
          <a:p/>
          <a:p>
            <a:r>
              <a:t>- Trace it: `Dog("Rex", 3)` → Python allocates an object, then calls `__init__(self, "Rex", 3)` where self is the new object.</a:t>
            </a:r>
          </a:p>
          <a:p>
            <a:r>
              <a:t>- Then run `Dog("Rex", 3)` with the wrong number of args → TypeError. This is a feature: the blueprint *forces* every dog to have a name and age.</a:t>
            </a:r>
          </a:p>
          <a:p>
            <a:r>
              <a:t>- Vocabulary: "dunder" = double underscore. `__init__` is the most famous dunder.</a:t>
            </a:r>
          </a:p>
          <a:p>
            <a:r>
              <a:t>- Make one object per student name on screen — `Dog("Sara", 17)`, `Dog("Omar", 16)` — to show each object carries its own values.</a:t>
            </a:r>
          </a:p>
          <a:p>
            <a:r>
              <a:t>- Arabic tip: «تهيئة» = initializing; __init__ تعني "أنا أجهز الكائن".</a:t>
            </a:r>
          </a:p>
          <a:p>
            <a:r>
              <a:t>- Common mistake: misspelling it `__init__` → objects get created but never initialized (silent bug!). Show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**Key insight: `self` is not magic — it's just the current object.**</a:t>
            </a:r>
          </a:p>
          <a:p/>
          <a:p>
            <a:r>
              <a:t>- `rex.bark()` is sugar for `Dog.bark(rex)`. Python always passes the object as the first argument automatically.</a:t>
            </a:r>
          </a:p>
          <a:p>
            <a:r>
              <a:t>- `self.name` reads the attribute stored *on that particular object*. Two dogs, two names, same code.</a:t>
            </a:r>
          </a:p>
          <a:p>
            <a:r>
              <a:t>- Arabic tip: «self يعني "أنا"» — الكائن يتحدث عن نفسه.</a:t>
            </a:r>
          </a:p>
          <a:p>
            <a:r>
              <a:t>- Common beginner error: writing `bark()` with no `self` parameter → "takes 0 positional arguments but 1 was given". Fix: add self.</a:t>
            </a:r>
          </a:p>
          <a:p>
            <a:r>
              <a:t>- Optional live trick: rename self to `me` in one class and show it still works (proves it's a convention, not a keyword).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 `5 0`.** c1 and c2 are independent objects — each has its own `count` attribute (each `__init__` ran separately).</a:t>
            </a:r>
          </a:p>
          <a:p/>
          <a:p>
            <a:r>
              <a:t>- Have students vote before revealing: "hands up for 5 5, hands up for 5 0".</a:t>
            </a:r>
          </a:p>
          <a:p>
            <a:r>
              <a:t>- Explain: `c1.count += 5` is exactly like `c1.count = c1.count + 5` — it only touches c1's attribute.</a:t>
            </a:r>
          </a:p>
          <a:p>
            <a:r>
              <a:t>- This is the *state* idea: an object remembers its own data. That's why you don't pass a "counter" parameter around — the object IS the counter.</a:t>
            </a:r>
          </a:p>
          <a:p>
            <a:r>
              <a:t>- Arabic tip: «كل كائن يحمل دولته الخاصة» — each object carries its own state.</a:t>
            </a:r>
          </a:p>
          <a:p>
            <a:r>
              <a:t>- This sets up the mental model for methods that modify an object (deposit/withdraw later).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**Two kinds of attributes — keep them separate.**</a:t>
            </a:r>
          </a:p>
          <a:p/>
          <a:p>
            <a:r>
              <a:t>- Instance attributes (`self.name`) live on the *object*; each object owns its own copy. Set them in `__init__` → every object is born with them.</a:t>
            </a:r>
          </a:p>
          <a:p>
            <a:r>
              <a:t>- Class attributes (defined at class level, no self) are *shared* by every instance — great for constants like `school`, `max_speed`.</a:t>
            </a:r>
          </a:p>
          <a:p>
            <a:r>
              <a:t>- Reading `s1.school` when it's a class attribute works via the class. But beware: **assigning** `s1.school = "X"` creates a NEW instance attribute and hides the class one (we cover this in common mistakes).</a:t>
            </a:r>
          </a:p>
          <a:p>
            <a:r>
              <a:t>- Arabic tip: «خصائص الكائن» instance vs «خصائص الصنف» class.</a:t>
            </a:r>
          </a:p>
          <a:p>
            <a:r>
              <a:t>- Challenge the class: add `school` as a class attribute, then change `Student.school = "Cairo High"` and show every student updates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**Methods = functions that live inside a class and always take self.**</a:t>
            </a:r>
          </a:p>
          <a:p/>
          <a:p>
            <a:r>
              <a:t>- Point out: `s.add_grade(90)` stores the grade in *s's own* list — no global variable needed. Compare to the messy parallel-list code from the hook slide!</a:t>
            </a:r>
          </a:p>
          <a:p>
            <a:r>
              <a:t>- `average()` computes from self.grades — the object "knows" its own data.</a:t>
            </a:r>
          </a:p>
          <a:p>
            <a:r>
              <a:t>- `__str__`: Python calls it whenever you `print(obj)` or `str(obj)`. It returns the *string representation* for humans.</a:t>
            </a:r>
          </a:p>
          <a:p>
            <a:r>
              <a:t>- Before __str__: `print(s)` shows ``. After: `Student(Lina, 17)`. Demo the before/after live.</a:t>
            </a:r>
          </a:p>
          <a:p>
            <a:r>
              <a:t>- Arabic tip: __str__ = «التمثيل النصي للكائن».</a:t>
            </a:r>
          </a:p>
          <a:p>
            <a:r>
              <a:t>- Extra: `__repr__` exists too but keep it optional — don't overload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**Live-coding session #1 — the instructor writes, students follow in their editors.**</a:t>
            </a:r>
          </a:p>
          <a:p/>
          <a:p>
            <a:r>
              <a:t>Step-by-step delivery (speak while typing):</a:t>
            </a:r>
          </a:p>
          <a:p>
            <a:r>
              <a:t>1. `class Student:` + `pass` → run (empty but valid).</a:t>
            </a:r>
          </a:p>
          <a:p>
            <a:r>
              <a:t>2. Add `__init__(self, name, age)` storing self.name, self.age, and `self.grades = []`.</a:t>
            </a:r>
          </a:p>
          <a:p>
            <a:r>
              <a:t>3. Add `add_grade(self, g)`.</a:t>
            </a:r>
          </a:p>
          <a:p>
            <a:r>
              <a:t>4. Add `average(self)` — guard: `if not self.grades: return 0`.</a:t>
            </a:r>
          </a:p>
          <a:p>
            <a:r>
              <a:t>5. Add `report(self)` returning the f-string. Add `__str__` returning the same.</a:t>
            </a:r>
          </a:p>
          <a:p>
            <a:r>
              <a:t>6. Instantiate `s = Student("Lina", 17)`, add 90 and 80, print `s.report()`.</a:t>
            </a:r>
          </a:p>
          <a:p/>
          <a:p>
            <a:r>
              <a:t>Common live mistakes to model and fix: forgetting self, forgetting `:` after def, spelling `__init__` wrong.</a:t>
            </a:r>
          </a:p>
          <a:p/>
          <a:p>
            <a:r>
              <a:t>At the end ask each student to make *their own* student and print a report — 2 minutes, everyone shows output.</a:t>
            </a:r>
          </a:p>
          <a:p>
            <a:r>
              <a:t>Arabic tip: «صمّم ثم نفّذ» — design before you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**Encapsulation = bundling data + the code that safely operates on it, hiding the internals.**</a:t>
            </a:r>
          </a:p>
          <a:p/>
          <a:p>
            <a:r>
              <a:t>- Walk the code: `_balance` starts with underscore → Python convention for "internal". Not enforced, but respected by the community.</a:t>
            </a:r>
          </a:p>
          <a:p>
            <a:r>
              <a:t>- The real protection is that `deposit`/`withdraw` *validate*. Direct access `acc._balance = -500` bypasses rules — which is exactly why we hide it.</a:t>
            </a:r>
          </a:p>
          <a:p>
            <a:r>
              <a:t>- Demo live: try `acc.withdraw(1000)` → nothing happens (balance can't go negative). Then show `acc._balance` is still accessible but "you shouldn't".</a:t>
            </a:r>
          </a:p>
          <a:p>
            <a:r>
              <a:t>- ATM analogy lands well with 15-22 year olds.</a:t>
            </a:r>
          </a:p>
          <a:p>
            <a:r>
              <a:t>- Arabic tip: «التغليف» = encapsulation — إخفاء الداخل، وإظهار زر واحد فقط.</a:t>
            </a:r>
          </a:p>
          <a:p>
            <a:r>
              <a:t>- Next slide: the professional way to expose `balance` —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**Properties = methods that pretend to be plain attributes.**</a:t>
            </a:r>
          </a:p>
          <a:p/>
          <a:p>
            <a:r>
              <a:t>- Show getter + setter. `@property` on the getter; `@x.setter` on the setter. Callers keep using `acc.balance` on both sides.</a:t>
            </a:r>
          </a:p>
          <a:p>
            <a:r>
              <a:t>- Demo the guard: `acc.balance = -5` → the setter runs, raises ValueError. Show the red traceback on purpose (it's a good thing!).</a:t>
            </a:r>
          </a:p>
          <a:p>
            <a:r>
              <a:t>- This is the "professional" form of encapsulation vs the simple underscore convention on the previous slide.</a:t>
            </a:r>
          </a:p>
          <a:p>
            <a:r>
              <a:t>- Don't over-explain — this is a "nice to know" they'll meet in real codebases. If time is short, say: "properties let you add rules to attributes without changing how code uses them."</a:t>
            </a:r>
          </a:p>
          <a:p>
            <a:r>
              <a:t>- Arabic tip: property = «خاصية» تُدار عبر دوال.</a:t>
            </a:r>
          </a:p>
          <a:p>
            <a:r>
              <a:t>- Common trap: getter/setter name must match (`balance`), internal is `_balance`.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 B — go through the setter / a validating method.**</a:t>
            </a:r>
          </a:p>
          <a:p/>
          <a:p>
            <a:r>
              <a:t>- A is unsafe: direct assignment skips validation (negative balance becomes possible).</a:t>
            </a:r>
          </a:p>
          <a:p>
            <a:r>
              <a:t>- D is just *reading* (and touching internals) — not changing.</a:t>
            </a:r>
          </a:p>
          <a:p>
            <a:r>
              <a:t>- Recap the "ATM" idea: the buttons (methods/setters) are the safe interface; the vault (internals) stays hidden.</a:t>
            </a:r>
          </a:p>
          <a:p>
            <a:r>
              <a:t>- Ask a follow-up: "What should `withdraw` do if amount &gt; balance?" → reject/return False (we'll see this pattern in the project).</a:t>
            </a:r>
          </a:p>
          <a:p>
            <a:r>
              <a:t>- Arabic tip: «غيّر من خلال الدالة لا مباشرة» — change via methods, not directly.</a:t>
            </a:r>
          </a:p>
          <a:p>
            <a:r>
              <a:t>- Transition to the second big principle: inheritance.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**Inheritance = reuse.** The child class (`Dog`) is declared with the parent in parentheses: `class Dog(Animal):` → "Dog IS-A Animal".</a:t>
            </a:r>
          </a:p>
          <a:p/>
          <a:p>
            <a:r>
              <a:t>- Demo live: create `Dog("Rex")` and call inherited behaviors. `rex.name` works even though Dog defines nothing.</a:t>
            </a:r>
          </a:p>
          <a:p>
            <a:r>
              <a:t>- `isinstance(rex, Animal)` → True. Because a Dog *is* an Animal.</a:t>
            </a:r>
          </a:p>
          <a:p>
            <a:r>
              <a:t>- Analogy: family tree / genes. The child inherits traits from the parent, then adds its own.</a:t>
            </a:r>
          </a:p>
          <a:p>
            <a:r>
              <a:t>- Arabic tip: «الابن يرث من الأب» — the child inherits from the parent. Use family-tree language, it maps perfectly.</a:t>
            </a:r>
          </a:p>
          <a:p>
            <a:r>
              <a:t>- This is the foundation for the next three slides: super(), overriding, and polymorphism.</a:t>
            </a:r>
          </a:p>
          <a:p>
            <a:r>
              <a:t>- Emphasize DRY (Don't Repeat Yourself): inheritance exists so you never copy-paste code between similar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 A — `class Dog(Animal):`.** The parent class goes in parentheses after the child's name.</a:t>
            </a:r>
          </a:p>
          <a:p/>
          <a:p>
            <a:r>
              <a:t>- B is wrong (that's for importing modules), C creates an *instance* (not a subclass), D is invalid syntax (def makes functions).</a:t>
            </a:r>
          </a:p>
          <a:p>
            <a:r>
              <a:t>- Point at the diagram from the previous slide: the `(Animal)` is the arrow pointing up to the parent.</a:t>
            </a:r>
          </a:p>
          <a:p>
            <a:r>
              <a:t>- Drill the phrasing: "Dog IS-A Animal" → name in parens.</a:t>
            </a:r>
          </a:p>
          <a:p>
            <a:r>
              <a:t>- Arabic tip: «الصنف الابن يكتب اسم الأب بين قوسين» — child class writes the parent's name in parens.</a:t>
            </a:r>
          </a:p>
          <a:p>
            <a:r>
              <a:t>- Quick oral drill: "How would you make `SavingsAccount` inherit from `Account`?" → `class SavingsAccount(Account):`.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**super() = "the parent".**</a:t>
            </a:r>
          </a:p>
          <a:p/>
          <a:p>
            <a:r>
              <a:t>- When the child overrides `__init__` (defines its own), the parent's `__init__` does NOT run automatically. `super().__init__(name)` calls it explicitly.</a:t>
            </a:r>
          </a:p>
          <a:p>
            <a:r>
              <a:t>- Trace the flow: `Dog("Rex", "Husky")` → Dog's `__init__` → super().__init__ sets self.name → then self.breed is set.</a:t>
            </a:r>
          </a:p>
          <a:p>
            <a:r>
              <a:t>- If you forget super(): `rex.name` → AttributeError. This is mistake #3 on the common-mistakes slide — flag it now.</a:t>
            </a:r>
          </a:p>
          <a:p>
            <a:r>
              <a:t>- Analogy: "You do everything your parents taught you, then add your own skills." In Arabic: «أكمل ما بدأه الأب ثم أضف إضافاتك».</a:t>
            </a:r>
          </a:p>
          <a:p>
            <a:r>
              <a:t>- Show that super() also works in other methods: `super().some_method()`.</a:t>
            </a:r>
          </a:p>
          <a:p>
            <a:r>
              <a:t>- Practice: have them write `class Cat(Animal)` with a `lives=9` attribute using super().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**Overriding = redefining an inherited method in the child.**</a:t>
            </a:r>
          </a:p>
          <a:p/>
          <a:p>
            <a:r>
              <a:t>- Each child defines its own `speak` — the "..." default is replaced.</a:t>
            </a:r>
          </a:p>
          <a:p>
            <a:r>
              <a:t>- Key point: the *callers* don't change. `pet.speak()` just works and gives the right sound. This is what enables polymorphism (next slides).</a:t>
            </a:r>
          </a:p>
          <a:p>
            <a:r>
              <a:t>- Demo live: run the file, then ask "what if Dog didn't override speak()?" → prints "..." (inherits parent's).</a:t>
            </a:r>
          </a:p>
          <a:p>
            <a:r>
              <a:t>- Combine with super(): show a version where Dog.speak() does `return super().speak() + " Woof!"` to *extend* instead of replace.</a:t>
            </a:r>
          </a:p>
          <a:p>
            <a:r>
              <a:t>- Arabic tip: «التجاوز» = override — الابن يغيّر سلوك الأب.</a:t>
            </a:r>
          </a:p>
          <a:p>
            <a:r>
              <a:t>- Transition: "Now the payoff — same call, different results."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**Answer:**</a:t>
            </a:r>
          </a:p>
          <a:p>
            <a:r>
              <a:t>```</a:t>
            </a:r>
          </a:p>
          <a:p>
            <a:r>
              <a:t>Hello from Animal</a:t>
            </a:r>
          </a:p>
          <a:p>
            <a:r>
              <a:t>Hello from Dog</a:t>
            </a:r>
          </a:p>
          <a:p>
            <a:r>
              <a:t>```</a:t>
            </a:r>
          </a:p>
          <a:p>
            <a:r>
              <a:t>- `a` is an Animal → runs Animal.greet. `d` is a Dog → the *override* runs Dog.greet.</a:t>
            </a:r>
          </a:p>
          <a:p>
            <a:r>
              <a:t>- Reinforce: Python looks up the method on the *object's class first*, then walks up the hierarchy (Dog → Animal → object).</a:t>
            </a:r>
          </a:p>
          <a:p>
            <a:r>
              <a:t>- This is "dynamic dispatch" — but you don't need the jargon; just say "Python checks the child first".</a:t>
            </a:r>
          </a:p>
          <a:p>
            <a:r>
              <a:t>- Ask a student to explain WHY before revealing. Reward a clear explanation.</a:t>
            </a:r>
          </a:p>
          <a:p>
            <a:r>
              <a:t>- Arabic tip: «بايثون يبحث في الابن قبل الأب» — Python checks the child before the parent.</a:t>
            </a:r>
          </a:p>
          <a:p>
            <a:r>
              <a:t>- This directly powers the polymorphism slide coming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**Polymorphism = "many forms".** The same method name behaves differently depending on the object it's called on.</a:t>
            </a:r>
          </a:p>
          <a:p/>
          <a:p>
            <a:r>
              <a:t>- The magic: the loop is generic. It can handle any future animal you add (a `Duck`, a `Pig`) without changing the loop.</a:t>
            </a:r>
          </a:p>
          <a:p>
            <a:r>
              <a:t>- This is the biggest practical benefit of inheritance + overriding together.</a:t>
            </a:r>
          </a:p>
          <a:p>
            <a:r>
              <a:t>- Demo live: add a `class Duck(Animal)` with `speak()` returning "Quack!" — add it to zoo, nothing else changes, output just works.</a:t>
            </a:r>
          </a:p>
          <a:p>
            <a:r>
              <a:t>- Word origin (quick, fun): poly = many, morph = form.</a:t>
            </a:r>
          </a:p>
          <a:p>
            <a:r>
              <a:t>- Arabic tip: «تعدد الأشكال» = polymorphism — اسمٌ واحد، أشكالٌ متعددة.</a:t>
            </a:r>
          </a:p>
          <a:p>
            <a:r>
              <a:t>- This "program to the interface, not the implementation" idea is what they'll see in every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 B — polymorphism.** Same method call, object-specific behavior.</a:t>
            </a:r>
          </a:p>
          <a:p/>
          <a:p>
            <a:r>
              <a:t>- Reinforce with the phrase: "the caller writes the call once; each object decides what it means."</a:t>
            </a:r>
          </a:p>
          <a:p>
            <a:r>
              <a:t>- Contrast with A (composition = has-a, next slide) and C (recursion = a function calling itself).</a:t>
            </a:r>
          </a:p>
          <a:p>
            <a:r>
              <a:t>- Quick memory hook: «نفس الكلمة، نطق مختلف» — same word, different pronunciation.</a:t>
            </a:r>
          </a:p>
          <a:p>
            <a:r>
              <a:t>- If time allows, extend the zoo with a `Duck` and show nothing else changes — the strongest proof of polymorphism.</a:t>
            </a:r>
          </a:p>
          <a:p>
            <a:r>
              <a:t>- Keep moving — composition is next, then the big design-practice section (when to use OOP, refactoring).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**Composition = building objects out of other objects.**</a:t>
            </a:r>
          </a:p>
          <a:p/>
          <a:p>
            <a:r>
              <a:t>- Compare with inheritance: IS-A vs HAS-A. "Is a Dog an Animal?" yes → inheritance. "Does a Car have an Engine?" yes → composition.</a:t>
            </a:r>
          </a:p>
          <a:p>
            <a:r>
              <a:t>- Rule of thumb: prefer composition for *parts*, inheritance for *kinds*.</a:t>
            </a:r>
          </a:p>
          <a:p>
            <a:r>
              <a:t>- The code shows `self.engine = Engine(150)` — the Car contains an Engine object, and you navigate with `car.engine.power`.</a:t>
            </a:r>
          </a:p>
          <a:p>
            <a:r>
              <a:t>- Real examples in their world: a Student HAS courses (a list of Course objects); a Library HAS books; a Game HAS players.</a:t>
            </a:r>
          </a:p>
          <a:p>
            <a:r>
              <a:t>- Arabic tip: «الوراثة = هو/هي، التركيب = يحتوي» — inheritance = is-a, composition = has-a.</a:t>
            </a:r>
          </a:p>
          <a:p>
            <a:r>
              <a:t>- This is a preview: the School System live-coding (slides 47-48) and the homework Library are both composition-heavy.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**Engineering judgement.** OOP isn't "always" — it's *when state + behavior belong together*.</a:t>
            </a:r>
          </a:p>
          <a:p/>
          <a:p>
            <a:r>
              <a:t>- Fight the misconception that "OOP = good code". A tiny script with classes is over-engineering; a big app without classes is spaghetti.</a:t>
            </a:r>
          </a:p>
          <a:p>
            <a:r>
              <a:t>- The skill is recognizing when to *introduce* classes. Rule of thumb: "when you find yourself keeping parallel lists in sync, or passing the same 4 values everywhere — that's when a class is calling."</a:t>
            </a:r>
          </a:p>
          <a:p>
            <a:r>
              <a:t>- Practical guidance for their level: start procedural, and when it gets messy → refactor into classes (next slide).</a:t>
            </a:r>
          </a:p>
          <a:p>
            <a:r>
              <a:t>- Arabic tip: «الأداة المناسبة للعمل» — the right tool for the job.</a:t>
            </a:r>
          </a:p>
          <a:p>
            <a:r>
              <a:t>- Reassure: this judgment comes with practice; the homework forces you to make this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**Walk each trap live — show the error, then fix it. These are the top mistakes you'll see in this class.**</a:t>
            </a:r>
          </a:p>
          <a:p/>
          <a:p>
            <a:r>
              <a:t>1. Missing self → TypeError. Model fixing it in the editor.</a:t>
            </a:r>
          </a:p>
          <a:p>
            <a:r>
              <a:t>2. Mutable default `grades=[]` → ALL students share ONE list (silent!). Demo: two students, add a grade to s1, s2 has it too. Fix with None.</a:t>
            </a:r>
          </a:p>
          <a:p>
            <a:r>
              <a:t>3. Forgetting super() → AttributeError on `name`. Demo creating a Dog and touching rex.name.</a:t>
            </a:r>
          </a:p>
          <a:p>
            <a:r>
              <a:t>4. `s1.school = "X"` creates an instance attribute; `Student.school` still "Neon High". Demo the confusion.</a:t>
            </a:r>
          </a:p>
          <a:p/>
          <a:p>
            <a:r>
              <a:t>Arabic tip: «أربع حفر مشهورة» — four famous pitfalls.</a:t>
            </a:r>
          </a:p>
          <a:p>
            <a:r>
              <a:t>Time check: this is a good spot for a stretch break. Then refactoring +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**Refactoring = changing structure without changing behavior.**</a:t>
            </a:r>
          </a:p>
          <a:p/>
          <a:p>
            <a:r>
              <a:t>- Walk both panels line by line: the "after" version computes the exact same average, but the data can't drift out of sync anymore.</a:t>
            </a:r>
          </a:p>
          <a:p>
            <a:r>
              <a:t>- This is the answer to the hook slide: this is how you'd actually fix the messy `grades.py` from slide 02.</a:t>
            </a:r>
          </a:p>
          <a:p>
            <a:r>
              <a:t>- Refactoring recipe (write on board):</a:t>
            </a:r>
          </a:p>
          <a:p>
            <a:r>
              <a:t>  1. Find the nouns → classes (Student).</a:t>
            </a:r>
          </a:p>
          <a:p>
            <a:r>
              <a:t>  2. Move each noun's data in (name, grades).</a:t>
            </a:r>
          </a:p>
          <a:p>
            <a:r>
              <a:t>  3. Move each verb in (average).</a:t>
            </a:r>
          </a:p>
          <a:p>
            <a:r>
              <a:t>  4. Run the tests — same output, better code.</a:t>
            </a:r>
          </a:p>
          <a:p>
            <a:r>
              <a:t>- Arabic tip: «إعادة الهيكلة» = refactoring — change the shape, keep the meaning.</a:t>
            </a:r>
          </a:p>
          <a:p>
            <a:r>
              <a:t>- Transition to the project: "Let's do this for real — a whole Bank."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**Project kickoff.** Present the design BEFORE any code — this is how real software starts.</a:t>
            </a:r>
          </a:p>
          <a:p/>
          <a:p>
            <a:r>
              <a:t>- Three classes: Account (base), SavingsAccount (child — inheritance), Bank (container — composition).</a:t>
            </a:r>
          </a:p>
          <a:p>
            <a:r>
              <a:t>- Point out we're using EVERYTHING: attributes, methods, property, super(), inheritance.</a:t>
            </a:r>
          </a:p>
          <a:p>
            <a:r>
              <a:t>- Divide into two files like a real project: `bank_1.py` (classes) and `bank_2.py` (the demo).</a:t>
            </a:r>
          </a:p>
          <a:p>
            <a:r>
              <a:t>- Rules for the live build: students type, you type, everyone runs together. Speed = one small step per student.</a:t>
            </a:r>
          </a:p>
          <a:p>
            <a:r>
              <a:t>- Arabic tip: «صمّم المخطط قبل الكود» — draw the plan before coding.</a:t>
            </a:r>
          </a:p>
          <a:p>
            <a:r>
              <a:t>- Get excited: "This is a real mini-application, not a toy."</a:t>
            </a:r>
          </a:p>
          <a:p>
            <a:r>
              <a:t>- Next two slides are the code; third is the output. Keep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**Live-build part 1 — every student types `bank_1.py`.**</a:t>
            </a:r>
          </a:p>
          <a:p/>
          <a:p>
            <a:r>
              <a:t>- Write it line by line, pausing after each method. Ask what each returns.</a:t>
            </a:r>
          </a:p>
          <a:p>
            <a:r>
              <a:t>- `withdraw` returns False when amount &gt; balance → caller can check. This "bool result" pattern is idiomatic.</a:t>
            </a:r>
          </a:p>
          <a:p>
            <a:r>
              <a:t>- Note `@property` here — reading `acc.balance` calls the getter (clean, read-only; no setter needed).</a:t>
            </a:r>
          </a:p>
          <a:p>
            <a:r>
              <a:t>- SavingsAccount: only adds `interest` + `apply_interest`, everything else inherited. Point at super() reuse.</a:t>
            </a:r>
          </a:p>
          <a:p>
            <a:r>
              <a:t>- Test each part as you go: create an account in the interpreter, deposit/withdraw, print balance.</a:t>
            </a:r>
          </a:p>
          <a:p>
            <a:r>
              <a:t>- Arabic tip: «كل سطر نتأكد منه قبل أن نكمل» — verify each step before moving on.</a:t>
            </a:r>
          </a:p>
          <a:p>
            <a:r>
              <a:t>- Don't write `bank_2.py` yet —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**Live-build part 2 — `bank_2.py`.**</a:t>
            </a:r>
          </a:p>
          <a:p/>
          <a:p>
            <a:r>
              <a:t>- `from bank_1 import SavingsAccount` — importing their own module. Both files in the same folder.</a:t>
            </a:r>
          </a:p>
          <a:p>
            <a:r>
              <a:t>- Bank uses composition: `self.accounts = []`, filled by `open_account`.</a:t>
            </a:r>
          </a:p>
          <a:p>
            <a:r>
              <a:t>- Auto-numbering: `len(accounts) + 1001` → 1001, 1002. Small, satisfying trick.</a:t>
            </a:r>
          </a:p>
          <a:p>
            <a:r>
              <a:t>- `find()` demonstrates returning `None` when nothing matches — the caller can test it.</a:t>
            </a:r>
          </a:p>
          <a:p>
            <a:r>
              <a:t>- Pause: **ask the class to predict the output** before running. Sara: 100 + 200 = 300. Omar: 50 − 20 = 30, then +3% → 30.9.</a:t>
            </a:r>
          </a:p>
          <a:p>
            <a:r>
              <a:t>- Run it together. Celebrate the working app 🎉.</a:t>
            </a:r>
          </a:p>
          <a:p>
            <a:r>
              <a:t>- Arabic tip: «توقّع قبل أن تشغّل» — predict before you run.</a:t>
            </a:r>
          </a:p>
          <a:p>
            <a:r>
              <a:t>- This is the payoff slide — save a minute to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**Celebrate the working mini-app — then stretch it.**</a:t>
            </a:r>
          </a:p>
          <a:p/>
          <a:p>
            <a:r>
              <a:t>- Recap the trace: 100+200=300; 50−20=30; 30×0.03=0.9 → 30.9. Their prediction from last slide should match.</a:t>
            </a:r>
          </a:p>
          <a:p>
            <a:r>
              <a:t>- Stretch tasks (2-3 min, pairs): call find(1002), attempt an over-withdrawal, add a `__str__` to Account.</a:t>
            </a:r>
          </a:p>
          <a:p>
            <a:r>
              <a:t>- For over-withdrawal: `withdraw` returns False, balance stays. Great encapsulation demo — the bank "refuses".</a:t>
            </a:r>
          </a:p>
          <a:p>
            <a:r>
              <a:t>- Show the "account" as an object: type(sara), sara is a SavingsAccount.</a:t>
            </a:r>
          </a:p>
          <a:p>
            <a:r>
              <a:t>- Arabic tip: «الآن التطبيق يرفض العمليات غير الصالحة» — the app rejects invalid operations.</a:t>
            </a:r>
          </a:p>
          <a:p>
            <a:r>
              <a:t>- Next: keep the energy — challenges, exercises, homework,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 `Max`.**</a:t>
            </a:r>
          </a:p>
          <a:p/>
          <a:p>
            <a:r>
              <a:t>- `rename(rex, "Max")` passes the *reference* to rex — mutating `dog.name` mutates the actual object, so rex.name becomes "Max".</a:t>
            </a:r>
          </a:p>
          <a:p>
            <a:r>
              <a:t>- Contrast with immutable types: `int`, `str`, `tuple` are copied on assignment; lists/dicts/objects are shared by reference.</a:t>
            </a:r>
          </a:p>
          <a:p>
            <a:r>
              <a:t>- Quick follow-up: "What if rename did `dog = Dog(new_name)` instead?" → that reassigns the local name and the original stays "Rex" (no effect).</a:t>
            </a:r>
          </a:p>
          <a:p>
            <a:r>
              <a:t>- This is an important mental model for the project and for debugging.</a:t>
            </a:r>
          </a:p>
          <a:p>
            <a:r>
              <a:t>- Arabic tip: «الكائنات تُمرَّر بالمرجع» — objects are passed by reference.</a:t>
            </a:r>
          </a:p>
          <a:p>
            <a:r>
              <a:t>- If class is struggling, draw two boxes: local variable vs heap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**10 minutes, individual or pairs.** Everyone starts at C1, then goes as far as possible.</a:t>
            </a:r>
          </a:p>
          <a:p/>
          <a:p>
            <a:r>
              <a:t>- C1 solution: `def __str__(self): return f"{self.name} — {self.age} years"`.</a:t>
            </a:r>
          </a:p>
          <a:p>
            <a:r>
              <a:t>- C2 solution sketch: base sets brand/max_speed; Car adds seats and describe returns f"{brand} car with {seats} seats"; Motorcycle similar. Overriding demo.</a:t>
            </a:r>
          </a:p>
          <a:p>
            <a:r>
              <a:t>- C3 solution sketch: Library holds `self.books = []`; add appends; find_by_title loops and returns book or None (same pattern as Bank.find); show_all loops and prints.</a:t>
            </a:r>
          </a:p>
          <a:p>
            <a:r>
              <a:t>- Circulate and help: the most common blockers are forgetting self, and returning None vs printing.</a:t>
            </a:r>
          </a:p>
          <a:p>
            <a:r>
              <a:t>- Arabic tip: «ابدأ السهل، واصعد» — start easy, climb higher.</a:t>
            </a:r>
          </a:p>
          <a:p>
            <a:r>
              <a:t>- C3 is basically homework preview — completing it = homework half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**15 minutes, silent work, solo first.** Emphasize: think, then code.</a:t>
            </a:r>
          </a:p>
          <a:p/>
          <a:p>
            <a:r>
              <a:t>- EASY solution: `class Car: def __init__(self, brand, year): self.brand=brand; self.year=year` + `def describe(self): return f"{self.brand} ({self.year})"`.</a:t>
            </a:r>
          </a:p>
          <a:p>
            <a:r>
              <a:t>- MEDIUM: reuse the Account pattern from the project — validate amount&gt;0 and amount&lt;=balance, return bool.</a:t>
            </a:r>
          </a:p>
          <a:p>
            <a:r>
              <a:t>- CHALLENGE: three classes, composition + inheritance. Students who finish C3 earlier can skip some homework steps.</a:t>
            </a:r>
          </a:p>
          <a:p>
            <a:r>
              <a:t>- Circulate; when several finish, go through one solution at the projector quickly.</a:t>
            </a:r>
          </a:p>
          <a:p>
            <a:r>
              <a:t>- Arabic tip: «التفكير قبل الكتابة» — think before typing.</a:t>
            </a:r>
          </a:p>
          <a:p>
            <a:r>
              <a:t>- These exercises feed directly into the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**Homework = build a Library Manager, ship via Git. Ties the session to last week.**</a:t>
            </a:r>
          </a:p>
          <a:p/>
          <a:p>
            <a:r>
              <a:t>- Go through the tasks; the Library structure mirrors Bank (composition + find returning None).</a:t>
            </a:r>
          </a:p>
          <a:p>
            <a:r>
              <a:t>- Remind them of the review-MCQ answers from the start: add → commit → push.</a:t>
            </a:r>
          </a:p>
          <a:p>
            <a:r>
              <a:t>- Deadline + submission: GitHub repo URL (in the chat / LMS). Monday review.</a:t>
            </a:r>
          </a:p>
          <a:p>
            <a:r>
              <a:t>- Encourage: homework is graded on *working code that runs*, not perfect design. Running &gt; elegant.</a:t>
            </a:r>
          </a:p>
          <a:p>
            <a:r>
              <a:t>- Arabic tip: «أرسل رابط المستودع» — submit the repo link.</a:t>
            </a:r>
          </a:p>
          <a:p>
            <a:r>
              <a:t>- Give the stretch: borrow() with a bool return, and preventing double-borrow.</a:t>
            </a:r>
          </a:p>
          <a:p>
            <a:r>
              <a:t>- Quick check they know where to start: "What class first?" → Book (it's the leaf).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**Answers: Q1 = B (subclass), Q2 = A (private by convention), Q3 = C (polymorphism).**</a:t>
            </a:r>
          </a:p>
          <a:p/>
          <a:p>
            <a:r>
              <a:t>- Give 2 quiet minutes. Then "pair-check" with a neighbor before revealing.</a:t>
            </a:r>
          </a:p>
          <a:p>
            <a:r>
              <a:t>- Q1 trick: "subclass" is the precise word for the child class. Some may pick "instance" — clarify instance = a single object, subclass = the class itself.</a:t>
            </a:r>
          </a:p>
          <a:p>
            <a:r>
              <a:t>- Q2 trick: underscore is a *convention*, not enforced — reinforce that distinction.</a:t>
            </a:r>
          </a:p>
          <a:p>
            <a:r>
              <a:t>- Q3 is the vocabulary of the day — everyone should get it.</a:t>
            </a:r>
          </a:p>
          <a:p>
            <a:r>
              <a:t>- Arabic tip: «الابن = subclass، خاصية داخلية = private» — review the two words.</a:t>
            </a:r>
          </a:p>
          <a:p>
            <a:r>
              <a:t>- Collect mental note of who's shaky; pair strong students with weak ones for the project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**60-second recap — rapid-fire.**</a:t>
            </a:r>
          </a:p>
          <a:p/>
          <a:p>
            <a:r>
              <a:t>- Go card by card, one word each: "class? blueprint. self? the object. Inheritance? reuse. Polymorphism? same call different result."</a:t>
            </a:r>
          </a:p>
          <a:p>
            <a:r>
              <a:t>- Have the class *say* the words back — choral repetition locks vocabulary.</a:t>
            </a:r>
          </a:p>
          <a:p>
            <a:r>
              <a:t>- Point at PyBank as proof: "We built a real app using every single card here."</a:t>
            </a:r>
          </a:p>
          <a:p>
            <a:r>
              <a:t>- Arabic tip: اقرأ البطاقات الأربع بالعربية سريعًا: مخطط، كائن، دالة بناء، الوراثة.</a:t>
            </a:r>
          </a:p>
          <a:p>
            <a:r>
              <a:t>- Timebox strictly: 60-90 seconds max. Then bridge to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**Bridge slide.** Point at the real limitation of what we built today: no persistence.</a:t>
            </a:r>
          </a:p>
          <a:p/>
          <a:p>
            <a:r>
              <a:t>- Recap: Sara and Omar's balances vanish on exit. Real software persists state.</a:t>
            </a:r>
          </a:p>
          <a:p>
            <a:r>
              <a:t>- The SQL snippet is a *taste* — don't teach it now. Just say: "next session you'll save objects to a file-backed database and load them back."</a:t>
            </a:r>
          </a:p>
          <a:p>
            <a:r>
              <a:t>- This connects OOP (their mental model) to databases (where data lives) — objects ↔ rows.</a:t>
            </a:r>
          </a:p>
          <a:p>
            <a:r>
              <a:t>- Arabic tip: «قاعدة البيانات» = database — المكان الذي تبقى فيه الكائنات بعد إغلاق البرنامج.</a:t>
            </a:r>
          </a:p>
          <a:p>
            <a:r>
              <a:t>- Tease the mapping: one object ≈ one row. One class ≈ one table.</a:t>
            </a:r>
          </a:p>
          <a:p>
            <a:r>
              <a:t>- Keep this slide short — the teaser slide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**Teaser — get them excited for next week.** Build anticipation, no teaching.</a:t>
            </a:r>
          </a:p>
          <a:p/>
          <a:p>
            <a:r>
              <a:t>- "Leaderboards, chats, your bank — they all just save objects and reload them."</a:t>
            </a:r>
          </a:p>
          <a:p>
            <a:r>
              <a:t>- Announce the agenda of Session 12 (SQL, persistence, finishing PyBank).</a:t>
            </a:r>
          </a:p>
          <a:p>
            <a:r>
              <a:t>- Tie to today: everything they learned today will be *used* next session — OOP is the mental model; SQL is the storage.</a:t>
            </a:r>
          </a:p>
          <a:p>
            <a:r>
              <a:t>- Arabic tip: «الاستمرارية» = persistence — the data survives.</a:t>
            </a:r>
          </a:p>
          <a:p>
            <a:r>
              <a:t>- End with a rhetorical question: "What would YOU build if your objects could survive a restart?"</a:t>
            </a:r>
          </a:p>
          <a:p>
            <a:r>
              <a:t>- Quick 10-second breather before the 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**Closing slide — big emotional beat.**</a:t>
            </a:r>
          </a:p>
          <a:p/>
          <a:p>
            <a:r>
              <a:t>- Slow down, make eye contact: "Three hours ago 'class' was a keyword you'd never used. Now you've built two apps."</a:t>
            </a:r>
          </a:p>
          <a:p>
            <a:r>
              <a:t>- Recap what they *can do now* — let them hear it as a list of powers, not facts.</a:t>
            </a:r>
          </a:p>
          <a:p>
            <a:r>
              <a:t>- Remind homework + deadline. Mention the repo URL requirement once more.</a:t>
            </a:r>
          </a:p>
          <a:p>
            <a:r>
              <a:t>- End with one line: "Go build something. See you next session." — confident, not cheesy.</a:t>
            </a:r>
          </a:p>
          <a:p>
            <a:r>
              <a:t>- Arabic tip: اختتم بعبارة قصيرة: «ابنِ شيئًا رائعًا».</a:t>
            </a:r>
          </a:p>
          <a:p>
            <a:r>
              <a:t>- After class: collect questions, share slides, point to the cheat-sheet (next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**Cheat sheet — reference slide students keep.**</a:t>
            </a:r>
          </a:p>
          <a:p/>
          <a:p>
            <a:r>
              <a:t>- Read through the 10 numbered lines fast; each maps to a slide from today.</a:t>
            </a:r>
          </a:p>
          <a:p>
            <a:r>
              <a:t>- Point out this exact pattern is what the homework Library looks like.</a:t>
            </a:r>
          </a:p>
          <a:p>
            <a:r>
              <a:t>- Tell them: "When stuck on homework, open this slide." (Share the deck file after class.)</a:t>
            </a:r>
          </a:p>
          <a:p>
            <a:r>
              <a:t>- Arabic tip: «رقم 5: الشرطة السفلية تعني خاصية داخلية» — underscore = internal.</a:t>
            </a:r>
          </a:p>
          <a:p>
            <a:r>
              <a:t>- Closing tip: the fastest way to get better is retyping this whole file from memory.</a:t>
            </a:r>
          </a:p>
          <a:p>
            <a:r>
              <a:t>- Transition: a couple of extra prediction + live-coding slides follow — these are bonus review for fast finishers.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**Answer: `1000`.**</a:t>
            </a:r>
          </a:p>
          <a:p/>
          <a:p>
            <a:r>
              <a:t>- `Savings()` → its own `__init__` runs → `super().__init__(1000)` sets `_balance = 1000` on the parent's behalf.</a:t>
            </a:r>
          </a:p>
          <a:p>
            <a:r>
              <a:t>- `acc.balance` → hits the inherited `@property` getter → returns `_balance` → 1000.</a:t>
            </a:r>
          </a:p>
          <a:p>
            <a:r>
              <a:t>- Three concepts in one output: inheritance, super(), property. That's the whole day in 11 lines.</a:t>
            </a:r>
          </a:p>
          <a:p>
            <a:r>
              <a:t>- If a student predicts an AttributeError, remind them the property is inherited, not lost.</a:t>
            </a:r>
          </a:p>
          <a:p>
            <a:r>
              <a:t>- Arabic tip: «الخاصية والوراثة يعملان معًا» — properties and inheritance work together.</a:t>
            </a:r>
          </a:p>
          <a:p>
            <a:r>
              <a:t>- This is optional/bonus — only run if the class wants one more brain teaser.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**Bonus live-coding — full design-first flow. Repeat the "nouns → verbs" recipe they saw in refactoring.**</a:t>
            </a:r>
          </a:p>
          <a:p/>
          <a:p>
            <a:r>
              <a:t>- Step 1 with the class: shout the nouns of a school system → Course, Student, Teacher, School, Room. Pick three for today.</a:t>
            </a:r>
          </a:p>
          <a:p>
            <a:r>
              <a:t>- Step 2: verbs → enroll, report, add_student.</a:t>
            </a:r>
          </a:p>
          <a:p>
            <a:r>
              <a:t>- Step 3 (next slide): write the three classes and run.</a:t>
            </a:r>
          </a:p>
          <a:p>
            <a:r>
              <a:t>- Composition everywhere: Student HAS courses (list), School HAS students (list). Course is a leaf (data-only).</a:t>
            </a:r>
          </a:p>
          <a:p>
            <a:r>
              <a:t>- Arabic tip: «الأسماء → أصناف، الأفعال → دوال» — nouns → classes, verbs → methods.</a:t>
            </a:r>
          </a:p>
          <a:p>
            <a:r>
              <a:t>- This is fast — 10 minutes total for both slides. It cements the design skill better than anything else.</a:t>
            </a:r>
          </a:p>
          <a:p>
            <a:r>
              <a:t>- If time is short: students write it solo from the design; you demo the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**Write + run the school app live. This mirrors exactly the C3 challenge and homework structure.**</a:t>
            </a:r>
          </a:p>
          <a:p/>
          <a:p>
            <a:r>
              <a:t>- Have students type the whole file, then run together. Celebrate output "Lina, 17 → Python (3 cr)".</a:t>
            </a:r>
          </a:p>
          <a:p>
            <a:r>
              <a:t>- Ask the challenge question: add Omar with two courses — the loop already handles it. Nothing else changes. (That's composition + uniform interface.)</a:t>
            </a:r>
          </a:p>
          <a:p>
            <a:r>
              <a:t>- Point out the "dot chains": `school.students` → objects, `s.courses` → objects, `c.title` → data. Objects containing objects containing data.</a:t>
            </a:r>
          </a:p>
          <a:p>
            <a:r>
              <a:t>- Arabic tip: «كائنات تتحدث مع كائنات» — objects talking to objects.</a:t>
            </a:r>
          </a:p>
          <a:p>
            <a:r>
              <a:t>- Fast finishers: convert Student to inherit from a `Person` base (name, age) — the live demo of inheritance inside composition.</a:t>
            </a:r>
          </a:p>
          <a:p>
            <a:r>
              <a:t>- Wrap: "That's two apps in one session."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**Perspective slide — why this session matters beyond the bootcamp.**</a:t>
            </a:r>
          </a:p>
          <a:p/>
          <a:p>
            <a:r>
              <a:t>- Every example is something they've *already used* (or will soon): pygame sprites, Django models, pandas DataFrame, tkinter widgets. All classes.</a:t>
            </a:r>
          </a:p>
          <a:p>
            <a:r>
              <a:t>- This is the "aha" moment for many: the dot after `df.head()` is exactly `self` in disguise.</a:t>
            </a:r>
          </a:p>
          <a:p>
            <a:r>
              <a:t>- In Arabic: «أصبحت تقرأ سطورًا رأيتها طوال الوقت» — you can now read code you've only used.</a:t>
            </a:r>
          </a:p>
          <a:p>
            <a:r>
              <a:t>- Optional homework link: read the source of one method you love (`list.append` is C, but pandas is Python).</a:t>
            </a:r>
          </a:p>
          <a:p>
            <a:r>
              <a:t>- Keep energy high — one slide left, the full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**Finale — the whole session on one screen. End with confidence, not recap-drag.**</a:t>
            </a:r>
          </a:p>
          <a:p/>
          <a:p>
            <a:r>
              <a:t>- Quickly trace the map: vocabulary → 3 pillars → design → what's next. ~45 seconds.</a:t>
            </a:r>
          </a:p>
          <a:p>
            <a:r>
              <a:t>- Remind homework once more (Library + repo URL), then the send-off.</a:t>
            </a:r>
          </a:p>
          <a:p>
            <a:r>
              <a:t>- Close the room loop: start was "one script too many lists" — end is "two apps + a map". Let them feel the growth.</a:t>
            </a:r>
          </a:p>
          <a:p>
            <a:r>
              <a:t>- Arabic send-off: «أراك في الجلسة القادمة» — see you next session.</a:t>
            </a:r>
          </a:p>
          <a:p>
            <a:r>
              <a:t>- Optional: keep the cheat-sheet (slide 45) visible as a parting screenshot.</a:t>
            </a:r>
          </a:p>
          <a:p>
            <a:r>
              <a:t>- After class: thank them, remind to push homework, share the deck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why-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objects-real-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class-vs-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class-vs-object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creating-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se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predict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attrib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live-codin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encaps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proper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encapsulation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inheri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inheritance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su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method-overri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predict-outpu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polymorph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polymorphism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when-to-use-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common-mista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refactor-proced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project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project-co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project-co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projec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predict-outpu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exerc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final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-46-predict-output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-47-live-codin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-48-live-coding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-49-oop-in-the-w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-50-oop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