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507987" y="254000"/>
            <a:ext cx="10972800" cy="5486400"/>
          </a:xfrm>
          <a:prstGeom prst="rect">
            <a:avLst/>
          </a:prstGeom>
          <a:noFill/>
        </p:spPr>
        <p:txBody>
          <a:bodyPr wrap="square">
            <a:spAutoFit/>
          </a:bodyPr>
          <a:lstStyle/>
          <a:p>
            <a:pPr>
              <a:defRPr sz="900">
                <a:solidFill>
                  <a:srgbClr val="F8FAFC"/>
                </a:solidFill>
                <a:latin typeface="Calibri"/>
              </a:defRPr>
            </a:pPr>
            <a:r>
              <a:t>PYTHON_BOOTCAMP // 2026</a:t>
            </a:r>
          </a:p>
        </p:txBody>
      </p:sp>
      <p:sp>
        <p:nvSpPr>
          <p:cNvPr id="3" name="TextBox 2"/>
          <p:cNvSpPr txBox="1"/>
          <p:nvPr/>
        </p:nvSpPr>
        <p:spPr>
          <a:xfrm>
            <a:off x="507987" y="1397000"/>
            <a:ext cx="10972800" cy="5461000"/>
          </a:xfrm>
          <a:prstGeom prst="rect">
            <a:avLst/>
          </a:prstGeom>
          <a:noFill/>
        </p:spPr>
        <p:txBody>
          <a:bodyPr wrap="square">
            <a:spAutoFit/>
          </a:bodyPr>
          <a:lstStyle/>
          <a:p>
            <a:pPr>
              <a:defRPr sz="900">
                <a:solidFill>
                  <a:srgbClr val="F8FAFC"/>
                </a:solidFill>
                <a:latin typeface="Calibri"/>
              </a:defRPr>
            </a:pPr>
            <a:r>
              <a:t>// SESSION 01 — 3 HOURSHello,Python.</a:t>
            </a:r>
          </a:p>
        </p:txBody>
      </p:sp>
      <p:sp>
        <p:nvSpPr>
          <p:cNvPr id="4" name="TextBox 3"/>
          <p:cNvSpPr txBox="1"/>
          <p:nvPr/>
        </p:nvSpPr>
        <p:spPr>
          <a:xfrm>
            <a:off x="507987" y="4572000"/>
            <a:ext cx="10972800" cy="2286000"/>
          </a:xfrm>
          <a:prstGeom prst="rect">
            <a:avLst/>
          </a:prstGeom>
          <a:noFill/>
        </p:spPr>
        <p:txBody>
          <a:bodyPr wrap="square">
            <a:spAutoFit/>
          </a:bodyPr>
          <a:lstStyle/>
          <a:p>
            <a:pPr>
              <a:defRPr sz="900">
                <a:solidFill>
                  <a:srgbClr val="F8FAFC"/>
                </a:solidFill>
                <a:latin typeface="Calibri"/>
              </a:defRPr>
            </a:pPr>
            <a:r>
              <a:t>Introduction to Programming/Python Basicsمقدمة في البرمجة وأساسيات بايثون</a:t>
            </a:r>
          </a:p>
        </p:txBody>
      </p:sp>
      <p:sp>
        <p:nvSpPr>
          <p:cNvPr id="5" name="TextBox 4"/>
          <p:cNvSpPr txBox="1"/>
          <p:nvPr/>
        </p:nvSpPr>
        <p:spPr>
          <a:xfrm>
            <a:off x="8572285" y="1587500"/>
            <a:ext cx="3619409" cy="5270500"/>
          </a:xfrm>
          <a:prstGeom prst="rect">
            <a:avLst/>
          </a:prstGeom>
          <a:noFill/>
        </p:spPr>
        <p:txBody>
          <a:bodyPr wrap="square">
            <a:spAutoFit/>
          </a:bodyPr>
          <a:lstStyle/>
          <a:p>
            <a:pPr>
              <a:defRPr sz="900">
                <a:solidFill>
                  <a:srgbClr val="F8FAFC"/>
                </a:solidFill>
                <a:latin typeface="Calibri"/>
              </a:defRPr>
            </a:pPr>
            <a:r>
              <a:t>Py</a:t>
            </a:r>
          </a:p>
        </p:txBody>
      </p:sp>
      <p:sp>
        <p:nvSpPr>
          <p:cNvPr id="6" name="TextBox 5"/>
          <p:cNvSpPr txBox="1"/>
          <p:nvPr/>
        </p:nvSpPr>
        <p:spPr>
          <a:xfrm>
            <a:off x="1396965" y="1397000"/>
            <a:ext cx="10794730" cy="5461000"/>
          </a:xfrm>
          <a:prstGeom prst="rect">
            <a:avLst/>
          </a:prstGeom>
          <a:noFill/>
        </p:spPr>
        <p:txBody>
          <a:bodyPr wrap="square">
            <a:spAutoFit/>
          </a:bodyPr>
          <a:lstStyle/>
          <a:p>
            <a:pPr>
              <a:defRPr sz="3000">
                <a:solidFill>
                  <a:srgbClr val="0A0E1A"/>
                </a:solidFill>
                <a:latin typeface="Calibri"/>
              </a:defRPr>
            </a:pPr>
            <a:r>
              <a:t>Py</a:t>
            </a:r>
          </a:p>
        </p:txBody>
      </p:sp>
      <p:sp>
        <p:nvSpPr>
          <p:cNvPr id="7" name="TextBox 6"/>
          <p:cNvSpPr txBox="1"/>
          <p:nvPr/>
        </p:nvSpPr>
        <p:spPr>
          <a:xfrm>
            <a:off x="507987" y="5969000"/>
            <a:ext cx="10972800" cy="889000"/>
          </a:xfrm>
          <a:prstGeom prst="rect">
            <a:avLst/>
          </a:prstGeom>
          <a:noFill/>
        </p:spPr>
        <p:txBody>
          <a:bodyPr wrap="square">
            <a:spAutoFit/>
          </a:bodyPr>
          <a:lstStyle/>
          <a:p>
            <a:pPr>
              <a:defRPr sz="900">
                <a:solidFill>
                  <a:srgbClr val="F8FAFC"/>
                </a:solidFill>
                <a:latin typeface="Calibri"/>
              </a:defRPr>
            </a:pPr>
            <a:r>
              <a:t>BEGINNER FRIENDLYHANDS-ONPROJECT-BASEDAGES 15–22</a:t>
            </a:r>
          </a:p>
        </p:txBody>
      </p:sp>
      <p:sp>
        <p:nvSpPr>
          <p:cNvPr id="8" name="TextBox 7"/>
          <p:cNvSpPr txBox="1"/>
          <p:nvPr/>
        </p:nvSpPr>
        <p:spPr>
          <a:xfrm>
            <a:off x="9905752" y="6350000"/>
            <a:ext cx="2285942" cy="508000"/>
          </a:xfrm>
          <a:prstGeom prst="rect">
            <a:avLst/>
          </a:prstGeom>
          <a:noFill/>
        </p:spPr>
        <p:txBody>
          <a:bodyPr wrap="square">
            <a:spAutoFit/>
          </a:bodyPr>
          <a:lstStyle/>
          <a:p>
            <a:pPr>
              <a:defRPr sz="900">
                <a:solidFill>
                  <a:srgbClr val="F8FAFC"/>
                </a:solidFill>
                <a:latin typeface="Calibri"/>
              </a:defRPr>
            </a:pPr>
            <a:r>
              <a:t>01 / 47</a:t>
            </a:r>
          </a:p>
        </p:txBody>
      </p:sp>
      <p:sp>
        <p:nvSpPr>
          <p:cNvPr id="9" name="TextBox 8"/>
          <p:cNvSpPr txBox="1"/>
          <p:nvPr/>
        </p:nvSpPr>
        <p:spPr>
          <a:xfrm>
            <a:off x="10972800" y="6400800"/>
            <a:ext cx="914400" cy="365760"/>
          </a:xfrm>
          <a:prstGeom prst="rect">
            <a:avLst/>
          </a:prstGeom>
          <a:noFill/>
        </p:spPr>
        <p:txBody>
          <a:bodyPr wrap="none">
            <a:spAutoFit/>
          </a:bodyPr>
          <a:lstStyle/>
          <a:p>
            <a:pPr algn="r">
              <a:defRPr sz="1000">
                <a:solidFill>
                  <a:srgbClr val="94A3B8"/>
                </a:solidFill>
                <a:latin typeface="Consolas"/>
              </a:defRPr>
            </a:pPr>
            <a: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507987" y="254000"/>
            <a:ext cx="10972800" cy="5486400"/>
          </a:xfrm>
          <a:prstGeom prst="rect">
            <a:avLst/>
          </a:prstGeom>
          <a:noFill/>
        </p:spPr>
        <p:txBody>
          <a:bodyPr wrap="square">
            <a:spAutoFit/>
          </a:bodyPr>
          <a:lstStyle/>
          <a:p>
            <a:pPr>
              <a:defRPr sz="900">
                <a:solidFill>
                  <a:srgbClr val="F8FAFC"/>
                </a:solidFill>
                <a:latin typeface="Calibri"/>
              </a:defRPr>
            </a:pPr>
            <a:r>
              <a:t>HOOK // WHY THIS MATTERS</a:t>
            </a:r>
          </a:p>
        </p:txBody>
      </p:sp>
      <p:sp>
        <p:nvSpPr>
          <p:cNvPr id="3" name="TextBox 2"/>
          <p:cNvSpPr txBox="1"/>
          <p:nvPr/>
        </p:nvSpPr>
        <p:spPr>
          <a:xfrm>
            <a:off x="507987" y="1016000"/>
            <a:ext cx="10972800" cy="5486400"/>
          </a:xfrm>
          <a:prstGeom prst="rect">
            <a:avLst/>
          </a:prstGeom>
          <a:noFill/>
        </p:spPr>
        <p:txBody>
          <a:bodyPr wrap="square">
            <a:spAutoFit/>
          </a:bodyPr>
          <a:lstStyle/>
          <a:p>
            <a:pPr>
              <a:defRPr sz="900">
                <a:solidFill>
                  <a:srgbClr val="F8FAFC"/>
                </a:solidFill>
                <a:latin typeface="Calibri"/>
              </a:defRPr>
            </a:pPr>
            <a:r>
              <a:t>// QUESTION 01How does Instagramknowexactlywhichreels to show you?</a:t>
            </a:r>
          </a:p>
        </p:txBody>
      </p:sp>
      <p:sp>
        <p:nvSpPr>
          <p:cNvPr id="4" name="TextBox 3"/>
          <p:cNvSpPr txBox="1"/>
          <p:nvPr/>
        </p:nvSpPr>
        <p:spPr>
          <a:xfrm>
            <a:off x="507987" y="4762500"/>
            <a:ext cx="10972800" cy="2095500"/>
          </a:xfrm>
          <a:prstGeom prst="rect">
            <a:avLst/>
          </a:prstGeom>
          <a:noFill/>
        </p:spPr>
        <p:txBody>
          <a:bodyPr wrap="square">
            <a:spAutoFit/>
          </a:bodyPr>
          <a:lstStyle/>
          <a:p>
            <a:pPr>
              <a:defRPr sz="900">
                <a:solidFill>
                  <a:srgbClr val="F8FAFC"/>
                </a:solidFill>
                <a:latin typeface="Calibri"/>
              </a:defRPr>
            </a:pPr>
            <a:r>
              <a:t>إزاي إنستغرام يعرف بالظبط أنهي ريلز يعرضهم ليك؟</a:t>
            </a:r>
          </a:p>
        </p:txBody>
      </p:sp>
      <p:sp>
        <p:nvSpPr>
          <p:cNvPr id="5" name="TextBox 4"/>
          <p:cNvSpPr txBox="1"/>
          <p:nvPr/>
        </p:nvSpPr>
        <p:spPr>
          <a:xfrm>
            <a:off x="8635784" y="1587500"/>
            <a:ext cx="3555911" cy="5270500"/>
          </a:xfrm>
          <a:prstGeom prst="rect">
            <a:avLst/>
          </a:prstGeom>
          <a:noFill/>
        </p:spPr>
        <p:txBody>
          <a:bodyPr wrap="square">
            <a:spAutoFit/>
          </a:bodyPr>
          <a:lstStyle/>
          <a:p>
            <a:pPr>
              <a:defRPr sz="900">
                <a:solidFill>
                  <a:srgbClr val="F8FAFC"/>
                </a:solidFill>
                <a:latin typeface="Calibri"/>
              </a:defRPr>
            </a:pPr>
            <a:r>
              <a:t>// THE SECRETMillions of lines of code, watching what you like — and predicting what's next.→ what you tap→ how long you watch→ who you follow→ when you scroll away</a:t>
            </a:r>
          </a:p>
        </p:txBody>
      </p:sp>
      <p:sp>
        <p:nvSpPr>
          <p:cNvPr id="6" name="TextBox 5"/>
          <p:cNvSpPr txBox="1"/>
          <p:nvPr/>
        </p:nvSpPr>
        <p:spPr>
          <a:xfrm>
            <a:off x="507987" y="5969000"/>
            <a:ext cx="10972800" cy="889000"/>
          </a:xfrm>
          <a:prstGeom prst="rect">
            <a:avLst/>
          </a:prstGeom>
          <a:noFill/>
        </p:spPr>
        <p:txBody>
          <a:bodyPr wrap="square">
            <a:spAutoFit/>
          </a:bodyPr>
          <a:lstStyle/>
          <a:p>
            <a:pPr>
              <a:defRPr sz="900">
                <a:solidFill>
                  <a:srgbClr val="F8FAFC"/>
                </a:solidFill>
                <a:latin typeface="Calibri"/>
              </a:defRPr>
            </a:pPr>
            <a:r>
              <a:t>Today, you start writing the same kind of code.Really.</a:t>
            </a:r>
          </a:p>
        </p:txBody>
      </p:sp>
      <p:sp>
        <p:nvSpPr>
          <p:cNvPr id="7" name="TextBox 6"/>
          <p:cNvSpPr txBox="1"/>
          <p:nvPr/>
        </p:nvSpPr>
        <p:spPr>
          <a:xfrm>
            <a:off x="10972800" y="6400800"/>
            <a:ext cx="914400" cy="365760"/>
          </a:xfrm>
          <a:prstGeom prst="rect">
            <a:avLst/>
          </a:prstGeom>
          <a:noFill/>
        </p:spPr>
        <p:txBody>
          <a:bodyPr wrap="none">
            <a:spAutoFit/>
          </a:bodyPr>
          <a:lstStyle/>
          <a:p>
            <a:pPr algn="r">
              <a:defRPr sz="1000">
                <a:solidFill>
                  <a:srgbClr val="94A3B8"/>
                </a:solidFill>
                <a:latin typeface="Consolas"/>
              </a:defRPr>
            </a:pPr>
            <a: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507987" y="254000"/>
            <a:ext cx="10972800" cy="5486400"/>
          </a:xfrm>
          <a:prstGeom prst="rect">
            <a:avLst/>
          </a:prstGeom>
          <a:noFill/>
        </p:spPr>
        <p:txBody>
          <a:bodyPr wrap="square">
            <a:spAutoFit/>
          </a:bodyPr>
          <a:lstStyle/>
          <a:p>
            <a:pPr>
              <a:defRPr sz="900">
                <a:solidFill>
                  <a:srgbClr val="F8FAFC"/>
                </a:solidFill>
                <a:latin typeface="Calibri"/>
              </a:defRPr>
            </a:pPr>
            <a:r>
              <a:t>HOOK // MORE QUESTIONS</a:t>
            </a:r>
          </a:p>
        </p:txBody>
      </p:sp>
      <p:sp>
        <p:nvSpPr>
          <p:cNvPr id="3" name="TextBox 2"/>
          <p:cNvSpPr txBox="1"/>
          <p:nvPr/>
        </p:nvSpPr>
        <p:spPr>
          <a:xfrm>
            <a:off x="507987" y="889000"/>
            <a:ext cx="10972800" cy="5486400"/>
          </a:xfrm>
          <a:prstGeom prst="rect">
            <a:avLst/>
          </a:prstGeom>
          <a:noFill/>
        </p:spPr>
        <p:txBody>
          <a:bodyPr wrap="square">
            <a:spAutoFit/>
          </a:bodyPr>
          <a:lstStyle/>
          <a:p>
            <a:pPr>
              <a:defRPr sz="900">
                <a:solidFill>
                  <a:srgbClr val="F8FAFC"/>
                </a:solidFill>
                <a:latin typeface="Calibri"/>
              </a:defRPr>
            </a:pPr>
            <a:r>
              <a:t>Everything you use iscode.كل حاجة بتستخدمها في يومك هي كود</a:t>
            </a:r>
          </a:p>
        </p:txBody>
      </p:sp>
      <p:sp>
        <p:nvSpPr>
          <p:cNvPr id="4" name="TextBox 3"/>
          <p:cNvSpPr txBox="1"/>
          <p:nvPr/>
        </p:nvSpPr>
        <p:spPr>
          <a:xfrm>
            <a:off x="698482" y="2476500"/>
            <a:ext cx="10972800" cy="4381499"/>
          </a:xfrm>
          <a:prstGeom prst="rect">
            <a:avLst/>
          </a:prstGeom>
          <a:noFill/>
        </p:spPr>
        <p:txBody>
          <a:bodyPr wrap="square">
            <a:spAutoFit/>
          </a:bodyPr>
          <a:lstStyle/>
          <a:p>
            <a:pPr>
              <a:defRPr sz="900">
                <a:solidFill>
                  <a:srgbClr val="F8FAFC"/>
                </a:solidFill>
                <a:latin typeface="Calibri"/>
              </a:defRPr>
            </a:pPr>
            <a:r>
              <a:t>// Q2🚗How does Uber calculate the fastest route?</a:t>
            </a:r>
          </a:p>
        </p:txBody>
      </p:sp>
      <p:sp>
        <p:nvSpPr>
          <p:cNvPr id="5" name="TextBox 4"/>
          <p:cNvSpPr txBox="1"/>
          <p:nvPr/>
        </p:nvSpPr>
        <p:spPr>
          <a:xfrm>
            <a:off x="3555911" y="2476500"/>
            <a:ext cx="8635784" cy="4381499"/>
          </a:xfrm>
          <a:prstGeom prst="rect">
            <a:avLst/>
          </a:prstGeom>
          <a:noFill/>
        </p:spPr>
        <p:txBody>
          <a:bodyPr wrap="square">
            <a:spAutoFit/>
          </a:bodyPr>
          <a:lstStyle/>
          <a:p>
            <a:pPr>
              <a:defRPr sz="900">
                <a:solidFill>
                  <a:srgbClr val="F8FAFC"/>
                </a:solidFill>
                <a:latin typeface="Calibri"/>
              </a:defRPr>
            </a:pPr>
            <a:r>
              <a:t>// Q3▶️How does YouTube pick the next video for you?</a:t>
            </a:r>
          </a:p>
        </p:txBody>
      </p:sp>
      <p:sp>
        <p:nvSpPr>
          <p:cNvPr id="6" name="TextBox 5"/>
          <p:cNvSpPr txBox="1"/>
          <p:nvPr/>
        </p:nvSpPr>
        <p:spPr>
          <a:xfrm>
            <a:off x="6413339" y="2476500"/>
            <a:ext cx="5778355" cy="4381499"/>
          </a:xfrm>
          <a:prstGeom prst="rect">
            <a:avLst/>
          </a:prstGeom>
          <a:noFill/>
        </p:spPr>
        <p:txBody>
          <a:bodyPr wrap="square">
            <a:spAutoFit/>
          </a:bodyPr>
          <a:lstStyle/>
          <a:p>
            <a:pPr>
              <a:defRPr sz="900">
                <a:solidFill>
                  <a:srgbClr val="F8FAFC"/>
                </a:solidFill>
                <a:latin typeface="Calibri"/>
              </a:defRPr>
            </a:pPr>
            <a:r>
              <a:t>// Q4🎮How does Fortnite render 100 players in real time?</a:t>
            </a:r>
          </a:p>
        </p:txBody>
      </p:sp>
      <p:sp>
        <p:nvSpPr>
          <p:cNvPr id="7" name="TextBox 6"/>
          <p:cNvSpPr txBox="1"/>
          <p:nvPr/>
        </p:nvSpPr>
        <p:spPr>
          <a:xfrm>
            <a:off x="9270768" y="2476500"/>
            <a:ext cx="2920926" cy="4381499"/>
          </a:xfrm>
          <a:prstGeom prst="rect">
            <a:avLst/>
          </a:prstGeom>
          <a:noFill/>
        </p:spPr>
        <p:txBody>
          <a:bodyPr wrap="square">
            <a:spAutoFit/>
          </a:bodyPr>
          <a:lstStyle/>
          <a:p>
            <a:pPr>
              <a:defRPr sz="900">
                <a:solidFill>
                  <a:srgbClr val="F8FAFC"/>
                </a:solidFill>
                <a:latin typeface="Calibri"/>
              </a:defRPr>
            </a:pPr>
            <a:r>
              <a:t>// Q5🤖How does ChatGPT understand what you type?</a:t>
            </a:r>
          </a:p>
        </p:txBody>
      </p:sp>
      <p:sp>
        <p:nvSpPr>
          <p:cNvPr id="8" name="TextBox 7"/>
          <p:cNvSpPr txBox="1"/>
          <p:nvPr/>
        </p:nvSpPr>
        <p:spPr>
          <a:xfrm>
            <a:off x="761980" y="4953000"/>
            <a:ext cx="10972800" cy="1905000"/>
          </a:xfrm>
          <a:prstGeom prst="rect">
            <a:avLst/>
          </a:prstGeom>
          <a:noFill/>
        </p:spPr>
        <p:txBody>
          <a:bodyPr wrap="square">
            <a:spAutoFit/>
          </a:bodyPr>
          <a:lstStyle/>
          <a:p>
            <a:pPr>
              <a:defRPr sz="900">
                <a:solidFill>
                  <a:srgbClr val="F8FAFC"/>
                </a:solidFill>
                <a:latin typeface="Calibri"/>
              </a:defRPr>
            </a:pPr>
            <a:r>
              <a:t>// THE ANSWER TO ALL OF THEMSomeonewrote codethat told the computer exactly what to do.</a:t>
            </a:r>
          </a:p>
        </p:txBody>
      </p:sp>
      <p:sp>
        <p:nvSpPr>
          <p:cNvPr id="9" name="TextBox 8"/>
          <p:cNvSpPr txBox="1"/>
          <p:nvPr/>
        </p:nvSpPr>
        <p:spPr>
          <a:xfrm>
            <a:off x="10972800" y="6400800"/>
            <a:ext cx="914400" cy="365760"/>
          </a:xfrm>
          <a:prstGeom prst="rect">
            <a:avLst/>
          </a:prstGeom>
          <a:noFill/>
        </p:spPr>
        <p:txBody>
          <a:bodyPr wrap="none">
            <a:spAutoFit/>
          </a:bodyPr>
          <a:lstStyle/>
          <a:p>
            <a:pPr algn="r">
              <a:defRPr sz="1000">
                <a:solidFill>
                  <a:srgbClr val="94A3B8"/>
                </a:solidFill>
                <a:latin typeface="Consolas"/>
              </a:defRPr>
            </a:pPr>
            <a: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91440"/>
            <a:ext cx="10972800" cy="365760"/>
          </a:xfrm>
          <a:prstGeom prst="rect">
            <a:avLst/>
          </a:prstGeom>
          <a:noFill/>
        </p:spPr>
        <p:txBody>
          <a:bodyPr wrap="none">
            <a:spAutoFit/>
          </a:bodyPr>
          <a:lstStyle/>
          <a:p>
            <a:pPr>
              <a:defRPr sz="1200">
                <a:solidFill>
                  <a:srgbClr val="22D3EE"/>
                </a:solidFill>
                <a:latin typeface="Consolas"/>
              </a:defRPr>
            </a:pPr>
            <a:r>
              <a:t>PROMISE // BY 6 PM TODAY</a:t>
            </a:r>
          </a:p>
        </p:txBody>
      </p:sp>
      <p:sp>
        <p:nvSpPr>
          <p:cNvPr id="3" name="TextBox 2"/>
          <p:cNvSpPr txBox="1"/>
          <p:nvPr/>
        </p:nvSpPr>
        <p:spPr>
          <a:xfrm>
            <a:off x="507987" y="1016000"/>
            <a:ext cx="10972800" cy="5486400"/>
          </a:xfrm>
          <a:prstGeom prst="rect">
            <a:avLst/>
          </a:prstGeom>
          <a:noFill/>
        </p:spPr>
        <p:txBody>
          <a:bodyPr wrap="square">
            <a:spAutoFit/>
          </a:bodyPr>
          <a:lstStyle/>
          <a:p>
            <a:pPr>
              <a:defRPr sz="900">
                <a:solidFill>
                  <a:srgbClr val="F8FAFC"/>
                </a:solidFill>
                <a:latin typeface="Calibri"/>
              </a:defRPr>
            </a:pPr>
            <a:r>
              <a:t>By the end of today,you will buildthis→لما تخلص الجلسة النهارده، هتكون كاتب البرنامج ده بإيدك</a:t>
            </a:r>
          </a:p>
        </p:txBody>
      </p:sp>
      <p:sp>
        <p:nvSpPr>
          <p:cNvPr id="4" name="TextBox 3"/>
          <p:cNvSpPr txBox="1"/>
          <p:nvPr/>
        </p:nvSpPr>
        <p:spPr>
          <a:xfrm>
            <a:off x="6667333" y="1397000"/>
            <a:ext cx="5524361" cy="5461000"/>
          </a:xfrm>
          <a:prstGeom prst="rect">
            <a:avLst/>
          </a:prstGeom>
          <a:noFill/>
        </p:spPr>
        <p:txBody>
          <a:bodyPr wrap="square">
            <a:spAutoFit/>
          </a:bodyPr>
          <a:lstStyle/>
          <a:p>
            <a:pPr>
              <a:defRPr sz="900">
                <a:solidFill>
                  <a:srgbClr val="F8FAFC"/>
                </a:solidFill>
                <a:latin typeface="Calibri"/>
              </a:defRPr>
            </a:pPr>
            <a:r>
              <a:t>student_card.py — Terminal</a:t>
            </a:r>
          </a:p>
        </p:txBody>
      </p:sp>
      <p:sp>
        <p:nvSpPr>
          <p:cNvPr id="5" name="TextBox 4"/>
          <p:cNvSpPr txBox="1"/>
          <p:nvPr/>
        </p:nvSpPr>
        <p:spPr>
          <a:xfrm>
            <a:off x="6857828" y="1905000"/>
            <a:ext cx="5333866" cy="4953000"/>
          </a:xfrm>
          <a:prstGeom prst="rect">
            <a:avLst/>
          </a:prstGeom>
          <a:noFill/>
        </p:spPr>
        <p:txBody>
          <a:bodyPr wrap="square">
            <a:spAutoFit/>
          </a:bodyPr>
          <a:lstStyle/>
          <a:p>
            <a:pPr>
              <a:defRPr sz="1600">
                <a:solidFill>
                  <a:srgbClr val="F8FAFC"/>
                </a:solidFill>
                <a:latin typeface="Calibri"/>
              </a:defRPr>
            </a:pPr>
            <a:r>
              <a:t>&gt;python student_card.pyWhat is your name?YousefHow old are you?17Your favorite subject?Physics━━━━━━━━━━━━━━━━━━━━━━━━━━━━🎓 STUDENT CARD 🎓━━━━━━━━━━━━━━━━━━━━━━━━━━━━Name    :YousefAge     :17Subject :PhysicsStatus  :Enrolled✓━━━━━━━━━━━━━━━━━━━━━━━━━━━━&gt;_</a:t>
            </a:r>
          </a:p>
        </p:txBody>
      </p:sp>
      <p:sp>
        <p:nvSpPr>
          <p:cNvPr id="6" name="TextBox 5"/>
          <p:cNvSpPr txBox="1"/>
          <p:nvPr/>
        </p:nvSpPr>
        <p:spPr>
          <a:xfrm>
            <a:off x="507987" y="4572000"/>
            <a:ext cx="10972800" cy="2286000"/>
          </a:xfrm>
          <a:prstGeom prst="rect">
            <a:avLst/>
          </a:prstGeom>
          <a:noFill/>
        </p:spPr>
        <p:txBody>
          <a:bodyPr wrap="square">
            <a:spAutoFit/>
          </a:bodyPr>
          <a:lstStyle/>
          <a:p>
            <a:pPr>
              <a:defRPr sz="900">
                <a:solidFill>
                  <a:srgbClr val="F8FAFC"/>
                </a:solidFill>
                <a:latin typeface="Calibri"/>
              </a:defRPr>
            </a:pPr>
            <a:r>
              <a:t>// YOU'LL USE ALL OF THISprint()input()variablesstringsintegerstype()casting</a:t>
            </a:r>
          </a:p>
        </p:txBody>
      </p:sp>
      <p:sp>
        <p:nvSpPr>
          <p:cNvPr id="7" name="TextBox 6"/>
          <p:cNvSpPr txBox="1"/>
          <p:nvPr/>
        </p:nvSpPr>
        <p:spPr>
          <a:xfrm>
            <a:off x="10972800" y="6400800"/>
            <a:ext cx="914400" cy="365760"/>
          </a:xfrm>
          <a:prstGeom prst="rect">
            <a:avLst/>
          </a:prstGeom>
          <a:noFill/>
        </p:spPr>
        <p:txBody>
          <a:bodyPr wrap="none">
            <a:spAutoFit/>
          </a:bodyPr>
          <a:lstStyle/>
          <a:p>
            <a:pPr algn="r">
              <a:defRPr sz="1000">
                <a:solidFill>
                  <a:srgbClr val="94A3B8"/>
                </a:solidFill>
                <a:latin typeface="Consolas"/>
              </a:defRPr>
            </a:pPr>
            <a: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91440"/>
            <a:ext cx="10972800" cy="365760"/>
          </a:xfrm>
          <a:prstGeom prst="rect">
            <a:avLst/>
          </a:prstGeom>
          <a:noFill/>
        </p:spPr>
        <p:txBody>
          <a:bodyPr wrap="none">
            <a:spAutoFit/>
          </a:bodyPr>
          <a:lstStyle/>
          <a:p>
            <a:pPr>
              <a:defRPr sz="1200">
                <a:solidFill>
                  <a:srgbClr val="22D3EE"/>
                </a:solidFill>
                <a:latin typeface="Consolas"/>
              </a:defRPr>
            </a:pPr>
            <a:r>
              <a:t>SESSION TIMELINE // 3H TOTAL</a:t>
            </a:r>
          </a:p>
        </p:txBody>
      </p:sp>
      <p:sp>
        <p:nvSpPr>
          <p:cNvPr id="3" name="TextBox 2"/>
          <p:cNvSpPr txBox="1"/>
          <p:nvPr/>
        </p:nvSpPr>
        <p:spPr>
          <a:xfrm>
            <a:off x="507987" y="825499"/>
            <a:ext cx="10972800" cy="5486400"/>
          </a:xfrm>
          <a:prstGeom prst="rect">
            <a:avLst/>
          </a:prstGeom>
          <a:noFill/>
        </p:spPr>
        <p:txBody>
          <a:bodyPr wrap="square">
            <a:spAutoFit/>
          </a:bodyPr>
          <a:lstStyle/>
          <a:p>
            <a:pPr>
              <a:defRPr sz="900">
                <a:solidFill>
                  <a:srgbClr val="F8FAFC"/>
                </a:solidFill>
                <a:latin typeface="Calibri"/>
              </a:defRPr>
            </a:pPr>
            <a:r>
              <a:t>Here's the plan.خطة الجلسة — 3 ساعات كاملة</a:t>
            </a:r>
          </a:p>
        </p:txBody>
      </p:sp>
      <p:sp>
        <p:nvSpPr>
          <p:cNvPr id="4" name="TextBox 3"/>
          <p:cNvSpPr txBox="1"/>
          <p:nvPr/>
        </p:nvSpPr>
        <p:spPr>
          <a:xfrm>
            <a:off x="761980" y="1968500"/>
            <a:ext cx="10972800" cy="4889499"/>
          </a:xfrm>
          <a:prstGeom prst="rect">
            <a:avLst/>
          </a:prstGeom>
          <a:noFill/>
        </p:spPr>
        <p:txBody>
          <a:bodyPr wrap="square">
            <a:spAutoFit/>
          </a:bodyPr>
          <a:lstStyle/>
          <a:p>
            <a:pPr>
              <a:defRPr sz="900">
                <a:solidFill>
                  <a:srgbClr val="F8FAFC"/>
                </a:solidFill>
                <a:latin typeface="Calibri"/>
              </a:defRPr>
            </a:pPr>
            <a:r>
              <a:t>00:00 → 00:15Welcome + Hook + PromiseIcebreaker · Big questions · What you'll build today</a:t>
            </a:r>
          </a:p>
        </p:txBody>
      </p:sp>
      <p:sp>
        <p:nvSpPr>
          <p:cNvPr id="5" name="TextBox 4"/>
          <p:cNvSpPr txBox="1"/>
          <p:nvPr/>
        </p:nvSpPr>
        <p:spPr>
          <a:xfrm>
            <a:off x="6476838" y="1968500"/>
            <a:ext cx="5714857" cy="4889499"/>
          </a:xfrm>
          <a:prstGeom prst="rect">
            <a:avLst/>
          </a:prstGeom>
          <a:noFill/>
        </p:spPr>
        <p:txBody>
          <a:bodyPr wrap="square">
            <a:spAutoFit/>
          </a:bodyPr>
          <a:lstStyle/>
          <a:p>
            <a:pPr>
              <a:defRPr sz="900">
                <a:solidFill>
                  <a:srgbClr val="F8FAFC"/>
                </a:solidFill>
                <a:latin typeface="Calibri"/>
              </a:defRPr>
            </a:pPr>
            <a:r>
              <a:t>00:15 → 00:45How Computers Actually WorkHardware vs software · CPU · RAM · Storage · Binary</a:t>
            </a:r>
          </a:p>
        </p:txBody>
      </p:sp>
      <p:sp>
        <p:nvSpPr>
          <p:cNvPr id="6" name="TextBox 5"/>
          <p:cNvSpPr txBox="1"/>
          <p:nvPr/>
        </p:nvSpPr>
        <p:spPr>
          <a:xfrm>
            <a:off x="761980" y="2794000"/>
            <a:ext cx="10972800" cy="4064000"/>
          </a:xfrm>
          <a:prstGeom prst="rect">
            <a:avLst/>
          </a:prstGeom>
          <a:noFill/>
        </p:spPr>
        <p:txBody>
          <a:bodyPr wrap="square">
            <a:spAutoFit/>
          </a:bodyPr>
          <a:lstStyle/>
          <a:p>
            <a:pPr>
              <a:defRPr sz="900">
                <a:solidFill>
                  <a:srgbClr val="F8FAFC"/>
                </a:solidFill>
                <a:latin typeface="Calibri"/>
              </a:defRPr>
            </a:pPr>
            <a:r>
              <a:t>00:45 → 01:05Languages + Why PythonCompiler vs interpreter · What makes Python special</a:t>
            </a:r>
          </a:p>
        </p:txBody>
      </p:sp>
      <p:sp>
        <p:nvSpPr>
          <p:cNvPr id="7" name="TextBox 6"/>
          <p:cNvSpPr txBox="1"/>
          <p:nvPr/>
        </p:nvSpPr>
        <p:spPr>
          <a:xfrm>
            <a:off x="6476838" y="2794000"/>
            <a:ext cx="5714857" cy="4064000"/>
          </a:xfrm>
          <a:prstGeom prst="rect">
            <a:avLst/>
          </a:prstGeom>
          <a:noFill/>
        </p:spPr>
        <p:txBody>
          <a:bodyPr wrap="square">
            <a:spAutoFit/>
          </a:bodyPr>
          <a:lstStyle/>
          <a:p>
            <a:pPr>
              <a:defRPr sz="900">
                <a:solidFill>
                  <a:srgbClr val="F8FAFC"/>
                </a:solidFill>
                <a:latin typeface="Calibri"/>
              </a:defRPr>
            </a:pPr>
            <a:r>
              <a:t>01:05 → 01:30Install + SetupPython · VS Code · Terminal · Running your first file</a:t>
            </a:r>
          </a:p>
        </p:txBody>
      </p:sp>
      <p:sp>
        <p:nvSpPr>
          <p:cNvPr id="8" name="TextBox 7"/>
          <p:cNvSpPr txBox="1"/>
          <p:nvPr/>
        </p:nvSpPr>
        <p:spPr>
          <a:xfrm>
            <a:off x="761980" y="3594100"/>
            <a:ext cx="10972800" cy="3263900"/>
          </a:xfrm>
          <a:prstGeom prst="rect">
            <a:avLst/>
          </a:prstGeom>
          <a:noFill/>
        </p:spPr>
        <p:txBody>
          <a:bodyPr wrap="square">
            <a:spAutoFit/>
          </a:bodyPr>
          <a:lstStyle/>
          <a:p>
            <a:pPr>
              <a:defRPr sz="900">
                <a:solidFill>
                  <a:srgbClr val="F8FAFC"/>
                </a:solidFill>
                <a:latin typeface="Calibri"/>
              </a:defRPr>
            </a:pPr>
            <a:r>
              <a:t>01:30 → 01:45☕ BREAK — 15 minutesاستراحة</a:t>
            </a:r>
          </a:p>
        </p:txBody>
      </p:sp>
      <p:sp>
        <p:nvSpPr>
          <p:cNvPr id="9" name="TextBox 8"/>
          <p:cNvSpPr txBox="1"/>
          <p:nvPr/>
        </p:nvSpPr>
        <p:spPr>
          <a:xfrm>
            <a:off x="761980" y="4254500"/>
            <a:ext cx="10972800" cy="2603500"/>
          </a:xfrm>
          <a:prstGeom prst="rect">
            <a:avLst/>
          </a:prstGeom>
          <a:noFill/>
        </p:spPr>
        <p:txBody>
          <a:bodyPr wrap="square">
            <a:spAutoFit/>
          </a:bodyPr>
          <a:lstStyle/>
          <a:p>
            <a:pPr>
              <a:defRPr sz="900">
                <a:solidFill>
                  <a:srgbClr val="F8FAFC"/>
                </a:solidFill>
                <a:latin typeface="Calibri"/>
              </a:defRPr>
            </a:pPr>
            <a:r>
              <a:t>01:45 → 02:15print() · Comments · VariablesLive coding — everyone types along</a:t>
            </a:r>
          </a:p>
        </p:txBody>
      </p:sp>
      <p:sp>
        <p:nvSpPr>
          <p:cNvPr id="10" name="TextBox 9"/>
          <p:cNvSpPr txBox="1"/>
          <p:nvPr/>
        </p:nvSpPr>
        <p:spPr>
          <a:xfrm>
            <a:off x="6476838" y="4254500"/>
            <a:ext cx="5714857" cy="2603500"/>
          </a:xfrm>
          <a:prstGeom prst="rect">
            <a:avLst/>
          </a:prstGeom>
          <a:noFill/>
        </p:spPr>
        <p:txBody>
          <a:bodyPr wrap="square">
            <a:spAutoFit/>
          </a:bodyPr>
          <a:lstStyle/>
          <a:p>
            <a:pPr>
              <a:defRPr sz="900">
                <a:solidFill>
                  <a:srgbClr val="F8FAFC"/>
                </a:solidFill>
                <a:latin typeface="Calibri"/>
              </a:defRPr>
            </a:pPr>
            <a:r>
              <a:t>02:15 → 02:35Data Types + input() + Castingint · float · str · bool · type() · int() / str() / float()</a:t>
            </a:r>
          </a:p>
        </p:txBody>
      </p:sp>
      <p:sp>
        <p:nvSpPr>
          <p:cNvPr id="11" name="TextBox 10"/>
          <p:cNvSpPr txBox="1"/>
          <p:nvPr/>
        </p:nvSpPr>
        <p:spPr>
          <a:xfrm>
            <a:off x="761980" y="5080000"/>
            <a:ext cx="10972800" cy="1778000"/>
          </a:xfrm>
          <a:prstGeom prst="rect">
            <a:avLst/>
          </a:prstGeom>
          <a:noFill/>
        </p:spPr>
        <p:txBody>
          <a:bodyPr wrap="square">
            <a:spAutoFit/>
          </a:bodyPr>
          <a:lstStyle/>
          <a:p>
            <a:pPr>
              <a:defRPr sz="900">
                <a:solidFill>
                  <a:srgbClr val="F8FAFC"/>
                </a:solidFill>
                <a:latin typeface="Calibri"/>
              </a:defRPr>
            </a:pPr>
            <a:r>
              <a:t>02:35 → 02:50Activities + QuizGuessing game · Pair debugging · Rapid-fire quiz</a:t>
            </a:r>
          </a:p>
        </p:txBody>
      </p:sp>
      <p:sp>
        <p:nvSpPr>
          <p:cNvPr id="12" name="TextBox 11"/>
          <p:cNvSpPr txBox="1"/>
          <p:nvPr/>
        </p:nvSpPr>
        <p:spPr>
          <a:xfrm>
            <a:off x="6476838" y="5080000"/>
            <a:ext cx="5714857" cy="1778000"/>
          </a:xfrm>
          <a:prstGeom prst="rect">
            <a:avLst/>
          </a:prstGeom>
          <a:noFill/>
        </p:spPr>
        <p:txBody>
          <a:bodyPr wrap="square">
            <a:spAutoFit/>
          </a:bodyPr>
          <a:lstStyle/>
          <a:p>
            <a:pPr>
              <a:defRPr sz="900">
                <a:solidFill>
                  <a:srgbClr val="F8FAFC"/>
                </a:solidFill>
                <a:latin typeface="Calibri"/>
              </a:defRPr>
            </a:pPr>
            <a:r>
              <a:t>02:50 → 03:00🎓 Mini Project + HomeworkStudent Card Generator · Wrap up · Next session preview</a:t>
            </a:r>
          </a:p>
        </p:txBody>
      </p:sp>
      <p:sp>
        <p:nvSpPr>
          <p:cNvPr id="13" name="TextBox 12"/>
          <p:cNvSpPr txBox="1"/>
          <p:nvPr/>
        </p:nvSpPr>
        <p:spPr>
          <a:xfrm>
            <a:off x="10972800" y="6400800"/>
            <a:ext cx="914400" cy="365760"/>
          </a:xfrm>
          <a:prstGeom prst="rect">
            <a:avLst/>
          </a:prstGeom>
          <a:noFill/>
        </p:spPr>
        <p:txBody>
          <a:bodyPr wrap="none">
            <a:spAutoFit/>
          </a:bodyPr>
          <a:lstStyle/>
          <a:p>
            <a:pPr algn="r">
              <a:defRPr sz="1000">
                <a:solidFill>
                  <a:srgbClr val="94A3B8"/>
                </a:solidFill>
                <a:latin typeface="Consolas"/>
              </a:defRPr>
            </a:pPr>
            <a: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91440"/>
            <a:ext cx="10972800" cy="365760"/>
          </a:xfrm>
          <a:prstGeom prst="rect">
            <a:avLst/>
          </a:prstGeom>
          <a:noFill/>
        </p:spPr>
        <p:txBody>
          <a:bodyPr wrap="none">
            <a:spAutoFit/>
          </a:bodyPr>
          <a:lstStyle/>
          <a:p>
            <a:pPr>
              <a:defRPr sz="1200">
                <a:solidFill>
                  <a:srgbClr val="22D3EE"/>
                </a:solidFill>
                <a:latin typeface="Consolas"/>
              </a:defRPr>
            </a:pPr>
            <a:r>
              <a:t>CONCEPT // WHAT IS PROGRAMMING</a:t>
            </a:r>
          </a:p>
        </p:txBody>
      </p:sp>
      <p:sp>
        <p:nvSpPr>
          <p:cNvPr id="3" name="TextBox 2"/>
          <p:cNvSpPr txBox="1"/>
          <p:nvPr/>
        </p:nvSpPr>
        <p:spPr>
          <a:xfrm>
            <a:off x="507987" y="1016000"/>
            <a:ext cx="10972800" cy="5486400"/>
          </a:xfrm>
          <a:prstGeom prst="rect">
            <a:avLst/>
          </a:prstGeom>
          <a:noFill/>
        </p:spPr>
        <p:txBody>
          <a:bodyPr wrap="square">
            <a:spAutoFit/>
          </a:bodyPr>
          <a:lstStyle/>
          <a:p>
            <a:pPr>
              <a:defRPr sz="900">
                <a:solidFill>
                  <a:srgbClr val="F8FAFC"/>
                </a:solidFill>
                <a:latin typeface="Calibri"/>
              </a:defRPr>
            </a:pPr>
            <a:r>
              <a:t>// DEFINITIONWhatisprogramming?إيه هي البرمجة أصلاً؟</a:t>
            </a:r>
          </a:p>
        </p:txBody>
      </p:sp>
      <p:sp>
        <p:nvSpPr>
          <p:cNvPr id="4" name="TextBox 3"/>
          <p:cNvSpPr txBox="1"/>
          <p:nvPr/>
        </p:nvSpPr>
        <p:spPr>
          <a:xfrm>
            <a:off x="7492812" y="1333500"/>
            <a:ext cx="4698882" cy="5486400"/>
          </a:xfrm>
          <a:prstGeom prst="rect">
            <a:avLst/>
          </a:prstGeom>
          <a:noFill/>
        </p:spPr>
        <p:txBody>
          <a:bodyPr wrap="square">
            <a:spAutoFit/>
          </a:bodyPr>
          <a:lstStyle/>
          <a:p>
            <a:pPr>
              <a:defRPr sz="900">
                <a:solidFill>
                  <a:srgbClr val="F8FAFC"/>
                </a:solidFill>
                <a:latin typeface="Calibri"/>
              </a:defRPr>
            </a:pPr>
            <a:r>
              <a:t>// THINK OF IT LIKE A RECIPEProgramming = giving a computerstep-by-step instructionsto do something.// PASTA RECIPE1. Boil water2. Add salt3. Add pasta4. Wait 8 minutes5. Drain and serve// PYTHON RECIPEname="Ali"print("Hello,",name)</a:t>
            </a:r>
          </a:p>
        </p:txBody>
      </p:sp>
      <p:sp>
        <p:nvSpPr>
          <p:cNvPr id="5" name="TextBox 4"/>
          <p:cNvSpPr txBox="1"/>
          <p:nvPr/>
        </p:nvSpPr>
        <p:spPr>
          <a:xfrm>
            <a:off x="19049" y="203200"/>
            <a:ext cx="10972800" cy="5486400"/>
          </a:xfrm>
          <a:prstGeom prst="rect">
            <a:avLst/>
          </a:prstGeom>
          <a:noFill/>
        </p:spPr>
        <p:txBody>
          <a:bodyPr wrap="square">
            <a:spAutoFit/>
          </a:bodyPr>
          <a:lstStyle/>
          <a:p>
            <a:pPr>
              <a:defRPr sz="900">
                <a:solidFill>
                  <a:srgbClr val="F8FAFC"/>
                </a:solidFill>
                <a:latin typeface="Calibri"/>
              </a:defRPr>
            </a:pPr>
            <a:r>
              <a:t>// PASTA RECIPE1. Boil water2. Add salt3. Add pasta4. Wait 8 minutes5. Drain and serve</a:t>
            </a:r>
          </a:p>
        </p:txBody>
      </p:sp>
      <p:sp>
        <p:nvSpPr>
          <p:cNvPr id="6" name="TextBox 5"/>
          <p:cNvSpPr txBox="1"/>
          <p:nvPr/>
        </p:nvSpPr>
        <p:spPr>
          <a:xfrm>
            <a:off x="19049" y="203200"/>
            <a:ext cx="10972800" cy="5486400"/>
          </a:xfrm>
          <a:prstGeom prst="rect">
            <a:avLst/>
          </a:prstGeom>
          <a:noFill/>
        </p:spPr>
        <p:txBody>
          <a:bodyPr wrap="square">
            <a:spAutoFit/>
          </a:bodyPr>
          <a:lstStyle/>
          <a:p>
            <a:pPr>
              <a:defRPr sz="900">
                <a:solidFill>
                  <a:srgbClr val="F8FAFC"/>
                </a:solidFill>
                <a:latin typeface="Calibri"/>
              </a:defRPr>
            </a:pPr>
            <a:r>
              <a:t>// PYTHON RECIPEname="Ali"print("Hello,",name)</a:t>
            </a:r>
          </a:p>
        </p:txBody>
      </p:sp>
      <p:sp>
        <p:nvSpPr>
          <p:cNvPr id="7" name="TextBox 6"/>
          <p:cNvSpPr txBox="1"/>
          <p:nvPr/>
        </p:nvSpPr>
        <p:spPr>
          <a:xfrm>
            <a:off x="507987" y="4572000"/>
            <a:ext cx="10972800" cy="2286000"/>
          </a:xfrm>
          <a:prstGeom prst="rect">
            <a:avLst/>
          </a:prstGeom>
          <a:noFill/>
        </p:spPr>
        <p:txBody>
          <a:bodyPr wrap="square">
            <a:spAutoFit/>
          </a:bodyPr>
          <a:lstStyle/>
          <a:p>
            <a:pPr>
              <a:defRPr sz="900">
                <a:solidFill>
                  <a:srgbClr val="F8FAFC"/>
                </a:solidFill>
                <a:latin typeface="Calibri"/>
              </a:defRPr>
            </a:pPr>
            <a:r>
              <a:t>Computers arestupid. Really stupid. They only do exactly what you tell them.الكمبيوتر غبي بطبيعته — بس بيعمل بالظبط اللي بتقوله. ولذلك لازم نتعلم إزاي نقوله بدقة.</a:t>
            </a:r>
          </a:p>
        </p:txBody>
      </p:sp>
      <p:sp>
        <p:nvSpPr>
          <p:cNvPr id="8" name="TextBox 7"/>
          <p:cNvSpPr txBox="1"/>
          <p:nvPr/>
        </p:nvSpPr>
        <p:spPr>
          <a:xfrm>
            <a:off x="10972800" y="6400800"/>
            <a:ext cx="914400" cy="365760"/>
          </a:xfrm>
          <a:prstGeom prst="rect">
            <a:avLst/>
          </a:prstGeom>
          <a:noFill/>
        </p:spPr>
        <p:txBody>
          <a:bodyPr wrap="none">
            <a:spAutoFit/>
          </a:bodyPr>
          <a:lstStyle/>
          <a:p>
            <a:pPr algn="r">
              <a:defRPr sz="1000">
                <a:solidFill>
                  <a:srgbClr val="94A3B8"/>
                </a:solidFill>
                <a:latin typeface="Consolas"/>
              </a:defRPr>
            </a:pPr>
            <a: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91440"/>
            <a:ext cx="10972800" cy="365760"/>
          </a:xfrm>
          <a:prstGeom prst="rect">
            <a:avLst/>
          </a:prstGeom>
          <a:noFill/>
        </p:spPr>
        <p:txBody>
          <a:bodyPr wrap="none">
            <a:spAutoFit/>
          </a:bodyPr>
          <a:lstStyle/>
          <a:p>
            <a:pPr>
              <a:defRPr sz="1200">
                <a:solidFill>
                  <a:srgbClr val="22D3EE"/>
                </a:solidFill>
                <a:latin typeface="Consolas"/>
              </a:defRPr>
            </a:pPr>
            <a:r>
              <a:t>CONCEPT // WHY PROGRAMMING EXISTS</a:t>
            </a:r>
          </a:p>
        </p:txBody>
      </p:sp>
      <p:sp>
        <p:nvSpPr>
          <p:cNvPr id="3" name="TextBox 2"/>
          <p:cNvSpPr txBox="1"/>
          <p:nvPr/>
        </p:nvSpPr>
        <p:spPr>
          <a:xfrm>
            <a:off x="507987" y="952500"/>
            <a:ext cx="10972800" cy="5486400"/>
          </a:xfrm>
          <a:prstGeom prst="rect">
            <a:avLst/>
          </a:prstGeom>
          <a:noFill/>
        </p:spPr>
        <p:txBody>
          <a:bodyPr wrap="square">
            <a:spAutoFit/>
          </a:bodyPr>
          <a:lstStyle/>
          <a:p>
            <a:pPr>
              <a:defRPr sz="900">
                <a:solidFill>
                  <a:srgbClr val="F8FAFC"/>
                </a:solidFill>
                <a:latin typeface="Calibri"/>
              </a:defRPr>
            </a:pPr>
            <a:r>
              <a:t>Why does programmingexist?ليه أصلاً موجودة البرمجة؟</a:t>
            </a:r>
          </a:p>
        </p:txBody>
      </p:sp>
      <p:sp>
        <p:nvSpPr>
          <p:cNvPr id="4" name="TextBox 3"/>
          <p:cNvSpPr txBox="1"/>
          <p:nvPr/>
        </p:nvSpPr>
        <p:spPr>
          <a:xfrm>
            <a:off x="698482" y="2730500"/>
            <a:ext cx="10972800" cy="4127500"/>
          </a:xfrm>
          <a:prstGeom prst="rect">
            <a:avLst/>
          </a:prstGeom>
          <a:noFill/>
        </p:spPr>
        <p:txBody>
          <a:bodyPr wrap="square">
            <a:spAutoFit/>
          </a:bodyPr>
          <a:lstStyle/>
          <a:p>
            <a:pPr>
              <a:defRPr sz="900">
                <a:solidFill>
                  <a:srgbClr val="F8FAFC"/>
                </a:solidFill>
                <a:latin typeface="Calibri"/>
              </a:defRPr>
            </a:pPr>
            <a:r>
              <a:t>⚡// REASON 01SpeedA computer can do 1 billion additions per second. You take 3 seconds for one.السرعة — الكمبيوتر بيلحق حاجات مستحيلة على البشر</a:t>
            </a:r>
          </a:p>
        </p:txBody>
      </p:sp>
      <p:sp>
        <p:nvSpPr>
          <p:cNvPr id="5" name="TextBox 4"/>
          <p:cNvSpPr txBox="1"/>
          <p:nvPr/>
        </p:nvSpPr>
        <p:spPr>
          <a:xfrm>
            <a:off x="4508387" y="2730500"/>
            <a:ext cx="7683307" cy="4127500"/>
          </a:xfrm>
          <a:prstGeom prst="rect">
            <a:avLst/>
          </a:prstGeom>
          <a:noFill/>
        </p:spPr>
        <p:txBody>
          <a:bodyPr wrap="square">
            <a:spAutoFit/>
          </a:bodyPr>
          <a:lstStyle/>
          <a:p>
            <a:pPr>
              <a:defRPr sz="900">
                <a:solidFill>
                  <a:srgbClr val="F8FAFC"/>
                </a:solidFill>
                <a:latin typeface="Calibri"/>
              </a:defRPr>
            </a:pPr>
            <a:r>
              <a:t>🔁// REASON 02AutomationBoring, repetitive tasks — write code once, run it forever, at 3am, while you sleep.الأتمتة — تكتب الكود مرة، يشتغل ملايين المرات</a:t>
            </a:r>
          </a:p>
        </p:txBody>
      </p:sp>
      <p:sp>
        <p:nvSpPr>
          <p:cNvPr id="6" name="TextBox 5"/>
          <p:cNvSpPr txBox="1"/>
          <p:nvPr/>
        </p:nvSpPr>
        <p:spPr>
          <a:xfrm>
            <a:off x="8318292" y="2730500"/>
            <a:ext cx="3873403" cy="4127500"/>
          </a:xfrm>
          <a:prstGeom prst="rect">
            <a:avLst/>
          </a:prstGeom>
          <a:noFill/>
        </p:spPr>
        <p:txBody>
          <a:bodyPr wrap="square">
            <a:spAutoFit/>
          </a:bodyPr>
          <a:lstStyle/>
          <a:p>
            <a:pPr>
              <a:defRPr sz="900">
                <a:solidFill>
                  <a:srgbClr val="F8FAFC"/>
                </a:solidFill>
                <a:latin typeface="Calibri"/>
              </a:defRPr>
            </a:pPr>
            <a:r>
              <a:t>🌍// REASON 03ScaleOne WhatsApp server helps 2 billion people chat. No human team could ever do that.المقاس — تخدم مليارات الناس بسطر كود</a:t>
            </a:r>
          </a:p>
        </p:txBody>
      </p:sp>
      <p:sp>
        <p:nvSpPr>
          <p:cNvPr id="7" name="TextBox 6"/>
          <p:cNvSpPr txBox="1"/>
          <p:nvPr/>
        </p:nvSpPr>
        <p:spPr>
          <a:xfrm>
            <a:off x="10972800" y="6400800"/>
            <a:ext cx="914400" cy="365760"/>
          </a:xfrm>
          <a:prstGeom prst="rect">
            <a:avLst/>
          </a:prstGeom>
          <a:noFill/>
        </p:spPr>
        <p:txBody>
          <a:bodyPr wrap="none">
            <a:spAutoFit/>
          </a:bodyPr>
          <a:lstStyle/>
          <a:p>
            <a:pPr algn="r">
              <a:defRPr sz="1000">
                <a:solidFill>
                  <a:srgbClr val="94A3B8"/>
                </a:solidFill>
                <a:latin typeface="Consolas"/>
              </a:defRPr>
            </a:pPr>
            <a: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91440"/>
            <a:ext cx="10972800" cy="365760"/>
          </a:xfrm>
          <a:prstGeom prst="rect">
            <a:avLst/>
          </a:prstGeom>
          <a:noFill/>
        </p:spPr>
        <p:txBody>
          <a:bodyPr wrap="none">
            <a:spAutoFit/>
          </a:bodyPr>
          <a:lstStyle/>
          <a:p>
            <a:pPr>
              <a:defRPr sz="1200">
                <a:solidFill>
                  <a:srgbClr val="22D3EE"/>
                </a:solidFill>
                <a:latin typeface="Consolas"/>
              </a:defRPr>
            </a:pPr>
            <a:r>
              <a:t>CONCEPT // SOFTWARE IS EVERYWHERE</a:t>
            </a:r>
          </a:p>
        </p:txBody>
      </p:sp>
      <p:sp>
        <p:nvSpPr>
          <p:cNvPr id="3" name="TextBox 2"/>
          <p:cNvSpPr txBox="1"/>
          <p:nvPr/>
        </p:nvSpPr>
        <p:spPr>
          <a:xfrm>
            <a:off x="507987" y="952500"/>
            <a:ext cx="10972800" cy="5486400"/>
          </a:xfrm>
          <a:prstGeom prst="rect">
            <a:avLst/>
          </a:prstGeom>
          <a:noFill/>
        </p:spPr>
        <p:txBody>
          <a:bodyPr wrap="square">
            <a:spAutoFit/>
          </a:bodyPr>
          <a:lstStyle/>
          <a:p>
            <a:pPr>
              <a:defRPr sz="900">
                <a:solidFill>
                  <a:srgbClr val="F8FAFC"/>
                </a:solidFill>
                <a:latin typeface="Calibri"/>
              </a:defRPr>
            </a:pPr>
            <a:r>
              <a:t>Real-life software.A single ordinary day.يوم عادي جداً في حياتك — كل حاجة فيه كود</a:t>
            </a:r>
          </a:p>
        </p:txBody>
      </p:sp>
      <p:sp>
        <p:nvSpPr>
          <p:cNvPr id="4" name="TextBox 3"/>
          <p:cNvSpPr txBox="1"/>
          <p:nvPr/>
        </p:nvSpPr>
        <p:spPr>
          <a:xfrm>
            <a:off x="507987" y="2921000"/>
            <a:ext cx="10972800" cy="3937000"/>
          </a:xfrm>
          <a:prstGeom prst="rect">
            <a:avLst/>
          </a:prstGeom>
          <a:noFill/>
        </p:spPr>
        <p:txBody>
          <a:bodyPr wrap="square">
            <a:spAutoFit/>
          </a:bodyPr>
          <a:lstStyle/>
          <a:p>
            <a:pPr>
              <a:defRPr sz="900">
                <a:solidFill>
                  <a:srgbClr val="F8FAFC"/>
                </a:solidFill>
                <a:latin typeface="Calibri"/>
              </a:defRPr>
            </a:pPr>
            <a:r>
              <a:t>07:00⏰Alarm ringsiOS/Android alarm code</a:t>
            </a:r>
          </a:p>
        </p:txBody>
      </p:sp>
      <p:sp>
        <p:nvSpPr>
          <p:cNvPr id="5" name="TextBox 4"/>
          <p:cNvSpPr txBox="1"/>
          <p:nvPr/>
        </p:nvSpPr>
        <p:spPr>
          <a:xfrm>
            <a:off x="2476438" y="2921000"/>
            <a:ext cx="9715257" cy="3937000"/>
          </a:xfrm>
          <a:prstGeom prst="rect">
            <a:avLst/>
          </a:prstGeom>
          <a:noFill/>
        </p:spPr>
        <p:txBody>
          <a:bodyPr wrap="square">
            <a:spAutoFit/>
          </a:bodyPr>
          <a:lstStyle/>
          <a:p>
            <a:pPr>
              <a:defRPr sz="900">
                <a:solidFill>
                  <a:srgbClr val="F8FAFC"/>
                </a:solidFill>
                <a:latin typeface="Calibri"/>
              </a:defRPr>
            </a:pPr>
            <a:r>
              <a:t>07:30📱Check WhatsAppChat servers · encryption</a:t>
            </a:r>
          </a:p>
        </p:txBody>
      </p:sp>
      <p:sp>
        <p:nvSpPr>
          <p:cNvPr id="6" name="TextBox 5"/>
          <p:cNvSpPr txBox="1"/>
          <p:nvPr/>
        </p:nvSpPr>
        <p:spPr>
          <a:xfrm>
            <a:off x="4444888" y="2921000"/>
            <a:ext cx="7746806" cy="3937000"/>
          </a:xfrm>
          <a:prstGeom prst="rect">
            <a:avLst/>
          </a:prstGeom>
          <a:noFill/>
        </p:spPr>
        <p:txBody>
          <a:bodyPr wrap="square">
            <a:spAutoFit/>
          </a:bodyPr>
          <a:lstStyle/>
          <a:p>
            <a:pPr>
              <a:defRPr sz="900">
                <a:solidFill>
                  <a:srgbClr val="F8FAFC"/>
                </a:solidFill>
                <a:latin typeface="Calibri"/>
              </a:defRPr>
            </a:pPr>
            <a:r>
              <a:t>08:00🚌Google MapsRoute + traffic algorithms</a:t>
            </a:r>
          </a:p>
        </p:txBody>
      </p:sp>
      <p:sp>
        <p:nvSpPr>
          <p:cNvPr id="7" name="TextBox 6"/>
          <p:cNvSpPr txBox="1"/>
          <p:nvPr/>
        </p:nvSpPr>
        <p:spPr>
          <a:xfrm>
            <a:off x="6413339" y="2921000"/>
            <a:ext cx="5778355" cy="3937000"/>
          </a:xfrm>
          <a:prstGeom prst="rect">
            <a:avLst/>
          </a:prstGeom>
          <a:noFill/>
        </p:spPr>
        <p:txBody>
          <a:bodyPr wrap="square">
            <a:spAutoFit/>
          </a:bodyPr>
          <a:lstStyle/>
          <a:p>
            <a:pPr>
              <a:defRPr sz="900">
                <a:solidFill>
                  <a:srgbClr val="F8FAFC"/>
                </a:solidFill>
                <a:latin typeface="Calibri"/>
              </a:defRPr>
            </a:pPr>
            <a:r>
              <a:t>15:00🎵Spotify picksRecommendation engine</a:t>
            </a:r>
          </a:p>
        </p:txBody>
      </p:sp>
      <p:sp>
        <p:nvSpPr>
          <p:cNvPr id="8" name="TextBox 7"/>
          <p:cNvSpPr txBox="1"/>
          <p:nvPr/>
        </p:nvSpPr>
        <p:spPr>
          <a:xfrm>
            <a:off x="8381790" y="2921000"/>
            <a:ext cx="3809904" cy="3937000"/>
          </a:xfrm>
          <a:prstGeom prst="rect">
            <a:avLst/>
          </a:prstGeom>
          <a:noFill/>
        </p:spPr>
        <p:txBody>
          <a:bodyPr wrap="square">
            <a:spAutoFit/>
          </a:bodyPr>
          <a:lstStyle/>
          <a:p>
            <a:pPr>
              <a:defRPr sz="900">
                <a:solidFill>
                  <a:srgbClr val="F8FAFC"/>
                </a:solidFill>
                <a:latin typeface="Calibri"/>
              </a:defRPr>
            </a:pPr>
            <a:r>
              <a:t>19:00🎮PUBG / FIFAGame engine + servers</a:t>
            </a:r>
          </a:p>
        </p:txBody>
      </p:sp>
      <p:sp>
        <p:nvSpPr>
          <p:cNvPr id="9" name="TextBox 8"/>
          <p:cNvSpPr txBox="1"/>
          <p:nvPr/>
        </p:nvSpPr>
        <p:spPr>
          <a:xfrm>
            <a:off x="10286742" y="2921000"/>
            <a:ext cx="1904952" cy="3937000"/>
          </a:xfrm>
          <a:prstGeom prst="rect">
            <a:avLst/>
          </a:prstGeom>
          <a:noFill/>
        </p:spPr>
        <p:txBody>
          <a:bodyPr wrap="square">
            <a:spAutoFit/>
          </a:bodyPr>
          <a:lstStyle/>
          <a:p>
            <a:pPr>
              <a:defRPr sz="900">
                <a:solidFill>
                  <a:srgbClr val="F8FAFC"/>
                </a:solidFill>
                <a:latin typeface="Calibri"/>
              </a:defRPr>
            </a:pPr>
            <a:r>
              <a:t>23:00📺Netflix / TikTokStreaming + ML feed</a:t>
            </a:r>
          </a:p>
        </p:txBody>
      </p:sp>
      <p:sp>
        <p:nvSpPr>
          <p:cNvPr id="10" name="TextBox 9"/>
          <p:cNvSpPr txBox="1"/>
          <p:nvPr/>
        </p:nvSpPr>
        <p:spPr>
          <a:xfrm>
            <a:off x="825479" y="5207000"/>
            <a:ext cx="10972800" cy="1650999"/>
          </a:xfrm>
          <a:prstGeom prst="rect">
            <a:avLst/>
          </a:prstGeom>
          <a:noFill/>
        </p:spPr>
        <p:txBody>
          <a:bodyPr wrap="square">
            <a:spAutoFit/>
          </a:bodyPr>
          <a:lstStyle/>
          <a:p>
            <a:pPr>
              <a:defRPr sz="900">
                <a:solidFill>
                  <a:srgbClr val="F8FAFC"/>
                </a:solidFill>
                <a:latin typeface="Calibri"/>
              </a:defRPr>
            </a:pPr>
            <a:r>
              <a:t>// COUNT WITH MEYou touch50+ pieces of softwarebefore lunch. Each one is code written by humans like you.</a:t>
            </a:r>
          </a:p>
        </p:txBody>
      </p:sp>
      <p:sp>
        <p:nvSpPr>
          <p:cNvPr id="11" name="TextBox 10"/>
          <p:cNvSpPr txBox="1"/>
          <p:nvPr/>
        </p:nvSpPr>
        <p:spPr>
          <a:xfrm>
            <a:off x="10972800" y="6400800"/>
            <a:ext cx="914400" cy="365760"/>
          </a:xfrm>
          <a:prstGeom prst="rect">
            <a:avLst/>
          </a:prstGeom>
          <a:noFill/>
        </p:spPr>
        <p:txBody>
          <a:bodyPr wrap="none">
            <a:spAutoFit/>
          </a:bodyPr>
          <a:lstStyle/>
          <a:p>
            <a:pPr algn="r">
              <a:defRPr sz="1000">
                <a:solidFill>
                  <a:srgbClr val="94A3B8"/>
                </a:solidFill>
                <a:latin typeface="Consolas"/>
              </a:defRPr>
            </a:pPr>
            <a: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91440"/>
            <a:ext cx="10972800" cy="365760"/>
          </a:xfrm>
          <a:prstGeom prst="rect">
            <a:avLst/>
          </a:prstGeom>
          <a:noFill/>
        </p:spPr>
        <p:txBody>
          <a:bodyPr wrap="none">
            <a:spAutoFit/>
          </a:bodyPr>
          <a:lstStyle/>
          <a:p>
            <a:pPr>
              <a:defRPr sz="1200">
                <a:solidFill>
                  <a:srgbClr val="22D3EE"/>
                </a:solidFill>
                <a:latin typeface="Consolas"/>
              </a:defRPr>
            </a:pPr>
            <a:r>
              <a:t>CONCEPT // HARDWARE VS SOFTWARE</a:t>
            </a:r>
          </a:p>
        </p:txBody>
      </p:sp>
      <p:sp>
        <p:nvSpPr>
          <p:cNvPr id="3" name="TextBox 2"/>
          <p:cNvSpPr txBox="1"/>
          <p:nvPr/>
        </p:nvSpPr>
        <p:spPr>
          <a:xfrm>
            <a:off x="507987" y="952500"/>
            <a:ext cx="10972800" cy="5486400"/>
          </a:xfrm>
          <a:prstGeom prst="rect">
            <a:avLst/>
          </a:prstGeom>
          <a:noFill/>
        </p:spPr>
        <p:txBody>
          <a:bodyPr wrap="square">
            <a:spAutoFit/>
          </a:bodyPr>
          <a:lstStyle/>
          <a:p>
            <a:pPr>
              <a:defRPr sz="900">
                <a:solidFill>
                  <a:srgbClr val="F8FAFC"/>
                </a:solidFill>
                <a:latin typeface="Calibri"/>
              </a:defRPr>
            </a:pPr>
            <a:r>
              <a:t>HardwarevsSoftwareالجهاز مقابل البرنامج</a:t>
            </a:r>
          </a:p>
        </p:txBody>
      </p:sp>
      <p:sp>
        <p:nvSpPr>
          <p:cNvPr id="4" name="TextBox 3"/>
          <p:cNvSpPr txBox="1"/>
          <p:nvPr/>
        </p:nvSpPr>
        <p:spPr>
          <a:xfrm>
            <a:off x="761980" y="2540000"/>
            <a:ext cx="10972800" cy="4318000"/>
          </a:xfrm>
          <a:prstGeom prst="rect">
            <a:avLst/>
          </a:prstGeom>
          <a:noFill/>
        </p:spPr>
        <p:txBody>
          <a:bodyPr wrap="square">
            <a:spAutoFit/>
          </a:bodyPr>
          <a:lstStyle/>
          <a:p>
            <a:pPr>
              <a:defRPr sz="900">
                <a:solidFill>
                  <a:srgbClr val="F8FAFC"/>
                </a:solidFill>
                <a:latin typeface="Calibri"/>
              </a:defRPr>
            </a:pPr>
            <a:r>
              <a:t>🖥️// HARDWAREStuff you can touchالحاجة اللي تقدر تلمسها بإيدك→ Screen · Keyboard · Mouse→ CPU chip · RAM sticks→ Hard drive · SSD→ Battery · Speakers · CameraRule of thumb:If it hurts when you drop it → hardware.</a:t>
            </a:r>
          </a:p>
        </p:txBody>
      </p:sp>
      <p:sp>
        <p:nvSpPr>
          <p:cNvPr id="5" name="TextBox 4"/>
          <p:cNvSpPr txBox="1"/>
          <p:nvPr/>
        </p:nvSpPr>
        <p:spPr>
          <a:xfrm>
            <a:off x="25399" y="139700"/>
            <a:ext cx="10972800" cy="5486400"/>
          </a:xfrm>
          <a:prstGeom prst="rect">
            <a:avLst/>
          </a:prstGeom>
          <a:noFill/>
        </p:spPr>
        <p:txBody>
          <a:bodyPr wrap="square">
            <a:spAutoFit/>
          </a:bodyPr>
          <a:lstStyle/>
          <a:p>
            <a:pPr>
              <a:defRPr sz="900">
                <a:solidFill>
                  <a:srgbClr val="F8FAFC"/>
                </a:solidFill>
                <a:latin typeface="Calibri"/>
              </a:defRPr>
            </a:pPr>
            <a:r>
              <a:t>Rule of thumb:If it hurts when you drop it → hardware.</a:t>
            </a:r>
          </a:p>
        </p:txBody>
      </p:sp>
      <p:sp>
        <p:nvSpPr>
          <p:cNvPr id="6" name="TextBox 5"/>
          <p:cNvSpPr txBox="1"/>
          <p:nvPr/>
        </p:nvSpPr>
        <p:spPr>
          <a:xfrm>
            <a:off x="6413339" y="2540000"/>
            <a:ext cx="5778355" cy="4318000"/>
          </a:xfrm>
          <a:prstGeom prst="rect">
            <a:avLst/>
          </a:prstGeom>
          <a:noFill/>
        </p:spPr>
        <p:txBody>
          <a:bodyPr wrap="square">
            <a:spAutoFit/>
          </a:bodyPr>
          <a:lstStyle/>
          <a:p>
            <a:pPr>
              <a:defRPr sz="900">
                <a:solidFill>
                  <a:srgbClr val="F8FAFC"/>
                </a:solidFill>
                <a:latin typeface="Calibri"/>
              </a:defRPr>
            </a:pPr>
            <a:r>
              <a:t>💾// SOFTWAREStuff that runs on itاللي بيشتغل جوه الجهاز — أفكار وأوامر→ Windows · iOS · Android→ Chrome · Safari · Firefox→ WhatsApp · Instagram · Python→ Fortnite · FIFA · RobloxRule of thumb:If you can download or delete it → software.</a:t>
            </a:r>
          </a:p>
        </p:txBody>
      </p:sp>
      <p:sp>
        <p:nvSpPr>
          <p:cNvPr id="7" name="TextBox 6"/>
          <p:cNvSpPr txBox="1"/>
          <p:nvPr/>
        </p:nvSpPr>
        <p:spPr>
          <a:xfrm>
            <a:off x="25399" y="139700"/>
            <a:ext cx="10972800" cy="5486400"/>
          </a:xfrm>
          <a:prstGeom prst="rect">
            <a:avLst/>
          </a:prstGeom>
          <a:noFill/>
        </p:spPr>
        <p:txBody>
          <a:bodyPr wrap="square">
            <a:spAutoFit/>
          </a:bodyPr>
          <a:lstStyle/>
          <a:p>
            <a:pPr>
              <a:defRPr sz="900">
                <a:solidFill>
                  <a:srgbClr val="F8FAFC"/>
                </a:solidFill>
                <a:latin typeface="Calibri"/>
              </a:defRPr>
            </a:pPr>
            <a:r>
              <a:t>Rule of thumb:If you can download or delete it → software.</a:t>
            </a:r>
          </a:p>
        </p:txBody>
      </p:sp>
      <p:sp>
        <p:nvSpPr>
          <p:cNvPr id="8" name="TextBox 7"/>
          <p:cNvSpPr txBox="1"/>
          <p:nvPr/>
        </p:nvSpPr>
        <p:spPr>
          <a:xfrm>
            <a:off x="10972800" y="6400800"/>
            <a:ext cx="914400" cy="365760"/>
          </a:xfrm>
          <a:prstGeom prst="rect">
            <a:avLst/>
          </a:prstGeom>
          <a:noFill/>
        </p:spPr>
        <p:txBody>
          <a:bodyPr wrap="none">
            <a:spAutoFit/>
          </a:bodyPr>
          <a:lstStyle/>
          <a:p>
            <a:pPr algn="r">
              <a:defRPr sz="1000">
                <a:solidFill>
                  <a:srgbClr val="94A3B8"/>
                </a:solidFill>
                <a:latin typeface="Consolas"/>
              </a:defRPr>
            </a:pPr>
            <a: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91440"/>
            <a:ext cx="10972800" cy="365760"/>
          </a:xfrm>
          <a:prstGeom prst="rect">
            <a:avLst/>
          </a:prstGeom>
          <a:noFill/>
        </p:spPr>
        <p:txBody>
          <a:bodyPr wrap="none">
            <a:spAutoFit/>
          </a:bodyPr>
          <a:lstStyle/>
          <a:p>
            <a:pPr>
              <a:defRPr sz="1200">
                <a:solidFill>
                  <a:srgbClr val="22D3EE"/>
                </a:solidFill>
                <a:latin typeface="Consolas"/>
              </a:defRPr>
            </a:pPr>
            <a:r>
              <a:t>HARDWARE // CPU — THE BRAIN</a:t>
            </a:r>
          </a:p>
        </p:txBody>
      </p:sp>
      <p:sp>
        <p:nvSpPr>
          <p:cNvPr id="3" name="TextBox 2"/>
          <p:cNvSpPr txBox="1"/>
          <p:nvPr/>
        </p:nvSpPr>
        <p:spPr>
          <a:xfrm>
            <a:off x="507987" y="1016000"/>
            <a:ext cx="10972800" cy="5486400"/>
          </a:xfrm>
          <a:prstGeom prst="rect">
            <a:avLst/>
          </a:prstGeom>
          <a:noFill/>
        </p:spPr>
        <p:txBody>
          <a:bodyPr wrap="square">
            <a:spAutoFit/>
          </a:bodyPr>
          <a:lstStyle/>
          <a:p>
            <a:pPr>
              <a:defRPr sz="900">
                <a:solidFill>
                  <a:srgbClr val="F8FAFC"/>
                </a:solidFill>
                <a:latin typeface="Calibri"/>
              </a:defRPr>
            </a:pPr>
            <a:r>
              <a:t>// COMPONENT 01 OF 3CPUThe Brain 🧠وحدة المعالجة المركزية — عقل الكمبيوتر</a:t>
            </a:r>
          </a:p>
        </p:txBody>
      </p:sp>
      <p:sp>
        <p:nvSpPr>
          <p:cNvPr id="4" name="TextBox 3"/>
          <p:cNvSpPr txBox="1"/>
          <p:nvPr/>
        </p:nvSpPr>
        <p:spPr>
          <a:xfrm>
            <a:off x="7937301" y="1270000"/>
            <a:ext cx="4254393" cy="5486400"/>
          </a:xfrm>
          <a:prstGeom prst="rect">
            <a:avLst/>
          </a:prstGeom>
          <a:noFill/>
        </p:spPr>
        <p:txBody>
          <a:bodyPr wrap="square">
            <a:spAutoFit/>
          </a:bodyPr>
          <a:lstStyle/>
          <a:p>
            <a:pPr>
              <a:defRPr sz="900">
                <a:solidFill>
                  <a:srgbClr val="F8FAFC"/>
                </a:solidFill>
                <a:latin typeface="Calibri"/>
              </a:defRPr>
            </a:pPr>
            <a:r>
              <a:t>CPU</a:t>
            </a:r>
          </a:p>
        </p:txBody>
      </p:sp>
      <p:sp>
        <p:nvSpPr>
          <p:cNvPr id="5" name="TextBox 4"/>
          <p:cNvSpPr txBox="1"/>
          <p:nvPr/>
        </p:nvSpPr>
        <p:spPr>
          <a:xfrm>
            <a:off x="1650958" y="1587500"/>
            <a:ext cx="10540736" cy="5270500"/>
          </a:xfrm>
          <a:prstGeom prst="rect">
            <a:avLst/>
          </a:prstGeom>
          <a:noFill/>
        </p:spPr>
        <p:txBody>
          <a:bodyPr wrap="square">
            <a:spAutoFit/>
          </a:bodyPr>
          <a:lstStyle/>
          <a:p>
            <a:pPr>
              <a:defRPr sz="3000">
                <a:solidFill>
                  <a:srgbClr val="0A0E1A"/>
                </a:solidFill>
                <a:latin typeface="Calibri"/>
              </a:defRPr>
            </a:pPr>
            <a:r>
              <a:t>CPU</a:t>
            </a:r>
          </a:p>
        </p:txBody>
      </p:sp>
      <p:sp>
        <p:nvSpPr>
          <p:cNvPr id="6" name="TextBox 5"/>
          <p:cNvSpPr txBox="1"/>
          <p:nvPr/>
        </p:nvSpPr>
        <p:spPr>
          <a:xfrm>
            <a:off x="761980" y="4064000"/>
            <a:ext cx="10972800" cy="2794000"/>
          </a:xfrm>
          <a:prstGeom prst="rect">
            <a:avLst/>
          </a:prstGeom>
          <a:noFill/>
        </p:spPr>
        <p:txBody>
          <a:bodyPr wrap="square">
            <a:spAutoFit/>
          </a:bodyPr>
          <a:lstStyle/>
          <a:p>
            <a:pPr>
              <a:defRPr sz="900">
                <a:solidFill>
                  <a:srgbClr val="F8FAFC"/>
                </a:solidFill>
                <a:latin typeface="Calibri"/>
              </a:defRPr>
            </a:pPr>
            <a:r>
              <a:t>// ANALOGY — YOUR BRAINYour brain does math, makes decisions, follows instructions. So does the CPU —billions of times per second.SPEED~3 billion ops/secMEASURED INGHz (gigahertz)EXAMPLESIntel · AMD · M-series</a:t>
            </a:r>
          </a:p>
        </p:txBody>
      </p:sp>
      <p:sp>
        <p:nvSpPr>
          <p:cNvPr id="7" name="TextBox 6"/>
          <p:cNvSpPr txBox="1"/>
          <p:nvPr/>
        </p:nvSpPr>
        <p:spPr>
          <a:xfrm>
            <a:off x="10972800" y="6400800"/>
            <a:ext cx="914400" cy="365760"/>
          </a:xfrm>
          <a:prstGeom prst="rect">
            <a:avLst/>
          </a:prstGeom>
          <a:noFill/>
        </p:spPr>
        <p:txBody>
          <a:bodyPr wrap="none">
            <a:spAutoFit/>
          </a:bodyPr>
          <a:lstStyle/>
          <a:p>
            <a:pPr algn="r">
              <a:defRPr sz="1000">
                <a:solidFill>
                  <a:srgbClr val="94A3B8"/>
                </a:solidFill>
                <a:latin typeface="Consolas"/>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91440"/>
            <a:ext cx="10972800" cy="365760"/>
          </a:xfrm>
          <a:prstGeom prst="rect">
            <a:avLst/>
          </a:prstGeom>
          <a:noFill/>
        </p:spPr>
        <p:txBody>
          <a:bodyPr wrap="none">
            <a:spAutoFit/>
          </a:bodyPr>
          <a:lstStyle/>
          <a:p>
            <a:pPr>
              <a:defRPr sz="1200">
                <a:solidFill>
                  <a:srgbClr val="22D3EE"/>
                </a:solidFill>
                <a:latin typeface="Consolas"/>
              </a:defRPr>
            </a:pPr>
            <a:r>
              <a:t>HARDWARE // RAM — THE DESK</a:t>
            </a:r>
          </a:p>
        </p:txBody>
      </p:sp>
      <p:sp>
        <p:nvSpPr>
          <p:cNvPr id="3" name="TextBox 2"/>
          <p:cNvSpPr txBox="1"/>
          <p:nvPr/>
        </p:nvSpPr>
        <p:spPr>
          <a:xfrm>
            <a:off x="507987" y="1016000"/>
            <a:ext cx="10972800" cy="5486400"/>
          </a:xfrm>
          <a:prstGeom prst="rect">
            <a:avLst/>
          </a:prstGeom>
          <a:noFill/>
        </p:spPr>
        <p:txBody>
          <a:bodyPr wrap="square">
            <a:spAutoFit/>
          </a:bodyPr>
          <a:lstStyle/>
          <a:p>
            <a:pPr>
              <a:defRPr sz="900">
                <a:solidFill>
                  <a:srgbClr val="F8FAFC"/>
                </a:solidFill>
                <a:latin typeface="Calibri"/>
              </a:defRPr>
            </a:pPr>
            <a:r>
              <a:t>// COMPONENT 02 OF 3RAMThe Desk 🗂️الذاكرة العشوائية — مكتب الكمبيوتر</a:t>
            </a:r>
          </a:p>
        </p:txBody>
      </p:sp>
      <p:sp>
        <p:nvSpPr>
          <p:cNvPr id="4" name="TextBox 3"/>
          <p:cNvSpPr txBox="1"/>
          <p:nvPr/>
        </p:nvSpPr>
        <p:spPr>
          <a:xfrm>
            <a:off x="761980" y="4064000"/>
            <a:ext cx="10972800" cy="2794000"/>
          </a:xfrm>
          <a:prstGeom prst="rect">
            <a:avLst/>
          </a:prstGeom>
          <a:noFill/>
        </p:spPr>
        <p:txBody>
          <a:bodyPr wrap="square">
            <a:spAutoFit/>
          </a:bodyPr>
          <a:lstStyle/>
          <a:p>
            <a:pPr>
              <a:defRPr sz="900">
                <a:solidFill>
                  <a:srgbClr val="F8FAFC"/>
                </a:solidFill>
                <a:latin typeface="Calibri"/>
              </a:defRPr>
            </a:pPr>
            <a:r>
              <a:t>// ANALOGY — YOUR STUDY DESKWhile studying, you put books on your desk touse right now. Big desk = more books at once. RAM is the same — memory for things the computer is actively using.TYPICAL SIZE8 GB – 32 GBSPEEDVery fastKEY WEAKNESSErases on shutdown ⚡</a:t>
            </a:r>
          </a:p>
        </p:txBody>
      </p:sp>
      <p:sp>
        <p:nvSpPr>
          <p:cNvPr id="5" name="TextBox 4"/>
          <p:cNvSpPr txBox="1"/>
          <p:nvPr/>
        </p:nvSpPr>
        <p:spPr>
          <a:xfrm>
            <a:off x="10972800" y="6400800"/>
            <a:ext cx="914400" cy="365760"/>
          </a:xfrm>
          <a:prstGeom prst="rect">
            <a:avLst/>
          </a:prstGeom>
          <a:noFill/>
        </p:spPr>
        <p:txBody>
          <a:bodyPr wrap="none">
            <a:spAutoFit/>
          </a:bodyPr>
          <a:lstStyle/>
          <a:p>
            <a:pPr algn="r">
              <a:defRPr sz="1000">
                <a:solidFill>
                  <a:srgbClr val="94A3B8"/>
                </a:solidFill>
                <a:latin typeface="Consolas"/>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91440"/>
            <a:ext cx="10972800" cy="365760"/>
          </a:xfrm>
          <a:prstGeom prst="rect">
            <a:avLst/>
          </a:prstGeom>
          <a:noFill/>
        </p:spPr>
        <p:txBody>
          <a:bodyPr wrap="none">
            <a:spAutoFit/>
          </a:bodyPr>
          <a:lstStyle/>
          <a:p>
            <a:pPr>
              <a:defRPr sz="1200">
                <a:solidFill>
                  <a:srgbClr val="22D3EE"/>
                </a:solidFill>
                <a:latin typeface="Consolas"/>
              </a:defRPr>
            </a:pPr>
            <a:r>
              <a:t>HARDWARE // STORAGE — THE LIBRARY</a:t>
            </a:r>
          </a:p>
        </p:txBody>
      </p:sp>
      <p:sp>
        <p:nvSpPr>
          <p:cNvPr id="3" name="TextBox 2"/>
          <p:cNvSpPr txBox="1"/>
          <p:nvPr/>
        </p:nvSpPr>
        <p:spPr>
          <a:xfrm>
            <a:off x="507987" y="1016000"/>
            <a:ext cx="10972800" cy="5486400"/>
          </a:xfrm>
          <a:prstGeom prst="rect">
            <a:avLst/>
          </a:prstGeom>
          <a:noFill/>
        </p:spPr>
        <p:txBody>
          <a:bodyPr wrap="square">
            <a:spAutoFit/>
          </a:bodyPr>
          <a:lstStyle/>
          <a:p>
            <a:pPr>
              <a:defRPr sz="900">
                <a:solidFill>
                  <a:srgbClr val="F8FAFC"/>
                </a:solidFill>
                <a:latin typeface="Calibri"/>
              </a:defRPr>
            </a:pPr>
            <a:r>
              <a:t>// COMPONENT 03 OF 3StorageThe Library 📚التخزين — مكتبة الكمبيوتر</a:t>
            </a:r>
          </a:p>
        </p:txBody>
      </p:sp>
      <p:sp>
        <p:nvSpPr>
          <p:cNvPr id="4" name="TextBox 3"/>
          <p:cNvSpPr txBox="1"/>
          <p:nvPr/>
        </p:nvSpPr>
        <p:spPr>
          <a:xfrm>
            <a:off x="761980" y="4064000"/>
            <a:ext cx="10972800" cy="2794000"/>
          </a:xfrm>
          <a:prstGeom prst="rect">
            <a:avLst/>
          </a:prstGeom>
          <a:noFill/>
        </p:spPr>
        <p:txBody>
          <a:bodyPr wrap="square">
            <a:spAutoFit/>
          </a:bodyPr>
          <a:lstStyle/>
          <a:p>
            <a:pPr>
              <a:defRPr sz="900">
                <a:solidFill>
                  <a:srgbClr val="F8FAFC"/>
                </a:solidFill>
                <a:latin typeface="Calibri"/>
              </a:defRPr>
            </a:pPr>
            <a:r>
              <a:t>// ANALOGY — SCHOOL LIBRARYA library holds thousands of booksforever— even after you leave. Slower to reach than your desk, but never forgets. That's storage: photos, files, apps.TYPICAL SIZE256 GB – 2 TBTYPESHDD / SSDSTRENGTHKeeps data forever 💾</a:t>
            </a:r>
          </a:p>
        </p:txBody>
      </p:sp>
      <p:sp>
        <p:nvSpPr>
          <p:cNvPr id="5" name="TextBox 4"/>
          <p:cNvSpPr txBox="1"/>
          <p:nvPr/>
        </p:nvSpPr>
        <p:spPr>
          <a:xfrm>
            <a:off x="10972800" y="6400800"/>
            <a:ext cx="914400" cy="365760"/>
          </a:xfrm>
          <a:prstGeom prst="rect">
            <a:avLst/>
          </a:prstGeom>
          <a:noFill/>
        </p:spPr>
        <p:txBody>
          <a:bodyPr wrap="none">
            <a:spAutoFit/>
          </a:bodyPr>
          <a:lstStyle/>
          <a:p>
            <a:pPr algn="r">
              <a:defRPr sz="1000">
                <a:solidFill>
                  <a:srgbClr val="94A3B8"/>
                </a:solidFill>
                <a:latin typeface="Consolas"/>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91440"/>
            <a:ext cx="10972800" cy="365760"/>
          </a:xfrm>
          <a:prstGeom prst="rect">
            <a:avLst/>
          </a:prstGeom>
          <a:noFill/>
        </p:spPr>
        <p:txBody>
          <a:bodyPr wrap="none">
            <a:spAutoFit/>
          </a:bodyPr>
          <a:lstStyle/>
          <a:p>
            <a:pPr>
              <a:defRPr sz="1200">
                <a:solidFill>
                  <a:srgbClr val="22D3EE"/>
                </a:solidFill>
                <a:latin typeface="Consolas"/>
              </a:defRPr>
            </a:pPr>
            <a:r>
              <a:t>CONCEPT // HOW A COMPUTER UNDERSTANDS</a:t>
            </a:r>
          </a:p>
        </p:txBody>
      </p:sp>
      <p:sp>
        <p:nvSpPr>
          <p:cNvPr id="3" name="TextBox 2"/>
          <p:cNvSpPr txBox="1"/>
          <p:nvPr/>
        </p:nvSpPr>
        <p:spPr>
          <a:xfrm>
            <a:off x="507987" y="952500"/>
            <a:ext cx="10972800" cy="5486400"/>
          </a:xfrm>
          <a:prstGeom prst="rect">
            <a:avLst/>
          </a:prstGeom>
          <a:noFill/>
        </p:spPr>
        <p:txBody>
          <a:bodyPr wrap="square">
            <a:spAutoFit/>
          </a:bodyPr>
          <a:lstStyle/>
          <a:p>
            <a:pPr>
              <a:defRPr sz="900">
                <a:solidFill>
                  <a:srgbClr val="F8FAFC"/>
                </a:solidFill>
                <a:latin typeface="Calibri"/>
              </a:defRPr>
            </a:pPr>
            <a:r>
              <a:t>How does the computerunderstandwhat we write?إزاي الكمبيوتر بيفهم اللي بنكتبه؟</a:t>
            </a:r>
          </a:p>
        </p:txBody>
      </p:sp>
      <p:sp>
        <p:nvSpPr>
          <p:cNvPr id="4" name="TextBox 3"/>
          <p:cNvSpPr txBox="1"/>
          <p:nvPr/>
        </p:nvSpPr>
        <p:spPr>
          <a:xfrm>
            <a:off x="698482" y="2857500"/>
            <a:ext cx="10972800" cy="4000500"/>
          </a:xfrm>
          <a:prstGeom prst="rect">
            <a:avLst/>
          </a:prstGeom>
          <a:noFill/>
        </p:spPr>
        <p:txBody>
          <a:bodyPr wrap="square">
            <a:spAutoFit/>
          </a:bodyPr>
          <a:lstStyle/>
          <a:p>
            <a:pPr>
              <a:defRPr sz="900">
                <a:solidFill>
                  <a:srgbClr val="F8FAFC"/>
                </a:solidFill>
                <a:latin typeface="Calibri"/>
              </a:defRPr>
            </a:pPr>
            <a:r>
              <a:t>// LAYER 01 — YOUWhat you writehello.pyprint("Hi!")Human-friendly Python code you'll write yourself.</a:t>
            </a:r>
          </a:p>
        </p:txBody>
      </p:sp>
      <p:sp>
        <p:nvSpPr>
          <p:cNvPr id="5" name="TextBox 4"/>
          <p:cNvSpPr txBox="1"/>
          <p:nvPr/>
        </p:nvSpPr>
        <p:spPr>
          <a:xfrm>
            <a:off x="4508387" y="2857500"/>
            <a:ext cx="7683307" cy="4000500"/>
          </a:xfrm>
          <a:prstGeom prst="rect">
            <a:avLst/>
          </a:prstGeom>
          <a:noFill/>
        </p:spPr>
        <p:txBody>
          <a:bodyPr wrap="square">
            <a:spAutoFit/>
          </a:bodyPr>
          <a:lstStyle/>
          <a:p>
            <a:pPr>
              <a:defRPr sz="900">
                <a:solidFill>
                  <a:srgbClr val="F8FAFC"/>
                </a:solidFill>
                <a:latin typeface="Calibri"/>
              </a:defRPr>
            </a:pPr>
            <a:r>
              <a:t>// LAYER 02 — TRANSLATORPython interpreter🔄translating...A program that turns your words into 0s and 1s.</a:t>
            </a:r>
          </a:p>
        </p:txBody>
      </p:sp>
      <p:sp>
        <p:nvSpPr>
          <p:cNvPr id="6" name="TextBox 5"/>
          <p:cNvSpPr txBox="1"/>
          <p:nvPr/>
        </p:nvSpPr>
        <p:spPr>
          <a:xfrm>
            <a:off x="8318292" y="2857500"/>
            <a:ext cx="3873403" cy="4000500"/>
          </a:xfrm>
          <a:prstGeom prst="rect">
            <a:avLst/>
          </a:prstGeom>
          <a:noFill/>
        </p:spPr>
        <p:txBody>
          <a:bodyPr wrap="square">
            <a:spAutoFit/>
          </a:bodyPr>
          <a:lstStyle/>
          <a:p>
            <a:pPr>
              <a:defRPr sz="900">
                <a:solidFill>
                  <a:srgbClr val="F8FAFC"/>
                </a:solidFill>
                <a:latin typeface="Calibri"/>
              </a:defRPr>
            </a:pPr>
            <a:r>
              <a:t>// LAYER 03 — CPUWhat CPU seesbinary01001000 0110100100100001 0000101011010010 1011011100110101 11110000Only 0s and 1s. The only language the CPU actually speaks.</a:t>
            </a:r>
          </a:p>
        </p:txBody>
      </p:sp>
      <p:sp>
        <p:nvSpPr>
          <p:cNvPr id="7" name="TextBox 6"/>
          <p:cNvSpPr txBox="1"/>
          <p:nvPr/>
        </p:nvSpPr>
        <p:spPr>
          <a:xfrm>
            <a:off x="10972800" y="6400800"/>
            <a:ext cx="914400" cy="365760"/>
          </a:xfrm>
          <a:prstGeom prst="rect">
            <a:avLst/>
          </a:prstGeom>
          <a:noFill/>
        </p:spPr>
        <p:txBody>
          <a:bodyPr wrap="none">
            <a:spAutoFit/>
          </a:bodyPr>
          <a:lstStyle/>
          <a:p>
            <a:pPr algn="r">
              <a:defRPr sz="1000">
                <a:solidFill>
                  <a:srgbClr val="94A3B8"/>
                </a:solidFill>
                <a:latin typeface="Consolas"/>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91440"/>
            <a:ext cx="10972800" cy="365760"/>
          </a:xfrm>
          <a:prstGeom prst="rect">
            <a:avLst/>
          </a:prstGeom>
          <a:noFill/>
        </p:spPr>
        <p:txBody>
          <a:bodyPr wrap="none">
            <a:spAutoFit/>
          </a:bodyPr>
          <a:lstStyle/>
          <a:p>
            <a:pPr>
              <a:defRPr sz="1200">
                <a:solidFill>
                  <a:srgbClr val="22D3EE"/>
                </a:solidFill>
                <a:latin typeface="Consolas"/>
              </a:defRPr>
            </a:pPr>
            <a:r>
              <a:t>CONCEPT // BINARY — THE LANGUAGE OF MACHINES</a:t>
            </a:r>
          </a:p>
        </p:txBody>
      </p:sp>
      <p:sp>
        <p:nvSpPr>
          <p:cNvPr id="3" name="TextBox 2"/>
          <p:cNvSpPr txBox="1"/>
          <p:nvPr/>
        </p:nvSpPr>
        <p:spPr>
          <a:xfrm>
            <a:off x="507987" y="952500"/>
            <a:ext cx="10972800" cy="5486400"/>
          </a:xfrm>
          <a:prstGeom prst="rect">
            <a:avLst/>
          </a:prstGeom>
          <a:noFill/>
        </p:spPr>
        <p:txBody>
          <a:bodyPr wrap="square">
            <a:spAutoFit/>
          </a:bodyPr>
          <a:lstStyle/>
          <a:p>
            <a:pPr>
              <a:defRPr sz="900">
                <a:solidFill>
                  <a:srgbClr val="F8FAFC"/>
                </a:solidFill>
                <a:latin typeface="Calibri"/>
              </a:defRPr>
            </a:pPr>
            <a:r>
              <a:t>Everything =0or1.أي حاجة في الكمبيوتر = صفر أو واحد. بس. مفيش تاني.</a:t>
            </a:r>
          </a:p>
        </p:txBody>
      </p:sp>
      <p:sp>
        <p:nvSpPr>
          <p:cNvPr id="4" name="TextBox 3"/>
          <p:cNvSpPr txBox="1"/>
          <p:nvPr/>
        </p:nvSpPr>
        <p:spPr>
          <a:xfrm>
            <a:off x="761980" y="2730500"/>
            <a:ext cx="10972800" cy="4127500"/>
          </a:xfrm>
          <a:prstGeom prst="rect">
            <a:avLst/>
          </a:prstGeom>
          <a:noFill/>
        </p:spPr>
        <p:txBody>
          <a:bodyPr wrap="square">
            <a:spAutoFit/>
          </a:bodyPr>
          <a:lstStyle/>
          <a:p>
            <a:pPr>
              <a:defRPr sz="900">
                <a:solidFill>
                  <a:srgbClr val="F8FAFC"/>
                </a:solidFill>
                <a:latin typeface="Calibri"/>
              </a:defRPr>
            </a:pPr>
            <a:r>
              <a:t>// ANALOGY — LIGHT SWITCHA CPU hasbillions of tiny switches. Each one is either ON or OFF. Nothing in between.ON1orOFF0</a:t>
            </a:r>
          </a:p>
        </p:txBody>
      </p:sp>
      <p:sp>
        <p:nvSpPr>
          <p:cNvPr id="5" name="TextBox 4"/>
          <p:cNvSpPr txBox="1"/>
          <p:nvPr/>
        </p:nvSpPr>
        <p:spPr>
          <a:xfrm>
            <a:off x="6730831" y="2730500"/>
            <a:ext cx="5460863" cy="4127500"/>
          </a:xfrm>
          <a:prstGeom prst="rect">
            <a:avLst/>
          </a:prstGeom>
          <a:noFill/>
        </p:spPr>
        <p:txBody>
          <a:bodyPr wrap="square">
            <a:spAutoFit/>
          </a:bodyPr>
          <a:lstStyle/>
          <a:p>
            <a:pPr>
              <a:defRPr sz="900">
                <a:solidFill>
                  <a:srgbClr val="F8FAFC"/>
                </a:solidFill>
                <a:latin typeface="Calibri"/>
              </a:defRPr>
            </a:pPr>
            <a:r>
              <a:t>// EVERYTHING BECOMES BINARYText, photos, videos, music, games — all reduced to combinations of 0s and 1s.A→01000001B→01000010😀→11110000 10011111...🎵→01101101 11010001...📸→10011010 00110101...You will never manually write binary.Python does it for you. Promise. ✋</a:t>
            </a:r>
          </a:p>
        </p:txBody>
      </p:sp>
      <p:sp>
        <p:nvSpPr>
          <p:cNvPr id="6" name="TextBox 5"/>
          <p:cNvSpPr txBox="1"/>
          <p:nvPr/>
        </p:nvSpPr>
        <p:spPr>
          <a:xfrm>
            <a:off x="25399" y="203200"/>
            <a:ext cx="10972800" cy="5486400"/>
          </a:xfrm>
          <a:prstGeom prst="rect">
            <a:avLst/>
          </a:prstGeom>
          <a:noFill/>
        </p:spPr>
        <p:txBody>
          <a:bodyPr wrap="square">
            <a:spAutoFit/>
          </a:bodyPr>
          <a:lstStyle/>
          <a:p>
            <a:pPr>
              <a:defRPr sz="900">
                <a:solidFill>
                  <a:srgbClr val="F8FAFC"/>
                </a:solidFill>
                <a:latin typeface="Calibri"/>
              </a:defRPr>
            </a:pPr>
            <a:r>
              <a:t>You will never manually write binary.Python does it for you. Promise. ✋</a:t>
            </a:r>
          </a:p>
        </p:txBody>
      </p:sp>
      <p:sp>
        <p:nvSpPr>
          <p:cNvPr id="7" name="TextBox 6"/>
          <p:cNvSpPr txBox="1"/>
          <p:nvPr/>
        </p:nvSpPr>
        <p:spPr>
          <a:xfrm>
            <a:off x="10972800" y="6400800"/>
            <a:ext cx="914400" cy="365760"/>
          </a:xfrm>
          <a:prstGeom prst="rect">
            <a:avLst/>
          </a:prstGeom>
          <a:noFill/>
        </p:spPr>
        <p:txBody>
          <a:bodyPr wrap="none">
            <a:spAutoFit/>
          </a:bodyPr>
          <a:lstStyle/>
          <a:p>
            <a:pPr algn="r">
              <a:defRPr sz="1000">
                <a:solidFill>
                  <a:srgbClr val="94A3B8"/>
                </a:solidFill>
                <a:latin typeface="Consolas"/>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91440"/>
            <a:ext cx="10972800" cy="365760"/>
          </a:xfrm>
          <a:prstGeom prst="rect">
            <a:avLst/>
          </a:prstGeom>
          <a:noFill/>
        </p:spPr>
        <p:txBody>
          <a:bodyPr wrap="none">
            <a:spAutoFit/>
          </a:bodyPr>
          <a:lstStyle/>
          <a:p>
            <a:pPr>
              <a:defRPr sz="1200">
                <a:solidFill>
                  <a:srgbClr val="22D3EE"/>
                </a:solidFill>
                <a:latin typeface="Consolas"/>
              </a:defRPr>
            </a:pPr>
            <a:r>
              <a:t>CONCEPT // PROGRAMMING LANGUAGES</a:t>
            </a:r>
          </a:p>
        </p:txBody>
      </p:sp>
      <p:sp>
        <p:nvSpPr>
          <p:cNvPr id="3" name="TextBox 2"/>
          <p:cNvSpPr txBox="1"/>
          <p:nvPr/>
        </p:nvSpPr>
        <p:spPr>
          <a:xfrm>
            <a:off x="507987" y="952500"/>
            <a:ext cx="10972800" cy="5486400"/>
          </a:xfrm>
          <a:prstGeom prst="rect">
            <a:avLst/>
          </a:prstGeom>
          <a:noFill/>
        </p:spPr>
        <p:txBody>
          <a:bodyPr wrap="square">
            <a:spAutoFit/>
          </a:bodyPr>
          <a:lstStyle/>
          <a:p>
            <a:pPr>
              <a:defRPr sz="900">
                <a:solidFill>
                  <a:srgbClr val="F8FAFC"/>
                </a:solidFill>
                <a:latin typeface="Calibri"/>
              </a:defRPr>
            </a:pPr>
            <a:r>
              <a:t>Programming languagesare justlanguages.لغات البرمجة زي أي لغة — كل واحدة ليها استخداماتها</a:t>
            </a:r>
          </a:p>
        </p:txBody>
      </p:sp>
      <p:sp>
        <p:nvSpPr>
          <p:cNvPr id="4" name="TextBox 3"/>
          <p:cNvSpPr txBox="1"/>
          <p:nvPr/>
        </p:nvSpPr>
        <p:spPr>
          <a:xfrm>
            <a:off x="698482" y="2794000"/>
            <a:ext cx="10972800" cy="4064000"/>
          </a:xfrm>
          <a:prstGeom prst="rect">
            <a:avLst/>
          </a:prstGeom>
          <a:noFill/>
        </p:spPr>
        <p:txBody>
          <a:bodyPr wrap="square">
            <a:spAutoFit/>
          </a:bodyPr>
          <a:lstStyle/>
          <a:p>
            <a:pPr>
              <a:defRPr sz="900">
                <a:solidFill>
                  <a:srgbClr val="F8FAFC"/>
                </a:solidFill>
                <a:latin typeface="Calibri"/>
              </a:defRPr>
            </a:pPr>
            <a:r>
              <a:t>🐍PythonEASY · READABLEAI · data · websites · automation · scripts</a:t>
            </a:r>
          </a:p>
        </p:txBody>
      </p:sp>
      <p:sp>
        <p:nvSpPr>
          <p:cNvPr id="5" name="TextBox 4"/>
          <p:cNvSpPr txBox="1"/>
          <p:nvPr/>
        </p:nvSpPr>
        <p:spPr>
          <a:xfrm>
            <a:off x="2984425" y="2794000"/>
            <a:ext cx="9207269" cy="4064000"/>
          </a:xfrm>
          <a:prstGeom prst="rect">
            <a:avLst/>
          </a:prstGeom>
          <a:noFill/>
        </p:spPr>
        <p:txBody>
          <a:bodyPr wrap="square">
            <a:spAutoFit/>
          </a:bodyPr>
          <a:lstStyle/>
          <a:p>
            <a:pPr>
              <a:defRPr sz="900">
                <a:solidFill>
                  <a:srgbClr val="F8FAFC"/>
                </a:solidFill>
                <a:latin typeface="Calibri"/>
              </a:defRPr>
            </a:pPr>
            <a:r>
              <a:t>🌐JavaScriptWEB · EVERYWHEREWebsites · frontend · mobile apps</a:t>
            </a:r>
          </a:p>
        </p:txBody>
      </p:sp>
      <p:sp>
        <p:nvSpPr>
          <p:cNvPr id="6" name="TextBox 5"/>
          <p:cNvSpPr txBox="1"/>
          <p:nvPr/>
        </p:nvSpPr>
        <p:spPr>
          <a:xfrm>
            <a:off x="5270368" y="2794000"/>
            <a:ext cx="6921326" cy="4064000"/>
          </a:xfrm>
          <a:prstGeom prst="rect">
            <a:avLst/>
          </a:prstGeom>
          <a:noFill/>
        </p:spPr>
        <p:txBody>
          <a:bodyPr wrap="square">
            <a:spAutoFit/>
          </a:bodyPr>
          <a:lstStyle/>
          <a:p>
            <a:pPr>
              <a:defRPr sz="900">
                <a:solidFill>
                  <a:srgbClr val="F8FAFC"/>
                </a:solidFill>
                <a:latin typeface="Calibri"/>
              </a:defRPr>
            </a:pPr>
            <a:r>
              <a:t>⚡C / C++FAST · LOW-LEVELGames · operating systems · hardware</a:t>
            </a:r>
          </a:p>
        </p:txBody>
      </p:sp>
      <p:sp>
        <p:nvSpPr>
          <p:cNvPr id="7" name="TextBox 6"/>
          <p:cNvSpPr txBox="1"/>
          <p:nvPr/>
        </p:nvSpPr>
        <p:spPr>
          <a:xfrm>
            <a:off x="7556311" y="2794000"/>
            <a:ext cx="4635384" cy="4064000"/>
          </a:xfrm>
          <a:prstGeom prst="rect">
            <a:avLst/>
          </a:prstGeom>
          <a:noFill/>
        </p:spPr>
        <p:txBody>
          <a:bodyPr wrap="square">
            <a:spAutoFit/>
          </a:bodyPr>
          <a:lstStyle/>
          <a:p>
            <a:pPr>
              <a:defRPr sz="900">
                <a:solidFill>
                  <a:srgbClr val="F8FAFC"/>
                </a:solidFill>
                <a:latin typeface="Calibri"/>
              </a:defRPr>
            </a:pPr>
            <a:r>
              <a:t>☕JavaENTERPRISE · MOBILEAndroid apps · big companies · banks</a:t>
            </a:r>
          </a:p>
        </p:txBody>
      </p:sp>
      <p:sp>
        <p:nvSpPr>
          <p:cNvPr id="8" name="TextBox 7"/>
          <p:cNvSpPr txBox="1"/>
          <p:nvPr/>
        </p:nvSpPr>
        <p:spPr>
          <a:xfrm>
            <a:off x="9842253" y="2794000"/>
            <a:ext cx="2349441" cy="4064000"/>
          </a:xfrm>
          <a:prstGeom prst="rect">
            <a:avLst/>
          </a:prstGeom>
          <a:noFill/>
        </p:spPr>
        <p:txBody>
          <a:bodyPr wrap="square">
            <a:spAutoFit/>
          </a:bodyPr>
          <a:lstStyle/>
          <a:p>
            <a:pPr>
              <a:defRPr sz="900">
                <a:solidFill>
                  <a:srgbClr val="F8FAFC"/>
                </a:solidFill>
                <a:latin typeface="Calibri"/>
              </a:defRPr>
            </a:pPr>
            <a:r>
              <a:t>🦀Rust · GoMODERN · SYSTEMSServers · cloud · new-generation tools</a:t>
            </a:r>
          </a:p>
        </p:txBody>
      </p:sp>
      <p:sp>
        <p:nvSpPr>
          <p:cNvPr id="9" name="TextBox 8"/>
          <p:cNvSpPr txBox="1"/>
          <p:nvPr/>
        </p:nvSpPr>
        <p:spPr>
          <a:xfrm>
            <a:off x="825479" y="5207000"/>
            <a:ext cx="10972800" cy="1650999"/>
          </a:xfrm>
          <a:prstGeom prst="rect">
            <a:avLst/>
          </a:prstGeom>
          <a:noFill/>
        </p:spPr>
        <p:txBody>
          <a:bodyPr wrap="square">
            <a:spAutoFit/>
          </a:bodyPr>
          <a:lstStyle/>
          <a:p>
            <a:pPr>
              <a:defRPr sz="900">
                <a:solidFill>
                  <a:srgbClr val="F8FAFC"/>
                </a:solidFill>
                <a:latin typeface="Calibri"/>
              </a:defRPr>
            </a:pPr>
            <a:r>
              <a:t>// GOOD NEWSOnce you learnonelanguage deeply, learning the next is 5× faster. The concepts transfer.</a:t>
            </a:r>
          </a:p>
        </p:txBody>
      </p:sp>
      <p:sp>
        <p:nvSpPr>
          <p:cNvPr id="10" name="TextBox 9"/>
          <p:cNvSpPr txBox="1"/>
          <p:nvPr/>
        </p:nvSpPr>
        <p:spPr>
          <a:xfrm>
            <a:off x="10972800" y="6400800"/>
            <a:ext cx="914400" cy="365760"/>
          </a:xfrm>
          <a:prstGeom prst="rect">
            <a:avLst/>
          </a:prstGeom>
          <a:noFill/>
        </p:spPr>
        <p:txBody>
          <a:bodyPr wrap="none">
            <a:spAutoFit/>
          </a:bodyPr>
          <a:lstStyle/>
          <a:p>
            <a:pPr algn="r">
              <a:defRPr sz="1000">
                <a:solidFill>
                  <a:srgbClr val="94A3B8"/>
                </a:solidFill>
                <a:latin typeface="Consolas"/>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91440"/>
            <a:ext cx="10972800" cy="365760"/>
          </a:xfrm>
          <a:prstGeom prst="rect">
            <a:avLst/>
          </a:prstGeom>
          <a:noFill/>
        </p:spPr>
        <p:txBody>
          <a:bodyPr wrap="none">
            <a:spAutoFit/>
          </a:bodyPr>
          <a:lstStyle/>
          <a:p>
            <a:pPr>
              <a:defRPr sz="1200">
                <a:solidFill>
                  <a:srgbClr val="22D3EE"/>
                </a:solidFill>
                <a:latin typeface="Consolas"/>
              </a:defRPr>
            </a:pPr>
            <a:r>
              <a:t>CONCEPT // COMPILER vs INTERPRETER</a:t>
            </a:r>
          </a:p>
        </p:txBody>
      </p:sp>
      <p:sp>
        <p:nvSpPr>
          <p:cNvPr id="3" name="TextBox 2"/>
          <p:cNvSpPr txBox="1"/>
          <p:nvPr/>
        </p:nvSpPr>
        <p:spPr>
          <a:xfrm>
            <a:off x="507987" y="952500"/>
            <a:ext cx="10972800" cy="5486400"/>
          </a:xfrm>
          <a:prstGeom prst="rect">
            <a:avLst/>
          </a:prstGeom>
          <a:noFill/>
        </p:spPr>
        <p:txBody>
          <a:bodyPr wrap="square">
            <a:spAutoFit/>
          </a:bodyPr>
          <a:lstStyle/>
          <a:p>
            <a:pPr>
              <a:defRPr sz="900">
                <a:solidFill>
                  <a:srgbClr val="F8FAFC"/>
                </a:solidFill>
                <a:latin typeface="Calibri"/>
              </a:defRPr>
            </a:pPr>
            <a:r>
              <a:t>Two ways totranslate.فيه طريقتين علشان يترجم الكود — واحدة دفعة واحدة وواحدة سطر بسطر</a:t>
            </a:r>
          </a:p>
        </p:txBody>
      </p:sp>
      <p:sp>
        <p:nvSpPr>
          <p:cNvPr id="4" name="TextBox 3"/>
          <p:cNvSpPr txBox="1"/>
          <p:nvPr/>
        </p:nvSpPr>
        <p:spPr>
          <a:xfrm>
            <a:off x="761980" y="2794000"/>
            <a:ext cx="10972800" cy="4064000"/>
          </a:xfrm>
          <a:prstGeom prst="rect">
            <a:avLst/>
          </a:prstGeom>
          <a:noFill/>
        </p:spPr>
        <p:txBody>
          <a:bodyPr wrap="square">
            <a:spAutoFit/>
          </a:bodyPr>
          <a:lstStyle/>
          <a:p>
            <a:pPr>
              <a:defRPr sz="900">
                <a:solidFill>
                  <a:srgbClr val="F8FAFC"/>
                </a:solidFill>
                <a:latin typeface="Calibri"/>
              </a:defRPr>
            </a:pPr>
            <a:r>
              <a:t>📚// COMPILERTranslate the whole book firstترجم الكتاب كله الأول، بعدين اقراه1. Write all your code2. Run compiler → makes .exe file3. .exe runs directly on CPU4. Errors caught before runningLanguages:C · C++ · Rust · Go · Java✓ Fast to run·✗ Slow to write &amp; test</a:t>
            </a:r>
          </a:p>
        </p:txBody>
      </p:sp>
      <p:sp>
        <p:nvSpPr>
          <p:cNvPr id="5" name="TextBox 4"/>
          <p:cNvSpPr txBox="1"/>
          <p:nvPr/>
        </p:nvSpPr>
        <p:spPr>
          <a:xfrm>
            <a:off x="25399" y="127000"/>
            <a:ext cx="10972800" cy="5486400"/>
          </a:xfrm>
          <a:prstGeom prst="rect">
            <a:avLst/>
          </a:prstGeom>
          <a:noFill/>
        </p:spPr>
        <p:txBody>
          <a:bodyPr wrap="square">
            <a:spAutoFit/>
          </a:bodyPr>
          <a:lstStyle/>
          <a:p>
            <a:pPr>
              <a:defRPr sz="900">
                <a:solidFill>
                  <a:srgbClr val="F8FAFC"/>
                </a:solidFill>
                <a:latin typeface="Calibri"/>
              </a:defRPr>
            </a:pPr>
            <a:r>
              <a:t>Languages:C · C++ · Rust · Go · Java</a:t>
            </a:r>
          </a:p>
        </p:txBody>
      </p:sp>
      <p:sp>
        <p:nvSpPr>
          <p:cNvPr id="6" name="TextBox 5"/>
          <p:cNvSpPr txBox="1"/>
          <p:nvPr/>
        </p:nvSpPr>
        <p:spPr>
          <a:xfrm>
            <a:off x="6413339" y="2794000"/>
            <a:ext cx="5778355" cy="4064000"/>
          </a:xfrm>
          <a:prstGeom prst="rect">
            <a:avLst/>
          </a:prstGeom>
          <a:noFill/>
        </p:spPr>
        <p:txBody>
          <a:bodyPr wrap="square">
            <a:spAutoFit/>
          </a:bodyPr>
          <a:lstStyle/>
          <a:p>
            <a:pPr>
              <a:defRPr sz="900">
                <a:solidFill>
                  <a:srgbClr val="F8FAFC"/>
                </a:solidFill>
                <a:latin typeface="Calibri"/>
              </a:defRPr>
            </a:pPr>
            <a:r>
              <a:t>🎙️// INTERPRETERTranslate line-by-line, liveترجم كل سطر لحظة تنفيذه — زي المترجم الفوري1. Write one or many lines2. Interpreter reads line 1 → run it3. Then line 2 → run it4. Errors caught while runningLanguages:🐍 Python · JavaScript · Ruby · PHP✓ Fast to write &amp; test·✗ Slower to run</a:t>
            </a:r>
          </a:p>
        </p:txBody>
      </p:sp>
      <p:sp>
        <p:nvSpPr>
          <p:cNvPr id="7" name="TextBox 6"/>
          <p:cNvSpPr txBox="1"/>
          <p:nvPr/>
        </p:nvSpPr>
        <p:spPr>
          <a:xfrm>
            <a:off x="25399" y="127000"/>
            <a:ext cx="10972800" cy="5486400"/>
          </a:xfrm>
          <a:prstGeom prst="rect">
            <a:avLst/>
          </a:prstGeom>
          <a:noFill/>
        </p:spPr>
        <p:txBody>
          <a:bodyPr wrap="square">
            <a:spAutoFit/>
          </a:bodyPr>
          <a:lstStyle/>
          <a:p>
            <a:pPr>
              <a:defRPr sz="900">
                <a:solidFill>
                  <a:srgbClr val="F8FAFC"/>
                </a:solidFill>
                <a:latin typeface="Calibri"/>
              </a:defRPr>
            </a:pPr>
            <a:r>
              <a:t>Languages:🐍 Python · JavaScript · Ruby · PHP</a:t>
            </a:r>
          </a:p>
        </p:txBody>
      </p:sp>
      <p:sp>
        <p:nvSpPr>
          <p:cNvPr id="8" name="TextBox 7"/>
          <p:cNvSpPr txBox="1"/>
          <p:nvPr/>
        </p:nvSpPr>
        <p:spPr>
          <a:xfrm>
            <a:off x="10972800" y="6400800"/>
            <a:ext cx="914400" cy="365760"/>
          </a:xfrm>
          <a:prstGeom prst="rect">
            <a:avLst/>
          </a:prstGeom>
          <a:noFill/>
        </p:spPr>
        <p:txBody>
          <a:bodyPr wrap="none">
            <a:spAutoFit/>
          </a:bodyPr>
          <a:lstStyle/>
          <a:p>
            <a:pPr algn="r">
              <a:defRPr sz="1000">
                <a:solidFill>
                  <a:srgbClr val="94A3B8"/>
                </a:solidFill>
                <a:latin typeface="Consolas"/>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91440"/>
            <a:ext cx="10972800" cy="365760"/>
          </a:xfrm>
          <a:prstGeom prst="rect">
            <a:avLst/>
          </a:prstGeom>
          <a:noFill/>
        </p:spPr>
        <p:txBody>
          <a:bodyPr wrap="none">
            <a:spAutoFit/>
          </a:bodyPr>
          <a:lstStyle/>
          <a:p>
            <a:pPr>
              <a:defRPr sz="1200">
                <a:solidFill>
                  <a:srgbClr val="22D3EE"/>
                </a:solidFill>
                <a:latin typeface="Consolas"/>
              </a:defRPr>
            </a:pPr>
            <a:r>
              <a:t>DECISION // WHY PYTHON</a:t>
            </a:r>
          </a:p>
        </p:txBody>
      </p:sp>
      <p:sp>
        <p:nvSpPr>
          <p:cNvPr id="3" name="TextBox 2"/>
          <p:cNvSpPr txBox="1"/>
          <p:nvPr/>
        </p:nvSpPr>
        <p:spPr>
          <a:xfrm>
            <a:off x="507987" y="952500"/>
            <a:ext cx="10972800" cy="5486400"/>
          </a:xfrm>
          <a:prstGeom prst="rect">
            <a:avLst/>
          </a:prstGeom>
          <a:noFill/>
        </p:spPr>
        <p:txBody>
          <a:bodyPr wrap="square">
            <a:spAutoFit/>
          </a:bodyPr>
          <a:lstStyle/>
          <a:p>
            <a:pPr>
              <a:defRPr sz="900">
                <a:solidFill>
                  <a:srgbClr val="F8FAFC"/>
                </a:solidFill>
                <a:latin typeface="Calibri"/>
              </a:defRPr>
            </a:pPr>
            <a:r>
              <a:t>WhyPython?ليه اخترنا Python بالذات علشان تبدأوا بيها؟</a:t>
            </a:r>
          </a:p>
        </p:txBody>
      </p:sp>
      <p:sp>
        <p:nvSpPr>
          <p:cNvPr id="4" name="TextBox 3"/>
          <p:cNvSpPr txBox="1"/>
          <p:nvPr/>
        </p:nvSpPr>
        <p:spPr>
          <a:xfrm>
            <a:off x="9207269" y="1143000"/>
            <a:ext cx="2984425" cy="5486400"/>
          </a:xfrm>
          <a:prstGeom prst="rect">
            <a:avLst/>
          </a:prstGeom>
          <a:noFill/>
        </p:spPr>
        <p:txBody>
          <a:bodyPr wrap="square">
            <a:spAutoFit/>
          </a:bodyPr>
          <a:lstStyle/>
          <a:p>
            <a:pPr>
              <a:defRPr sz="900">
                <a:solidFill>
                  <a:srgbClr val="F8FAFC"/>
                </a:solidFill>
                <a:latin typeface="Calibri"/>
              </a:defRPr>
            </a:pPr>
            <a:r>
              <a:t>Py</a:t>
            </a:r>
          </a:p>
        </p:txBody>
      </p:sp>
      <p:sp>
        <p:nvSpPr>
          <p:cNvPr id="5" name="TextBox 4"/>
          <p:cNvSpPr txBox="1"/>
          <p:nvPr/>
        </p:nvSpPr>
        <p:spPr>
          <a:xfrm>
            <a:off x="698482" y="2825750"/>
            <a:ext cx="10972800" cy="4032249"/>
          </a:xfrm>
          <a:prstGeom prst="rect">
            <a:avLst/>
          </a:prstGeom>
          <a:noFill/>
        </p:spPr>
        <p:txBody>
          <a:bodyPr wrap="square">
            <a:spAutoFit/>
          </a:bodyPr>
          <a:lstStyle/>
          <a:p>
            <a:pPr>
              <a:defRPr sz="900">
                <a:solidFill>
                  <a:srgbClr val="F8FAFC"/>
                </a:solidFill>
                <a:latin typeface="Calibri"/>
              </a:defRPr>
            </a:pPr>
            <a:r>
              <a:t>📖// REASON 01Reads like Englishprint("Hello!")</a:t>
            </a:r>
          </a:p>
        </p:txBody>
      </p:sp>
      <p:sp>
        <p:nvSpPr>
          <p:cNvPr id="6" name="TextBox 5"/>
          <p:cNvSpPr txBox="1"/>
          <p:nvPr/>
        </p:nvSpPr>
        <p:spPr>
          <a:xfrm>
            <a:off x="4127396" y="2825750"/>
            <a:ext cx="8064298" cy="4032249"/>
          </a:xfrm>
          <a:prstGeom prst="rect">
            <a:avLst/>
          </a:prstGeom>
          <a:noFill/>
        </p:spPr>
        <p:txBody>
          <a:bodyPr wrap="square">
            <a:spAutoFit/>
          </a:bodyPr>
          <a:lstStyle/>
          <a:p>
            <a:pPr>
              <a:defRPr sz="900">
                <a:solidFill>
                  <a:srgbClr val="F8FAFC"/>
                </a:solidFill>
                <a:latin typeface="Calibri"/>
              </a:defRPr>
            </a:pPr>
            <a:r>
              <a:t>🤖// REASON 02#1 for AIChatGPT · TensorFlow · PyTorch</a:t>
            </a:r>
          </a:p>
        </p:txBody>
      </p:sp>
      <p:sp>
        <p:nvSpPr>
          <p:cNvPr id="7" name="TextBox 6"/>
          <p:cNvSpPr txBox="1"/>
          <p:nvPr/>
        </p:nvSpPr>
        <p:spPr>
          <a:xfrm>
            <a:off x="7556311" y="2825750"/>
            <a:ext cx="4635384" cy="4032249"/>
          </a:xfrm>
          <a:prstGeom prst="rect">
            <a:avLst/>
          </a:prstGeom>
          <a:noFill/>
        </p:spPr>
        <p:txBody>
          <a:bodyPr wrap="square">
            <a:spAutoFit/>
          </a:bodyPr>
          <a:lstStyle/>
          <a:p>
            <a:pPr>
              <a:defRPr sz="900">
                <a:solidFill>
                  <a:srgbClr val="F8FAFC"/>
                </a:solidFill>
                <a:latin typeface="Calibri"/>
              </a:defRPr>
            </a:pPr>
            <a:r>
              <a:t>💼// REASON 03Highest-paid jobsUsed at Google, Netflix, Meta, NASA</a:t>
            </a:r>
          </a:p>
        </p:txBody>
      </p:sp>
      <p:sp>
        <p:nvSpPr>
          <p:cNvPr id="8" name="TextBox 7"/>
          <p:cNvSpPr txBox="1"/>
          <p:nvPr/>
        </p:nvSpPr>
        <p:spPr>
          <a:xfrm>
            <a:off x="698482" y="4603750"/>
            <a:ext cx="10972800" cy="2254250"/>
          </a:xfrm>
          <a:prstGeom prst="rect">
            <a:avLst/>
          </a:prstGeom>
          <a:noFill/>
        </p:spPr>
        <p:txBody>
          <a:bodyPr wrap="square">
            <a:spAutoFit/>
          </a:bodyPr>
          <a:lstStyle/>
          <a:p>
            <a:pPr>
              <a:defRPr sz="900">
                <a:solidFill>
                  <a:srgbClr val="F8FAFC"/>
                </a:solidFill>
                <a:latin typeface="Calibri"/>
              </a:defRPr>
            </a:pPr>
            <a:r>
              <a:t>🧰// REASON 04Massive library — thousands of tools built-inWeb scraping · charts · games · robots · anything</a:t>
            </a:r>
          </a:p>
        </p:txBody>
      </p:sp>
      <p:sp>
        <p:nvSpPr>
          <p:cNvPr id="9" name="TextBox 8"/>
          <p:cNvSpPr txBox="1"/>
          <p:nvPr/>
        </p:nvSpPr>
        <p:spPr>
          <a:xfrm>
            <a:off x="5841853" y="4603750"/>
            <a:ext cx="6349841" cy="2254250"/>
          </a:xfrm>
          <a:prstGeom prst="rect">
            <a:avLst/>
          </a:prstGeom>
          <a:noFill/>
        </p:spPr>
        <p:txBody>
          <a:bodyPr wrap="square">
            <a:spAutoFit/>
          </a:bodyPr>
          <a:lstStyle/>
          <a:p>
            <a:pPr>
              <a:defRPr sz="900">
                <a:solidFill>
                  <a:srgbClr val="F8FAFC"/>
                </a:solidFill>
                <a:latin typeface="Calibri"/>
              </a:defRPr>
            </a:pPr>
            <a:r>
              <a:t>🌱// REASON 05Perfect for absolute beginnersYou can write your first working program in 60 seconds</a:t>
            </a:r>
          </a:p>
        </p:txBody>
      </p:sp>
      <p:sp>
        <p:nvSpPr>
          <p:cNvPr id="10" name="TextBox 9"/>
          <p:cNvSpPr txBox="1"/>
          <p:nvPr/>
        </p:nvSpPr>
        <p:spPr>
          <a:xfrm>
            <a:off x="10972800" y="6400800"/>
            <a:ext cx="914400" cy="365760"/>
          </a:xfrm>
          <a:prstGeom prst="rect">
            <a:avLst/>
          </a:prstGeom>
          <a:noFill/>
        </p:spPr>
        <p:txBody>
          <a:bodyPr wrap="none">
            <a:spAutoFit/>
          </a:bodyPr>
          <a:lstStyle/>
          <a:p>
            <a:pPr algn="r">
              <a:defRPr sz="1000">
                <a:solidFill>
                  <a:srgbClr val="94A3B8"/>
                </a:solidFill>
                <a:latin typeface="Consolas"/>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91440"/>
            <a:ext cx="10972800" cy="365760"/>
          </a:xfrm>
          <a:prstGeom prst="rect">
            <a:avLst/>
          </a:prstGeom>
          <a:noFill/>
        </p:spPr>
        <p:txBody>
          <a:bodyPr wrap="none">
            <a:spAutoFit/>
          </a:bodyPr>
          <a:lstStyle/>
          <a:p>
            <a:pPr>
              <a:defRPr sz="1200">
                <a:solidFill>
                  <a:srgbClr val="22D3EE"/>
                </a:solidFill>
                <a:latin typeface="Consolas"/>
              </a:defRPr>
            </a:pPr>
            <a:r>
              <a:t>SETUP // INSTALL PYTHON</a:t>
            </a:r>
          </a:p>
        </p:txBody>
      </p:sp>
      <p:sp>
        <p:nvSpPr>
          <p:cNvPr id="3" name="TextBox 2"/>
          <p:cNvSpPr txBox="1"/>
          <p:nvPr/>
        </p:nvSpPr>
        <p:spPr>
          <a:xfrm>
            <a:off x="507987" y="952500"/>
            <a:ext cx="10972800" cy="5486400"/>
          </a:xfrm>
          <a:prstGeom prst="rect">
            <a:avLst/>
          </a:prstGeom>
          <a:noFill/>
        </p:spPr>
        <p:txBody>
          <a:bodyPr wrap="square">
            <a:spAutoFit/>
          </a:bodyPr>
          <a:lstStyle/>
          <a:p>
            <a:pPr>
              <a:defRPr sz="900">
                <a:solidFill>
                  <a:srgbClr val="F8FAFC"/>
                </a:solidFill>
                <a:latin typeface="Calibri"/>
              </a:defRPr>
            </a:pPr>
            <a:r>
              <a:t>// SETUP STEP 01 OF 02Install Python.نزّل Python على جهازك</a:t>
            </a:r>
          </a:p>
        </p:txBody>
      </p:sp>
      <p:sp>
        <p:nvSpPr>
          <p:cNvPr id="4" name="TextBox 3"/>
          <p:cNvSpPr txBox="1"/>
          <p:nvPr/>
        </p:nvSpPr>
        <p:spPr>
          <a:xfrm>
            <a:off x="761980" y="2794000"/>
            <a:ext cx="10972800" cy="4064000"/>
          </a:xfrm>
          <a:prstGeom prst="rect">
            <a:avLst/>
          </a:prstGeom>
          <a:noFill/>
        </p:spPr>
        <p:txBody>
          <a:bodyPr wrap="square">
            <a:spAutoFit/>
          </a:bodyPr>
          <a:lstStyle/>
          <a:p>
            <a:pPr>
              <a:defRPr sz="900">
                <a:solidFill>
                  <a:srgbClr val="F8FAFC"/>
                </a:solidFill>
                <a:latin typeface="Calibri"/>
              </a:defRPr>
            </a:pPr>
            <a:r>
              <a:t>01Go topython.orgOfficial site — nowhere else. Never trust random download links.02ClickDownloads→Python 3.xLatest version. It auto-detects Windows / Mac / Linux.03Run installer⚠️MUST CHECK:"Add Python to PATH"before clicking Install.04Verify it workedOpen terminal → typepython --version</a:t>
            </a:r>
          </a:p>
        </p:txBody>
      </p:sp>
      <p:sp>
        <p:nvSpPr>
          <p:cNvPr id="5" name="TextBox 4"/>
          <p:cNvSpPr txBox="1"/>
          <p:nvPr/>
        </p:nvSpPr>
        <p:spPr>
          <a:xfrm>
            <a:off x="7873803" y="2540000"/>
            <a:ext cx="4317892" cy="4318000"/>
          </a:xfrm>
          <a:prstGeom prst="rect">
            <a:avLst/>
          </a:prstGeom>
          <a:noFill/>
        </p:spPr>
        <p:txBody>
          <a:bodyPr wrap="square">
            <a:spAutoFit/>
          </a:bodyPr>
          <a:lstStyle/>
          <a:p>
            <a:pPr>
              <a:defRPr sz="900">
                <a:solidFill>
                  <a:srgbClr val="F8FAFC"/>
                </a:solidFill>
                <a:latin typeface="Calibri"/>
              </a:defRPr>
            </a:pPr>
            <a:r>
              <a:t>Terminal</a:t>
            </a:r>
          </a:p>
        </p:txBody>
      </p:sp>
      <p:sp>
        <p:nvSpPr>
          <p:cNvPr id="6" name="TextBox 5"/>
          <p:cNvSpPr txBox="1"/>
          <p:nvPr/>
        </p:nvSpPr>
        <p:spPr>
          <a:xfrm>
            <a:off x="8064298" y="3047999"/>
            <a:ext cx="4127396" cy="3810000"/>
          </a:xfrm>
          <a:prstGeom prst="rect">
            <a:avLst/>
          </a:prstGeom>
          <a:noFill/>
        </p:spPr>
        <p:txBody>
          <a:bodyPr wrap="square">
            <a:spAutoFit/>
          </a:bodyPr>
          <a:lstStyle/>
          <a:p>
            <a:pPr>
              <a:defRPr sz="1600">
                <a:solidFill>
                  <a:srgbClr val="F8FAFC"/>
                </a:solidFill>
                <a:latin typeface="Calibri"/>
              </a:defRPr>
            </a:pPr>
            <a:r>
              <a:t>$python --versionPython 3.12.4$pythonPython 3.12.4 (main, ...)Type "help" for more info.&gt;&gt;&gt;1 + 12&gt;&gt;&gt;_</a:t>
            </a:r>
          </a:p>
        </p:txBody>
      </p:sp>
      <p:sp>
        <p:nvSpPr>
          <p:cNvPr id="7" name="TextBox 6"/>
          <p:cNvSpPr txBox="1"/>
          <p:nvPr/>
        </p:nvSpPr>
        <p:spPr>
          <a:xfrm>
            <a:off x="7873803" y="5270500"/>
            <a:ext cx="4317892" cy="1587500"/>
          </a:xfrm>
          <a:prstGeom prst="rect">
            <a:avLst/>
          </a:prstGeom>
          <a:noFill/>
        </p:spPr>
        <p:txBody>
          <a:bodyPr wrap="square">
            <a:spAutoFit/>
          </a:bodyPr>
          <a:lstStyle/>
          <a:p>
            <a:pPr>
              <a:defRPr sz="900">
                <a:solidFill>
                  <a:srgbClr val="F8FAFC"/>
                </a:solidFill>
                <a:latin typeface="Calibri"/>
              </a:defRPr>
            </a:pPr>
            <a:r>
              <a:t>If you see a version number → ✅ working.لو ظهر لك رقم النسخة، Python شغال</a:t>
            </a:r>
          </a:p>
        </p:txBody>
      </p:sp>
      <p:sp>
        <p:nvSpPr>
          <p:cNvPr id="8" name="TextBox 7"/>
          <p:cNvSpPr txBox="1"/>
          <p:nvPr/>
        </p:nvSpPr>
        <p:spPr>
          <a:xfrm>
            <a:off x="10972800" y="6400800"/>
            <a:ext cx="914400" cy="365760"/>
          </a:xfrm>
          <a:prstGeom prst="rect">
            <a:avLst/>
          </a:prstGeom>
          <a:noFill/>
        </p:spPr>
        <p:txBody>
          <a:bodyPr wrap="none">
            <a:spAutoFit/>
          </a:bodyPr>
          <a:lstStyle/>
          <a:p>
            <a:pPr algn="r">
              <a:defRPr sz="1000">
                <a:solidFill>
                  <a:srgbClr val="94A3B8"/>
                </a:solidFill>
                <a:latin typeface="Consolas"/>
              </a:defRPr>
            </a:pPr>
            <a: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91440"/>
            <a:ext cx="10972800" cy="365760"/>
          </a:xfrm>
          <a:prstGeom prst="rect">
            <a:avLst/>
          </a:prstGeom>
          <a:noFill/>
        </p:spPr>
        <p:txBody>
          <a:bodyPr wrap="none">
            <a:spAutoFit/>
          </a:bodyPr>
          <a:lstStyle/>
          <a:p>
            <a:pPr>
              <a:defRPr sz="1200">
                <a:solidFill>
                  <a:srgbClr val="22D3EE"/>
                </a:solidFill>
                <a:latin typeface="Consolas"/>
              </a:defRPr>
            </a:pPr>
            <a:r>
              <a:t>SETUP // INSTALL VS CODE</a:t>
            </a:r>
          </a:p>
        </p:txBody>
      </p:sp>
      <p:sp>
        <p:nvSpPr>
          <p:cNvPr id="3" name="TextBox 2"/>
          <p:cNvSpPr txBox="1"/>
          <p:nvPr/>
        </p:nvSpPr>
        <p:spPr>
          <a:xfrm>
            <a:off x="507987" y="952500"/>
            <a:ext cx="10972800" cy="5486400"/>
          </a:xfrm>
          <a:prstGeom prst="rect">
            <a:avLst/>
          </a:prstGeom>
          <a:noFill/>
        </p:spPr>
        <p:txBody>
          <a:bodyPr wrap="square">
            <a:spAutoFit/>
          </a:bodyPr>
          <a:lstStyle/>
          <a:p>
            <a:pPr>
              <a:defRPr sz="900">
                <a:solidFill>
                  <a:srgbClr val="F8FAFC"/>
                </a:solidFill>
                <a:latin typeface="Calibri"/>
              </a:defRPr>
            </a:pPr>
            <a:r>
              <a:t>// SETUP STEP 02 OF 02Install VS Code.المحرر اللي هنكتب فيه الكود</a:t>
            </a:r>
          </a:p>
        </p:txBody>
      </p:sp>
      <p:sp>
        <p:nvSpPr>
          <p:cNvPr id="4" name="TextBox 3"/>
          <p:cNvSpPr txBox="1"/>
          <p:nvPr/>
        </p:nvSpPr>
        <p:spPr>
          <a:xfrm>
            <a:off x="761980" y="2794000"/>
            <a:ext cx="10972800" cy="4064000"/>
          </a:xfrm>
          <a:prstGeom prst="rect">
            <a:avLst/>
          </a:prstGeom>
          <a:noFill/>
        </p:spPr>
        <p:txBody>
          <a:bodyPr wrap="square">
            <a:spAutoFit/>
          </a:bodyPr>
          <a:lstStyle/>
          <a:p>
            <a:pPr>
              <a:defRPr sz="900">
                <a:solidFill>
                  <a:srgbClr val="F8FAFC"/>
                </a:solidFill>
                <a:latin typeface="Calibri"/>
              </a:defRPr>
            </a:pPr>
            <a:r>
              <a:t>01Go tocode.visualstudio.comMade by Microsoft. Free. The most-used code editor in the world.02Download for your OSWindows · Mac · Linux — one click, auto-detected.03Install &amp; openNext → Next → Finish. Nothing tricky.04Install thePython extensionLeft sidebar → Extensions (📦) → search "Python" → Install.05You're ready to code 🎉Everything you need — installed. Zero more setup.</a:t>
            </a:r>
          </a:p>
        </p:txBody>
      </p:sp>
      <p:sp>
        <p:nvSpPr>
          <p:cNvPr id="5" name="TextBox 4"/>
          <p:cNvSpPr txBox="1"/>
          <p:nvPr/>
        </p:nvSpPr>
        <p:spPr>
          <a:xfrm>
            <a:off x="7111822" y="2540000"/>
            <a:ext cx="5079873" cy="4318000"/>
          </a:xfrm>
          <a:prstGeom prst="rect">
            <a:avLst/>
          </a:prstGeom>
          <a:noFill/>
        </p:spPr>
        <p:txBody>
          <a:bodyPr wrap="square">
            <a:spAutoFit/>
          </a:bodyPr>
          <a:lstStyle/>
          <a:p>
            <a:pPr>
              <a:defRPr sz="900">
                <a:solidFill>
                  <a:srgbClr val="F8FAFC"/>
                </a:solidFill>
                <a:latin typeface="Calibri"/>
              </a:defRPr>
            </a:pPr>
            <a:r>
              <a:t>VS Code — hello.py📄🔍🌿▶️📦EXPLORER📁 my-python📄 hello.py# my first python fileprint("Hello, world!")name="Ali"print("Hi,",name)</a:t>
            </a:r>
          </a:p>
        </p:txBody>
      </p:sp>
      <p:sp>
        <p:nvSpPr>
          <p:cNvPr id="6" name="TextBox 5"/>
          <p:cNvSpPr txBox="1"/>
          <p:nvPr/>
        </p:nvSpPr>
        <p:spPr>
          <a:xfrm>
            <a:off x="10972800" y="6400800"/>
            <a:ext cx="914400" cy="365760"/>
          </a:xfrm>
          <a:prstGeom prst="rect">
            <a:avLst/>
          </a:prstGeom>
          <a:noFill/>
        </p:spPr>
        <p:txBody>
          <a:bodyPr wrap="none">
            <a:spAutoFit/>
          </a:bodyPr>
          <a:lstStyle/>
          <a:p>
            <a:pPr algn="r">
              <a:defRPr sz="1000">
                <a:solidFill>
                  <a:srgbClr val="94A3B8"/>
                </a:solidFill>
                <a:latin typeface="Consolas"/>
              </a:defRPr>
            </a:pPr>
            <a: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91440"/>
            <a:ext cx="10972800" cy="365760"/>
          </a:xfrm>
          <a:prstGeom prst="rect">
            <a:avLst/>
          </a:prstGeom>
          <a:noFill/>
        </p:spPr>
        <p:txBody>
          <a:bodyPr wrap="none">
            <a:spAutoFit/>
          </a:bodyPr>
          <a:lstStyle/>
          <a:p>
            <a:pPr>
              <a:defRPr sz="1200">
                <a:solidFill>
                  <a:srgbClr val="22D3EE"/>
                </a:solidFill>
                <a:latin typeface="Consolas"/>
              </a:defRPr>
            </a:pPr>
            <a:r>
              <a:t>SETUP // TERMINAL BASICS</a:t>
            </a:r>
          </a:p>
        </p:txBody>
      </p:sp>
      <p:sp>
        <p:nvSpPr>
          <p:cNvPr id="3" name="TextBox 2"/>
          <p:cNvSpPr txBox="1"/>
          <p:nvPr/>
        </p:nvSpPr>
        <p:spPr>
          <a:xfrm>
            <a:off x="507987" y="952500"/>
            <a:ext cx="10972800" cy="5486400"/>
          </a:xfrm>
          <a:prstGeom prst="rect">
            <a:avLst/>
          </a:prstGeom>
          <a:noFill/>
        </p:spPr>
        <p:txBody>
          <a:bodyPr wrap="square">
            <a:spAutoFit/>
          </a:bodyPr>
          <a:lstStyle/>
          <a:p>
            <a:pPr>
              <a:defRPr sz="900">
                <a:solidFill>
                  <a:srgbClr val="F8FAFC"/>
                </a:solidFill>
                <a:latin typeface="Calibri"/>
              </a:defRPr>
            </a:pPr>
            <a:r>
              <a:t>Meet theterminal.الشاشة السودة اللي بتخلي أي حد يبان زي هاكر — طب هي إيه فعلاً؟</a:t>
            </a:r>
          </a:p>
        </p:txBody>
      </p:sp>
      <p:sp>
        <p:nvSpPr>
          <p:cNvPr id="4" name="TextBox 3"/>
          <p:cNvSpPr txBox="1"/>
          <p:nvPr/>
        </p:nvSpPr>
        <p:spPr>
          <a:xfrm>
            <a:off x="507987" y="2413000"/>
            <a:ext cx="10972800" cy="4445000"/>
          </a:xfrm>
          <a:prstGeom prst="rect">
            <a:avLst/>
          </a:prstGeom>
          <a:noFill/>
        </p:spPr>
        <p:txBody>
          <a:bodyPr wrap="square">
            <a:spAutoFit/>
          </a:bodyPr>
          <a:lstStyle/>
          <a:p>
            <a:pPr>
              <a:defRPr sz="900">
                <a:solidFill>
                  <a:srgbClr val="F8FAFC"/>
                </a:solidFill>
                <a:latin typeface="Calibri"/>
              </a:defRPr>
            </a:pPr>
            <a:r>
              <a:t>// 4 COMMANDS YOU NEED TODAYpwd"Where am I?" — prints your current folder.فين أنا حالياً — في أنهي فولدرls(Mac/Linux)·  dir(Windows)"What's here?" — lists files in current folder.أعرض كل الملفات اللي في الفولدرcd folder-name"Go into this folder."cd ..to go back.ادخل جوه فولدر معينpython filename.py"Run this Python file!" — the magic command.شغّل ملف Python — الأمر السحري</a:t>
            </a:r>
          </a:p>
        </p:txBody>
      </p:sp>
      <p:sp>
        <p:nvSpPr>
          <p:cNvPr id="5" name="TextBox 4"/>
          <p:cNvSpPr txBox="1"/>
          <p:nvPr/>
        </p:nvSpPr>
        <p:spPr>
          <a:xfrm>
            <a:off x="6540336" y="2540000"/>
            <a:ext cx="5651358" cy="4318000"/>
          </a:xfrm>
          <a:prstGeom prst="rect">
            <a:avLst/>
          </a:prstGeom>
          <a:noFill/>
        </p:spPr>
        <p:txBody>
          <a:bodyPr wrap="square">
            <a:spAutoFit/>
          </a:bodyPr>
          <a:lstStyle/>
          <a:p>
            <a:pPr>
              <a:defRPr sz="900">
                <a:solidFill>
                  <a:srgbClr val="F8FAFC"/>
                </a:solidFill>
                <a:latin typeface="Calibri"/>
              </a:defRPr>
            </a:pPr>
            <a:r>
              <a:t>Terminal — live session</a:t>
            </a:r>
          </a:p>
        </p:txBody>
      </p:sp>
      <p:sp>
        <p:nvSpPr>
          <p:cNvPr id="6" name="TextBox 5"/>
          <p:cNvSpPr txBox="1"/>
          <p:nvPr/>
        </p:nvSpPr>
        <p:spPr>
          <a:xfrm>
            <a:off x="6730831" y="3047999"/>
            <a:ext cx="5460863" cy="3810000"/>
          </a:xfrm>
          <a:prstGeom prst="rect">
            <a:avLst/>
          </a:prstGeom>
          <a:noFill/>
        </p:spPr>
        <p:txBody>
          <a:bodyPr wrap="square">
            <a:spAutoFit/>
          </a:bodyPr>
          <a:lstStyle/>
          <a:p>
            <a:pPr>
              <a:defRPr sz="1500">
                <a:solidFill>
                  <a:srgbClr val="F8FAFC"/>
                </a:solidFill>
                <a:latin typeface="Calibri"/>
              </a:defRPr>
            </a:pPr>
            <a:r>
              <a:t>$pwd/Users/ali/Desktop$lsmy-python/    photo.jpg    notes.txt$cd my-python$lshello.py$python hello.pyHello, world!$_</a:t>
            </a:r>
          </a:p>
        </p:txBody>
      </p:sp>
      <p:sp>
        <p:nvSpPr>
          <p:cNvPr id="7" name="TextBox 6"/>
          <p:cNvSpPr txBox="1"/>
          <p:nvPr/>
        </p:nvSpPr>
        <p:spPr>
          <a:xfrm>
            <a:off x="10972800" y="6400800"/>
            <a:ext cx="914400" cy="365760"/>
          </a:xfrm>
          <a:prstGeom prst="rect">
            <a:avLst/>
          </a:prstGeom>
          <a:noFill/>
        </p:spPr>
        <p:txBody>
          <a:bodyPr wrap="none">
            <a:spAutoFit/>
          </a:bodyPr>
          <a:lstStyle/>
          <a:p>
            <a:pPr algn="r">
              <a:defRPr sz="1000">
                <a:solidFill>
                  <a:srgbClr val="94A3B8"/>
                </a:solidFill>
                <a:latin typeface="Consolas"/>
              </a:defRPr>
            </a:pPr>
            <a: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91440"/>
            <a:ext cx="10972800" cy="365760"/>
          </a:xfrm>
          <a:prstGeom prst="rect">
            <a:avLst/>
          </a:prstGeom>
          <a:noFill/>
        </p:spPr>
        <p:txBody>
          <a:bodyPr wrap="none">
            <a:spAutoFit/>
          </a:bodyPr>
          <a:lstStyle/>
          <a:p>
            <a:pPr>
              <a:defRPr sz="1200">
                <a:solidFill>
                  <a:srgbClr val="22D3EE"/>
                </a:solidFill>
                <a:latin typeface="Consolas"/>
              </a:defRPr>
            </a:pPr>
            <a:r>
              <a:t>WORKFLOW // RUNNING A PYTHON FILE</a:t>
            </a:r>
          </a:p>
        </p:txBody>
      </p:sp>
      <p:sp>
        <p:nvSpPr>
          <p:cNvPr id="3" name="TextBox 2"/>
          <p:cNvSpPr txBox="1"/>
          <p:nvPr/>
        </p:nvSpPr>
        <p:spPr>
          <a:xfrm>
            <a:off x="507987" y="952500"/>
            <a:ext cx="10972800" cy="5486400"/>
          </a:xfrm>
          <a:prstGeom prst="rect">
            <a:avLst/>
          </a:prstGeom>
          <a:noFill/>
        </p:spPr>
        <p:txBody>
          <a:bodyPr wrap="square">
            <a:spAutoFit/>
          </a:bodyPr>
          <a:lstStyle/>
          <a:p>
            <a:pPr>
              <a:defRPr sz="900">
                <a:solidFill>
                  <a:srgbClr val="F8FAFC"/>
                </a:solidFill>
                <a:latin typeface="Calibri"/>
              </a:defRPr>
            </a:pPr>
            <a:r>
              <a:t>Your firstworkflow.الدورة الكاملة — من فتح VS Code لحد ما تشوف نتيجة الكود</a:t>
            </a:r>
          </a:p>
        </p:txBody>
      </p:sp>
      <p:sp>
        <p:nvSpPr>
          <p:cNvPr id="4" name="TextBox 3"/>
          <p:cNvSpPr txBox="1"/>
          <p:nvPr/>
        </p:nvSpPr>
        <p:spPr>
          <a:xfrm>
            <a:off x="698482" y="2730500"/>
            <a:ext cx="10972800" cy="4127500"/>
          </a:xfrm>
          <a:prstGeom prst="rect">
            <a:avLst/>
          </a:prstGeom>
          <a:noFill/>
        </p:spPr>
        <p:txBody>
          <a:bodyPr wrap="square">
            <a:spAutoFit/>
          </a:bodyPr>
          <a:lstStyle/>
          <a:p>
            <a:pPr>
              <a:defRPr sz="900">
                <a:solidFill>
                  <a:srgbClr val="F8FAFC"/>
                </a:solidFill>
                <a:latin typeface="Calibri"/>
              </a:defRPr>
            </a:pPr>
            <a:r>
              <a:t>01📁Create a folderOn your Desktop, make a folder calledmy-pythonاعمل فولدر على سطح المكتب</a:t>
            </a:r>
          </a:p>
        </p:txBody>
      </p:sp>
      <p:sp>
        <p:nvSpPr>
          <p:cNvPr id="5" name="TextBox 4"/>
          <p:cNvSpPr txBox="1"/>
          <p:nvPr/>
        </p:nvSpPr>
        <p:spPr>
          <a:xfrm>
            <a:off x="3555911" y="2730500"/>
            <a:ext cx="8635784" cy="4127500"/>
          </a:xfrm>
          <a:prstGeom prst="rect">
            <a:avLst/>
          </a:prstGeom>
          <a:noFill/>
        </p:spPr>
        <p:txBody>
          <a:bodyPr wrap="square">
            <a:spAutoFit/>
          </a:bodyPr>
          <a:lstStyle/>
          <a:p>
            <a:pPr>
              <a:defRPr sz="900">
                <a:solidFill>
                  <a:srgbClr val="F8FAFC"/>
                </a:solidFill>
                <a:latin typeface="Calibri"/>
              </a:defRPr>
            </a:pPr>
            <a:r>
              <a:t>02📄Create a .py fileOpen VS Code → File → New File → save ashello.pyاعمل ملف بامتداد ‎.py</a:t>
            </a:r>
          </a:p>
        </p:txBody>
      </p:sp>
      <p:sp>
        <p:nvSpPr>
          <p:cNvPr id="6" name="TextBox 5"/>
          <p:cNvSpPr txBox="1"/>
          <p:nvPr/>
        </p:nvSpPr>
        <p:spPr>
          <a:xfrm>
            <a:off x="6413339" y="2730500"/>
            <a:ext cx="5778355" cy="4127500"/>
          </a:xfrm>
          <a:prstGeom prst="rect">
            <a:avLst/>
          </a:prstGeom>
          <a:noFill/>
        </p:spPr>
        <p:txBody>
          <a:bodyPr wrap="square">
            <a:spAutoFit/>
          </a:bodyPr>
          <a:lstStyle/>
          <a:p>
            <a:pPr>
              <a:defRPr sz="900">
                <a:solidFill>
                  <a:srgbClr val="F8FAFC"/>
                </a:solidFill>
                <a:latin typeface="Calibri"/>
              </a:defRPr>
            </a:pPr>
            <a:r>
              <a:t>03⌨️Write codeprint("Hello!")Save withCtrl+S/⌘+S</a:t>
            </a:r>
          </a:p>
        </p:txBody>
      </p:sp>
      <p:sp>
        <p:nvSpPr>
          <p:cNvPr id="7" name="TextBox 6"/>
          <p:cNvSpPr txBox="1"/>
          <p:nvPr/>
        </p:nvSpPr>
        <p:spPr>
          <a:xfrm>
            <a:off x="9270768" y="2730500"/>
            <a:ext cx="2920926" cy="4127500"/>
          </a:xfrm>
          <a:prstGeom prst="rect">
            <a:avLst/>
          </a:prstGeom>
          <a:noFill/>
        </p:spPr>
        <p:txBody>
          <a:bodyPr wrap="square">
            <a:spAutoFit/>
          </a:bodyPr>
          <a:lstStyle/>
          <a:p>
            <a:pPr>
              <a:defRPr sz="900">
                <a:solidFill>
                  <a:srgbClr val="F8FAFC"/>
                </a:solidFill>
                <a:latin typeface="Calibri"/>
              </a:defRPr>
            </a:pPr>
            <a:r>
              <a:t>04▶️Run it!$ python hello.pyOr click the ▶ button in VS Code (top-right)</a:t>
            </a:r>
          </a:p>
        </p:txBody>
      </p:sp>
      <p:sp>
        <p:nvSpPr>
          <p:cNvPr id="8" name="TextBox 7"/>
          <p:cNvSpPr txBox="1"/>
          <p:nvPr/>
        </p:nvSpPr>
        <p:spPr>
          <a:xfrm>
            <a:off x="10972800" y="6400800"/>
            <a:ext cx="914400" cy="365760"/>
          </a:xfrm>
          <a:prstGeom prst="rect">
            <a:avLst/>
          </a:prstGeom>
          <a:noFill/>
        </p:spPr>
        <p:txBody>
          <a:bodyPr wrap="none">
            <a:spAutoFit/>
          </a:bodyPr>
          <a:lstStyle/>
          <a:p>
            <a:pPr algn="r">
              <a:defRPr sz="1000">
                <a:solidFill>
                  <a:srgbClr val="94A3B8"/>
                </a:solidFill>
                <a:latin typeface="Consolas"/>
              </a:defRPr>
            </a:pPr>
            <a: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91440"/>
            <a:ext cx="10972800" cy="365760"/>
          </a:xfrm>
          <a:prstGeom prst="rect">
            <a:avLst/>
          </a:prstGeom>
          <a:noFill/>
        </p:spPr>
        <p:txBody>
          <a:bodyPr wrap="none">
            <a:spAutoFit/>
          </a:bodyPr>
          <a:lstStyle/>
          <a:p>
            <a:pPr>
              <a:defRPr sz="1200">
                <a:solidFill>
                  <a:srgbClr val="22D3EE"/>
                </a:solidFill>
                <a:latin typeface="Consolas"/>
              </a:defRPr>
            </a:pPr>
            <a:r>
              <a:t>MILESTONE // FIRST LINE OF PYTHON</a:t>
            </a:r>
          </a:p>
        </p:txBody>
      </p:sp>
      <p:sp>
        <p:nvSpPr>
          <p:cNvPr id="3" name="TextBox 2"/>
          <p:cNvSpPr txBox="1"/>
          <p:nvPr/>
        </p:nvSpPr>
        <p:spPr>
          <a:xfrm>
            <a:off x="507987" y="1143000"/>
            <a:ext cx="10972800" cy="5486400"/>
          </a:xfrm>
          <a:prstGeom prst="rect">
            <a:avLst/>
          </a:prstGeom>
          <a:noFill/>
        </p:spPr>
        <p:txBody>
          <a:bodyPr wrap="square">
            <a:spAutoFit/>
          </a:bodyPr>
          <a:lstStyle/>
          <a:p>
            <a:pPr>
              <a:defRPr sz="900">
                <a:solidFill>
                  <a:srgbClr val="F8FAFC"/>
                </a:solidFill>
                <a:latin typeface="Calibri"/>
              </a:defRPr>
            </a:pPr>
            <a:r>
              <a:t>// YOUR FIRST COMMANDprint()Tells Python:"show this on the screen."اعرض دي على الشاشة — أبسط أمر في بايثون</a:t>
            </a:r>
          </a:p>
        </p:txBody>
      </p:sp>
      <p:sp>
        <p:nvSpPr>
          <p:cNvPr id="4" name="TextBox 3"/>
          <p:cNvSpPr txBox="1"/>
          <p:nvPr/>
        </p:nvSpPr>
        <p:spPr>
          <a:xfrm>
            <a:off x="507987" y="4572000"/>
            <a:ext cx="10972800" cy="2286000"/>
          </a:xfrm>
          <a:prstGeom prst="rect">
            <a:avLst/>
          </a:prstGeom>
          <a:noFill/>
        </p:spPr>
        <p:txBody>
          <a:bodyPr wrap="square">
            <a:spAutoFit/>
          </a:bodyPr>
          <a:lstStyle/>
          <a:p>
            <a:pPr>
              <a:defRPr sz="900">
                <a:solidFill>
                  <a:srgbClr val="F8FAFC"/>
                </a:solidFill>
                <a:latin typeface="Calibri"/>
              </a:defRPr>
            </a:pPr>
            <a:r>
              <a:t>hello.py</a:t>
            </a:r>
          </a:p>
        </p:txBody>
      </p:sp>
      <p:sp>
        <p:nvSpPr>
          <p:cNvPr id="5" name="TextBox 4"/>
          <p:cNvSpPr txBox="1"/>
          <p:nvPr/>
        </p:nvSpPr>
        <p:spPr>
          <a:xfrm>
            <a:off x="698482" y="5080000"/>
            <a:ext cx="10972800" cy="1778000"/>
          </a:xfrm>
          <a:prstGeom prst="rect">
            <a:avLst/>
          </a:prstGeom>
          <a:noFill/>
        </p:spPr>
        <p:txBody>
          <a:bodyPr wrap="square">
            <a:spAutoFit/>
          </a:bodyPr>
          <a:lstStyle/>
          <a:p>
            <a:pPr>
              <a:defRPr sz="2300">
                <a:solidFill>
                  <a:srgbClr val="F8FAFC"/>
                </a:solidFill>
                <a:latin typeface="Calibri"/>
              </a:defRPr>
            </a:pPr>
            <a:r>
              <a:t>print("Hello, world!")print("I am learning Python 🐍")</a:t>
            </a:r>
          </a:p>
        </p:txBody>
      </p:sp>
      <p:sp>
        <p:nvSpPr>
          <p:cNvPr id="6" name="TextBox 5"/>
          <p:cNvSpPr txBox="1"/>
          <p:nvPr/>
        </p:nvSpPr>
        <p:spPr>
          <a:xfrm>
            <a:off x="6730831" y="4699000"/>
            <a:ext cx="5460863" cy="2159000"/>
          </a:xfrm>
          <a:prstGeom prst="rect">
            <a:avLst/>
          </a:prstGeom>
          <a:noFill/>
        </p:spPr>
        <p:txBody>
          <a:bodyPr wrap="square">
            <a:spAutoFit/>
          </a:bodyPr>
          <a:lstStyle/>
          <a:p>
            <a:pPr>
              <a:defRPr sz="900">
                <a:solidFill>
                  <a:srgbClr val="F8FAFC"/>
                </a:solidFill>
                <a:latin typeface="Calibri"/>
              </a:defRPr>
            </a:pPr>
            <a:r>
              <a:t>// ANATOMY OF THE LINEprintThe function name — what we're calling.(  )Parentheses — what to give the function."..."Quotes — mark text (a "string") that must be printed literally.</a:t>
            </a:r>
          </a:p>
        </p:txBody>
      </p:sp>
      <p:sp>
        <p:nvSpPr>
          <p:cNvPr id="7" name="TextBox 6"/>
          <p:cNvSpPr txBox="1"/>
          <p:nvPr/>
        </p:nvSpPr>
        <p:spPr>
          <a:xfrm>
            <a:off x="10972800" y="6400800"/>
            <a:ext cx="914400" cy="365760"/>
          </a:xfrm>
          <a:prstGeom prst="rect">
            <a:avLst/>
          </a:prstGeom>
          <a:noFill/>
        </p:spPr>
        <p:txBody>
          <a:bodyPr wrap="none">
            <a:spAutoFit/>
          </a:bodyPr>
          <a:lstStyle/>
          <a:p>
            <a:pPr algn="r">
              <a:defRPr sz="1000">
                <a:solidFill>
                  <a:srgbClr val="94A3B8"/>
                </a:solidFill>
                <a:latin typeface="Consolas"/>
              </a:defRPr>
            </a:pPr>
            <a: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91440"/>
            <a:ext cx="10972800" cy="365760"/>
          </a:xfrm>
          <a:prstGeom prst="rect">
            <a:avLst/>
          </a:prstGeom>
          <a:noFill/>
        </p:spPr>
        <p:txBody>
          <a:bodyPr wrap="none">
            <a:spAutoFit/>
          </a:bodyPr>
          <a:lstStyle/>
          <a:p>
            <a:pPr>
              <a:defRPr sz="1200">
                <a:solidFill>
                  <a:srgbClr val="22D3EE"/>
                </a:solidFill>
                <a:latin typeface="Consolas"/>
              </a:defRPr>
            </a:pPr>
            <a:r>
              <a:t>LIVE CODING // print() — YOUR TURN</a:t>
            </a:r>
          </a:p>
        </p:txBody>
      </p:sp>
      <p:sp>
        <p:nvSpPr>
          <p:cNvPr id="3" name="TextBox 2"/>
          <p:cNvSpPr txBox="1"/>
          <p:nvPr/>
        </p:nvSpPr>
        <p:spPr>
          <a:xfrm>
            <a:off x="507987" y="825499"/>
            <a:ext cx="10972800" cy="5486400"/>
          </a:xfrm>
          <a:prstGeom prst="rect">
            <a:avLst/>
          </a:prstGeom>
          <a:noFill/>
        </p:spPr>
        <p:txBody>
          <a:bodyPr wrap="square">
            <a:spAutoFit/>
          </a:bodyPr>
          <a:lstStyle/>
          <a:p>
            <a:pPr>
              <a:defRPr sz="900">
                <a:solidFill>
                  <a:srgbClr val="F8FAFC"/>
                </a:solidFill>
                <a:latin typeface="Calibri"/>
              </a:defRPr>
            </a:pPr>
            <a:r>
              <a:t>Live coding —everyone types.اكتبوا الكود ده معايا سطر بسطر — مش تنسخوا، اكتبوا بإيدكم</a:t>
            </a:r>
          </a:p>
        </p:txBody>
      </p:sp>
      <p:sp>
        <p:nvSpPr>
          <p:cNvPr id="4" name="TextBox 3"/>
          <p:cNvSpPr txBox="1"/>
          <p:nvPr/>
        </p:nvSpPr>
        <p:spPr>
          <a:xfrm>
            <a:off x="507987" y="2159000"/>
            <a:ext cx="10972800" cy="4699000"/>
          </a:xfrm>
          <a:prstGeom prst="rect">
            <a:avLst/>
          </a:prstGeom>
          <a:noFill/>
        </p:spPr>
        <p:txBody>
          <a:bodyPr wrap="square">
            <a:spAutoFit/>
          </a:bodyPr>
          <a:lstStyle/>
          <a:p>
            <a:pPr>
              <a:defRPr sz="900">
                <a:solidFill>
                  <a:srgbClr val="F8FAFC"/>
                </a:solidFill>
                <a:latin typeface="Calibri"/>
              </a:defRPr>
            </a:pPr>
            <a:r>
              <a:t>first_prints.py</a:t>
            </a:r>
          </a:p>
        </p:txBody>
      </p:sp>
      <p:sp>
        <p:nvSpPr>
          <p:cNvPr id="5" name="TextBox 4"/>
          <p:cNvSpPr txBox="1"/>
          <p:nvPr/>
        </p:nvSpPr>
        <p:spPr>
          <a:xfrm>
            <a:off x="698482" y="2540000"/>
            <a:ext cx="10972800" cy="4318000"/>
          </a:xfrm>
          <a:prstGeom prst="rect">
            <a:avLst/>
          </a:prstGeom>
          <a:noFill/>
        </p:spPr>
        <p:txBody>
          <a:bodyPr wrap="square">
            <a:spAutoFit/>
          </a:bodyPr>
          <a:lstStyle/>
          <a:p>
            <a:pPr>
              <a:defRPr sz="1800">
                <a:solidFill>
                  <a:srgbClr val="F8FAFC"/>
                </a:solidFill>
                <a:latin typeface="Calibri"/>
              </a:defRPr>
            </a:pPr>
            <a:r>
              <a:t># 1 — a simple greetingprint("Hello, world!")# 2 — print numbers (no quotes for numbers)print(42)print(2025)# 3 — Python is a calculatorprint(5+3)print(10*7)# 4 — print multiple things separated by commasprint("I am",17,"years old")</a:t>
            </a:r>
          </a:p>
        </p:txBody>
      </p:sp>
      <p:sp>
        <p:nvSpPr>
          <p:cNvPr id="6" name="TextBox 5"/>
          <p:cNvSpPr txBox="1"/>
          <p:nvPr/>
        </p:nvSpPr>
        <p:spPr>
          <a:xfrm>
            <a:off x="7492812" y="2159000"/>
            <a:ext cx="4698882" cy="4699000"/>
          </a:xfrm>
          <a:prstGeom prst="rect">
            <a:avLst/>
          </a:prstGeom>
          <a:noFill/>
        </p:spPr>
        <p:txBody>
          <a:bodyPr wrap="square">
            <a:spAutoFit/>
          </a:bodyPr>
          <a:lstStyle/>
          <a:p>
            <a:pPr>
              <a:defRPr sz="900">
                <a:solidFill>
                  <a:srgbClr val="F8FAFC"/>
                </a:solidFill>
                <a:latin typeface="Calibri"/>
              </a:defRPr>
            </a:pPr>
            <a:r>
              <a:t>Terminal — expected output</a:t>
            </a:r>
          </a:p>
        </p:txBody>
      </p:sp>
      <p:sp>
        <p:nvSpPr>
          <p:cNvPr id="7" name="TextBox 6"/>
          <p:cNvSpPr txBox="1"/>
          <p:nvPr/>
        </p:nvSpPr>
        <p:spPr>
          <a:xfrm>
            <a:off x="7683307" y="2540000"/>
            <a:ext cx="4508387" cy="4318000"/>
          </a:xfrm>
          <a:prstGeom prst="rect">
            <a:avLst/>
          </a:prstGeom>
          <a:noFill/>
        </p:spPr>
        <p:txBody>
          <a:bodyPr wrap="square">
            <a:spAutoFit/>
          </a:bodyPr>
          <a:lstStyle/>
          <a:p>
            <a:pPr>
              <a:defRPr sz="1800">
                <a:solidFill>
                  <a:srgbClr val="F8FAFC"/>
                </a:solidFill>
                <a:latin typeface="Calibri"/>
              </a:defRPr>
            </a:pPr>
            <a:r>
              <a:t>$python first_prints.pyHello, world!422025870I am 17 years old$_</a:t>
            </a:r>
          </a:p>
        </p:txBody>
      </p:sp>
      <p:sp>
        <p:nvSpPr>
          <p:cNvPr id="8" name="TextBox 7"/>
          <p:cNvSpPr txBox="1"/>
          <p:nvPr/>
        </p:nvSpPr>
        <p:spPr>
          <a:xfrm>
            <a:off x="10972800" y="6400800"/>
            <a:ext cx="914400" cy="365760"/>
          </a:xfrm>
          <a:prstGeom prst="rect">
            <a:avLst/>
          </a:prstGeom>
          <a:noFill/>
        </p:spPr>
        <p:txBody>
          <a:bodyPr wrap="none">
            <a:spAutoFit/>
          </a:bodyPr>
          <a:lstStyle/>
          <a:p>
            <a:pPr algn="r">
              <a:defRPr sz="1000">
                <a:solidFill>
                  <a:srgbClr val="94A3B8"/>
                </a:solidFill>
                <a:latin typeface="Consolas"/>
              </a:defRPr>
            </a:pPr>
            <a: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91440"/>
            <a:ext cx="10972800" cy="365760"/>
          </a:xfrm>
          <a:prstGeom prst="rect">
            <a:avLst/>
          </a:prstGeom>
          <a:noFill/>
        </p:spPr>
        <p:txBody>
          <a:bodyPr wrap="none">
            <a:spAutoFit/>
          </a:bodyPr>
          <a:lstStyle/>
          <a:p>
            <a:pPr>
              <a:defRPr sz="1200">
                <a:solidFill>
                  <a:srgbClr val="22D3EE"/>
                </a:solidFill>
                <a:latin typeface="Consolas"/>
              </a:defRPr>
            </a:pPr>
            <a:r>
              <a:t>SYNTAX // COMMENTS</a:t>
            </a:r>
          </a:p>
        </p:txBody>
      </p:sp>
      <p:sp>
        <p:nvSpPr>
          <p:cNvPr id="3" name="TextBox 2"/>
          <p:cNvSpPr txBox="1"/>
          <p:nvPr/>
        </p:nvSpPr>
        <p:spPr>
          <a:xfrm>
            <a:off x="507987" y="952500"/>
            <a:ext cx="10972800" cy="5486400"/>
          </a:xfrm>
          <a:prstGeom prst="rect">
            <a:avLst/>
          </a:prstGeom>
          <a:noFill/>
        </p:spPr>
        <p:txBody>
          <a:bodyPr wrap="square">
            <a:spAutoFit/>
          </a:bodyPr>
          <a:lstStyle/>
          <a:p>
            <a:pPr>
              <a:defRPr sz="900">
                <a:solidFill>
                  <a:srgbClr val="F8FAFC"/>
                </a:solidFill>
                <a:latin typeface="Calibri"/>
              </a:defRPr>
            </a:pPr>
            <a:r>
              <a:t>// NOTES FOR HUMANSComments#التعليقات — ملاحظات ليك ولزمايلك، Python بيتجاهلها تماماً</a:t>
            </a:r>
          </a:p>
        </p:txBody>
      </p:sp>
      <p:sp>
        <p:nvSpPr>
          <p:cNvPr id="4" name="TextBox 3"/>
          <p:cNvSpPr txBox="1"/>
          <p:nvPr/>
        </p:nvSpPr>
        <p:spPr>
          <a:xfrm>
            <a:off x="761980" y="3365500"/>
            <a:ext cx="10972800" cy="3492500"/>
          </a:xfrm>
          <a:prstGeom prst="rect">
            <a:avLst/>
          </a:prstGeom>
          <a:noFill/>
        </p:spPr>
        <p:txBody>
          <a:bodyPr wrap="square">
            <a:spAutoFit/>
          </a:bodyPr>
          <a:lstStyle/>
          <a:p>
            <a:pPr>
              <a:defRPr sz="900">
                <a:solidFill>
                  <a:srgbClr val="F8FAFC"/>
                </a:solidFill>
                <a:latin typeface="Calibri"/>
              </a:defRPr>
            </a:pPr>
            <a:r>
              <a:t>Any line starting with#isignoredby Python.✓ Explainwhatyour code does✓ Explainwhy— the tricky reasoning✓ Turn off a line without deleting it (debugging)✓ Remind future-you what past-you was thinkingPro tip:Good code needs few comments. Great comments explainwhy, notwhat.</a:t>
            </a:r>
          </a:p>
        </p:txBody>
      </p:sp>
      <p:sp>
        <p:nvSpPr>
          <p:cNvPr id="5" name="TextBox 4"/>
          <p:cNvSpPr txBox="1"/>
          <p:nvPr/>
        </p:nvSpPr>
        <p:spPr>
          <a:xfrm>
            <a:off x="25399" y="177800"/>
            <a:ext cx="10972800" cy="5486400"/>
          </a:xfrm>
          <a:prstGeom prst="rect">
            <a:avLst/>
          </a:prstGeom>
          <a:noFill/>
        </p:spPr>
        <p:txBody>
          <a:bodyPr wrap="square">
            <a:spAutoFit/>
          </a:bodyPr>
          <a:lstStyle/>
          <a:p>
            <a:pPr>
              <a:defRPr sz="900">
                <a:solidFill>
                  <a:srgbClr val="F8FAFC"/>
                </a:solidFill>
                <a:latin typeface="Calibri"/>
              </a:defRPr>
            </a:pPr>
            <a:r>
              <a:t>Pro tip:Good code needs few comments. Great comments explainwhy, notwhat.</a:t>
            </a:r>
          </a:p>
        </p:txBody>
      </p:sp>
      <p:sp>
        <p:nvSpPr>
          <p:cNvPr id="6" name="TextBox 5"/>
          <p:cNvSpPr txBox="1"/>
          <p:nvPr/>
        </p:nvSpPr>
        <p:spPr>
          <a:xfrm>
            <a:off x="6476838" y="2603500"/>
            <a:ext cx="5714857" cy="4254500"/>
          </a:xfrm>
          <a:prstGeom prst="rect">
            <a:avLst/>
          </a:prstGeom>
          <a:noFill/>
        </p:spPr>
        <p:txBody>
          <a:bodyPr wrap="square">
            <a:spAutoFit/>
          </a:bodyPr>
          <a:lstStyle/>
          <a:p>
            <a:pPr>
              <a:defRPr sz="900">
                <a:solidFill>
                  <a:srgbClr val="F8FAFC"/>
                </a:solidFill>
                <a:latin typeface="Calibri"/>
              </a:defRPr>
            </a:pPr>
            <a:r>
              <a:t>comments_demo.py</a:t>
            </a:r>
          </a:p>
        </p:txBody>
      </p:sp>
      <p:sp>
        <p:nvSpPr>
          <p:cNvPr id="7" name="TextBox 6"/>
          <p:cNvSpPr txBox="1"/>
          <p:nvPr/>
        </p:nvSpPr>
        <p:spPr>
          <a:xfrm>
            <a:off x="6667333" y="2984500"/>
            <a:ext cx="5524361" cy="3873499"/>
          </a:xfrm>
          <a:prstGeom prst="rect">
            <a:avLst/>
          </a:prstGeom>
          <a:noFill/>
        </p:spPr>
        <p:txBody>
          <a:bodyPr wrap="square">
            <a:spAutoFit/>
          </a:bodyPr>
          <a:lstStyle/>
          <a:p>
            <a:pPr>
              <a:defRPr sz="1600">
                <a:solidFill>
                  <a:srgbClr val="F8FAFC"/>
                </a:solidFill>
                <a:latin typeface="Calibri"/>
              </a:defRPr>
            </a:pPr>
            <a:r>
              <a:t># This is a comment. Python ignores me.# You can write anything here — even Arabic!print("Hi")# comment at end of line — also fine# ---- greeting section ----print("Welcome!")# print("this line never runs")print("only this runs")"""Multi-line comment — three quotes.Useful for longer explanations."""</a:t>
            </a:r>
          </a:p>
        </p:txBody>
      </p:sp>
      <p:sp>
        <p:nvSpPr>
          <p:cNvPr id="8" name="TextBox 7"/>
          <p:cNvSpPr txBox="1"/>
          <p:nvPr/>
        </p:nvSpPr>
        <p:spPr>
          <a:xfrm>
            <a:off x="10972800" y="6400800"/>
            <a:ext cx="914400" cy="365760"/>
          </a:xfrm>
          <a:prstGeom prst="rect">
            <a:avLst/>
          </a:prstGeom>
          <a:noFill/>
        </p:spPr>
        <p:txBody>
          <a:bodyPr wrap="none">
            <a:spAutoFit/>
          </a:bodyPr>
          <a:lstStyle/>
          <a:p>
            <a:pPr algn="r">
              <a:defRPr sz="1000">
                <a:solidFill>
                  <a:srgbClr val="94A3B8"/>
                </a:solidFill>
                <a:latin typeface="Consolas"/>
              </a:defRPr>
            </a:pPr>
            <a: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91440"/>
            <a:ext cx="10972800" cy="365760"/>
          </a:xfrm>
          <a:prstGeom prst="rect">
            <a:avLst/>
          </a:prstGeom>
          <a:noFill/>
        </p:spPr>
        <p:txBody>
          <a:bodyPr wrap="none">
            <a:spAutoFit/>
          </a:bodyPr>
          <a:lstStyle/>
          <a:p>
            <a:pPr>
              <a:defRPr sz="1200">
                <a:solidFill>
                  <a:srgbClr val="22D3EE"/>
                </a:solidFill>
                <a:latin typeface="Consolas"/>
              </a:defRPr>
            </a:pPr>
            <a:r>
              <a:t>CORE CONCEPT // VARIABLES</a:t>
            </a:r>
          </a:p>
        </p:txBody>
      </p:sp>
      <p:sp>
        <p:nvSpPr>
          <p:cNvPr id="3" name="TextBox 2"/>
          <p:cNvSpPr txBox="1"/>
          <p:nvPr/>
        </p:nvSpPr>
        <p:spPr>
          <a:xfrm>
            <a:off x="507987" y="952500"/>
            <a:ext cx="10972800" cy="5486400"/>
          </a:xfrm>
          <a:prstGeom prst="rect">
            <a:avLst/>
          </a:prstGeom>
          <a:noFill/>
        </p:spPr>
        <p:txBody>
          <a:bodyPr wrap="square">
            <a:spAutoFit/>
          </a:bodyPr>
          <a:lstStyle/>
          <a:p>
            <a:pPr>
              <a:defRPr sz="900">
                <a:solidFill>
                  <a:srgbClr val="F8FAFC"/>
                </a:solidFill>
                <a:latin typeface="Calibri"/>
              </a:defRPr>
            </a:pPr>
            <a:r>
              <a:t>// STORING VALUESVariables.المتغيرات — علب لتخزين المعلومات، تسميها وتستخدمها لما تحتاج</a:t>
            </a:r>
          </a:p>
        </p:txBody>
      </p:sp>
      <p:sp>
        <p:nvSpPr>
          <p:cNvPr id="4" name="TextBox 3"/>
          <p:cNvSpPr txBox="1"/>
          <p:nvPr/>
        </p:nvSpPr>
        <p:spPr>
          <a:xfrm>
            <a:off x="8254793" y="1270000"/>
            <a:ext cx="3936901" cy="5486400"/>
          </a:xfrm>
          <a:prstGeom prst="rect">
            <a:avLst/>
          </a:prstGeom>
          <a:noFill/>
        </p:spPr>
        <p:txBody>
          <a:bodyPr wrap="square">
            <a:spAutoFit/>
          </a:bodyPr>
          <a:lstStyle/>
          <a:p>
            <a:pPr>
              <a:defRPr sz="900">
                <a:solidFill>
                  <a:srgbClr val="F8FAFC"/>
                </a:solidFill>
                <a:latin typeface="Calibri"/>
              </a:defRPr>
            </a:pPr>
            <a:r>
              <a:t>name"Yousef"age17grade92.5is_studentTrue</a:t>
            </a:r>
          </a:p>
        </p:txBody>
      </p:sp>
      <p:sp>
        <p:nvSpPr>
          <p:cNvPr id="5" name="TextBox 4"/>
          <p:cNvSpPr txBox="1"/>
          <p:nvPr/>
        </p:nvSpPr>
        <p:spPr>
          <a:xfrm>
            <a:off x="126996" y="380999"/>
            <a:ext cx="10972800" cy="5486400"/>
          </a:xfrm>
          <a:prstGeom prst="rect">
            <a:avLst/>
          </a:prstGeom>
          <a:noFill/>
        </p:spPr>
        <p:txBody>
          <a:bodyPr wrap="square">
            <a:spAutoFit/>
          </a:bodyPr>
          <a:lstStyle/>
          <a:p>
            <a:pPr>
              <a:defRPr sz="900">
                <a:solidFill>
                  <a:srgbClr val="F8FAFC"/>
                </a:solidFill>
                <a:latin typeface="Calibri"/>
              </a:defRPr>
            </a:pPr>
            <a:r>
              <a:t>name"Yousef"</a:t>
            </a:r>
          </a:p>
        </p:txBody>
      </p:sp>
      <p:sp>
        <p:nvSpPr>
          <p:cNvPr id="6" name="TextBox 5"/>
          <p:cNvSpPr txBox="1"/>
          <p:nvPr/>
        </p:nvSpPr>
        <p:spPr>
          <a:xfrm>
            <a:off x="761980" y="4762500"/>
            <a:ext cx="10972800" cy="2095500"/>
          </a:xfrm>
          <a:prstGeom prst="rect">
            <a:avLst/>
          </a:prstGeom>
          <a:noFill/>
        </p:spPr>
        <p:txBody>
          <a:bodyPr wrap="square">
            <a:spAutoFit/>
          </a:bodyPr>
          <a:lstStyle/>
          <a:p>
            <a:pPr>
              <a:defRPr sz="900">
                <a:solidFill>
                  <a:srgbClr val="F8FAFC"/>
                </a:solidFill>
                <a:latin typeface="Calibri"/>
              </a:defRPr>
            </a:pPr>
            <a:r>
              <a:t>// SYNTAXname="Yousef"name= box label== "put this inside""Yousef"= what goes inside</a:t>
            </a:r>
          </a:p>
        </p:txBody>
      </p:sp>
      <p:sp>
        <p:nvSpPr>
          <p:cNvPr id="7" name="TextBox 6"/>
          <p:cNvSpPr txBox="1"/>
          <p:nvPr/>
        </p:nvSpPr>
        <p:spPr>
          <a:xfrm>
            <a:off x="10972800" y="6400800"/>
            <a:ext cx="914400" cy="365760"/>
          </a:xfrm>
          <a:prstGeom prst="rect">
            <a:avLst/>
          </a:prstGeom>
          <a:noFill/>
        </p:spPr>
        <p:txBody>
          <a:bodyPr wrap="none">
            <a:spAutoFit/>
          </a:bodyPr>
          <a:lstStyle/>
          <a:p>
            <a:pPr algn="r">
              <a:defRPr sz="1000">
                <a:solidFill>
                  <a:srgbClr val="94A3B8"/>
                </a:solidFill>
                <a:latin typeface="Consolas"/>
              </a:defRPr>
            </a:pPr>
            <a: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91440"/>
            <a:ext cx="10972800" cy="365760"/>
          </a:xfrm>
          <a:prstGeom prst="rect">
            <a:avLst/>
          </a:prstGeom>
          <a:noFill/>
        </p:spPr>
        <p:txBody>
          <a:bodyPr wrap="none">
            <a:spAutoFit/>
          </a:bodyPr>
          <a:lstStyle/>
          <a:p>
            <a:pPr>
              <a:defRPr sz="1200">
                <a:solidFill>
                  <a:srgbClr val="22D3EE"/>
                </a:solidFill>
                <a:latin typeface="Consolas"/>
              </a:defRPr>
            </a:pPr>
            <a:r>
              <a:t>LIVE CODING // VARIABLES</a:t>
            </a:r>
          </a:p>
        </p:txBody>
      </p:sp>
      <p:sp>
        <p:nvSpPr>
          <p:cNvPr id="3" name="TextBox 2"/>
          <p:cNvSpPr txBox="1"/>
          <p:nvPr/>
        </p:nvSpPr>
        <p:spPr>
          <a:xfrm>
            <a:off x="507987" y="825499"/>
            <a:ext cx="10972800" cy="5486400"/>
          </a:xfrm>
          <a:prstGeom prst="rect">
            <a:avLst/>
          </a:prstGeom>
          <a:noFill/>
        </p:spPr>
        <p:txBody>
          <a:bodyPr wrap="square">
            <a:spAutoFit/>
          </a:bodyPr>
          <a:lstStyle/>
          <a:p>
            <a:pPr>
              <a:defRPr sz="900">
                <a:solidFill>
                  <a:srgbClr val="F8FAFC"/>
                </a:solidFill>
                <a:latin typeface="Calibri"/>
              </a:defRPr>
            </a:pPr>
            <a:r>
              <a:t>Live coding —variables in action.هنكتب كود بيستخدم متغيرات — كل واحد على جهازه</a:t>
            </a:r>
          </a:p>
        </p:txBody>
      </p:sp>
      <p:sp>
        <p:nvSpPr>
          <p:cNvPr id="4" name="TextBox 3"/>
          <p:cNvSpPr txBox="1"/>
          <p:nvPr/>
        </p:nvSpPr>
        <p:spPr>
          <a:xfrm>
            <a:off x="507987" y="2159000"/>
            <a:ext cx="10972800" cy="4699000"/>
          </a:xfrm>
          <a:prstGeom prst="rect">
            <a:avLst/>
          </a:prstGeom>
          <a:noFill/>
        </p:spPr>
        <p:txBody>
          <a:bodyPr wrap="square">
            <a:spAutoFit/>
          </a:bodyPr>
          <a:lstStyle/>
          <a:p>
            <a:pPr>
              <a:defRPr sz="900">
                <a:solidFill>
                  <a:srgbClr val="F8FAFC"/>
                </a:solidFill>
                <a:latin typeface="Calibri"/>
              </a:defRPr>
            </a:pPr>
            <a:r>
              <a:t>variables_demo.py</a:t>
            </a:r>
          </a:p>
        </p:txBody>
      </p:sp>
      <p:sp>
        <p:nvSpPr>
          <p:cNvPr id="5" name="TextBox 4"/>
          <p:cNvSpPr txBox="1"/>
          <p:nvPr/>
        </p:nvSpPr>
        <p:spPr>
          <a:xfrm>
            <a:off x="698482" y="2540000"/>
            <a:ext cx="10972800" cy="4318000"/>
          </a:xfrm>
          <a:prstGeom prst="rect">
            <a:avLst/>
          </a:prstGeom>
          <a:noFill/>
        </p:spPr>
        <p:txBody>
          <a:bodyPr wrap="square">
            <a:spAutoFit/>
          </a:bodyPr>
          <a:lstStyle/>
          <a:p>
            <a:pPr>
              <a:defRPr sz="1500">
                <a:solidFill>
                  <a:srgbClr val="F8FAFC"/>
                </a:solidFill>
                <a:latin typeface="Calibri"/>
              </a:defRPr>
            </a:pPr>
            <a:r>
              <a:t># store values in boxesname="Yousef"age=17city="Cairo"# use themprint(name)print("Age:",age)print(name,"lives in",city)# change the value insideage=18# happy birthday!print("New age:",age)# math with variablesnext_year=age+1print("Next year I'll be:",next_year)</a:t>
            </a:r>
          </a:p>
        </p:txBody>
      </p:sp>
      <p:sp>
        <p:nvSpPr>
          <p:cNvPr id="6" name="TextBox 5"/>
          <p:cNvSpPr txBox="1"/>
          <p:nvPr/>
        </p:nvSpPr>
        <p:spPr>
          <a:xfrm>
            <a:off x="7492812" y="2159000"/>
            <a:ext cx="4698882" cy="4699000"/>
          </a:xfrm>
          <a:prstGeom prst="rect">
            <a:avLst/>
          </a:prstGeom>
          <a:noFill/>
        </p:spPr>
        <p:txBody>
          <a:bodyPr wrap="square">
            <a:spAutoFit/>
          </a:bodyPr>
          <a:lstStyle/>
          <a:p>
            <a:pPr>
              <a:defRPr sz="900">
                <a:solidFill>
                  <a:srgbClr val="F8FAFC"/>
                </a:solidFill>
                <a:latin typeface="Calibri"/>
              </a:defRPr>
            </a:pPr>
            <a:r>
              <a:t>output</a:t>
            </a:r>
          </a:p>
        </p:txBody>
      </p:sp>
      <p:sp>
        <p:nvSpPr>
          <p:cNvPr id="7" name="TextBox 6"/>
          <p:cNvSpPr txBox="1"/>
          <p:nvPr/>
        </p:nvSpPr>
        <p:spPr>
          <a:xfrm>
            <a:off x="7683307" y="2540000"/>
            <a:ext cx="4508387" cy="4318000"/>
          </a:xfrm>
          <a:prstGeom prst="rect">
            <a:avLst/>
          </a:prstGeom>
          <a:noFill/>
        </p:spPr>
        <p:txBody>
          <a:bodyPr wrap="square">
            <a:spAutoFit/>
          </a:bodyPr>
          <a:lstStyle/>
          <a:p>
            <a:pPr>
              <a:defRPr sz="1600">
                <a:solidFill>
                  <a:srgbClr val="F8FAFC"/>
                </a:solidFill>
                <a:latin typeface="Calibri"/>
              </a:defRPr>
            </a:pPr>
            <a:r>
              <a:t>$python variables_demo.pyYousefAge: 17Yousef lives in CairoNew age: 18Next year I'll be: 19$_</a:t>
            </a:r>
          </a:p>
        </p:txBody>
      </p:sp>
      <p:sp>
        <p:nvSpPr>
          <p:cNvPr id="8" name="TextBox 7"/>
          <p:cNvSpPr txBox="1"/>
          <p:nvPr/>
        </p:nvSpPr>
        <p:spPr>
          <a:xfrm>
            <a:off x="10972800" y="6400800"/>
            <a:ext cx="914400" cy="365760"/>
          </a:xfrm>
          <a:prstGeom prst="rect">
            <a:avLst/>
          </a:prstGeom>
          <a:noFill/>
        </p:spPr>
        <p:txBody>
          <a:bodyPr wrap="none">
            <a:spAutoFit/>
          </a:bodyPr>
          <a:lstStyle/>
          <a:p>
            <a:pPr algn="r">
              <a:defRPr sz="1000">
                <a:solidFill>
                  <a:srgbClr val="94A3B8"/>
                </a:solidFill>
                <a:latin typeface="Consolas"/>
              </a:defRPr>
            </a:pPr>
            <a: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91440"/>
            <a:ext cx="10972800" cy="365760"/>
          </a:xfrm>
          <a:prstGeom prst="rect">
            <a:avLst/>
          </a:prstGeom>
          <a:noFill/>
        </p:spPr>
        <p:txBody>
          <a:bodyPr wrap="none">
            <a:spAutoFit/>
          </a:bodyPr>
          <a:lstStyle/>
          <a:p>
            <a:pPr>
              <a:defRPr sz="1200">
                <a:solidFill>
                  <a:srgbClr val="22D3EE"/>
                </a:solidFill>
                <a:latin typeface="Consolas"/>
              </a:defRPr>
            </a:pPr>
            <a:r>
              <a:t>RULES // NAMING VARIABLES</a:t>
            </a:r>
          </a:p>
        </p:txBody>
      </p:sp>
      <p:sp>
        <p:nvSpPr>
          <p:cNvPr id="3" name="TextBox 2"/>
          <p:cNvSpPr txBox="1"/>
          <p:nvPr/>
        </p:nvSpPr>
        <p:spPr>
          <a:xfrm>
            <a:off x="507987" y="952500"/>
            <a:ext cx="10972800" cy="5486400"/>
          </a:xfrm>
          <a:prstGeom prst="rect">
            <a:avLst/>
          </a:prstGeom>
          <a:noFill/>
        </p:spPr>
        <p:txBody>
          <a:bodyPr wrap="square">
            <a:spAutoFit/>
          </a:bodyPr>
          <a:lstStyle/>
          <a:p>
            <a:pPr>
              <a:defRPr sz="900">
                <a:solidFill>
                  <a:srgbClr val="F8FAFC"/>
                </a:solidFill>
                <a:latin typeface="Calibri"/>
              </a:defRPr>
            </a:pPr>
            <a:r>
              <a:t>Naming your variables.قواعد تسمية المتغيرات — Python صارم في ده</a:t>
            </a:r>
          </a:p>
        </p:txBody>
      </p:sp>
      <p:sp>
        <p:nvSpPr>
          <p:cNvPr id="4" name="TextBox 3"/>
          <p:cNvSpPr txBox="1"/>
          <p:nvPr/>
        </p:nvSpPr>
        <p:spPr>
          <a:xfrm>
            <a:off x="761980" y="2730500"/>
            <a:ext cx="10972800" cy="4127500"/>
          </a:xfrm>
          <a:prstGeom prst="rect">
            <a:avLst/>
          </a:prstGeom>
          <a:noFill/>
        </p:spPr>
        <p:txBody>
          <a:bodyPr wrap="square">
            <a:spAutoFit/>
          </a:bodyPr>
          <a:lstStyle/>
          <a:p>
            <a:pPr>
              <a:defRPr sz="900">
                <a:solidFill>
                  <a:srgbClr val="F8FAFC"/>
                </a:solidFill>
                <a:latin typeface="Calibri"/>
              </a:defRPr>
            </a:pPr>
            <a:r>
              <a:t>// ✅ ALLOWEDname— simple lettersage— short and clearfirst_name— underscore between wordsscore_2— numbers OK (not at start)is_student— great for True/Falsetotal_price— describes what it holdsConvention:snake_case— all lowercase, words joined with _</a:t>
            </a:r>
          </a:p>
        </p:txBody>
      </p:sp>
      <p:sp>
        <p:nvSpPr>
          <p:cNvPr id="5" name="TextBox 4"/>
          <p:cNvSpPr txBox="1"/>
          <p:nvPr/>
        </p:nvSpPr>
        <p:spPr>
          <a:xfrm>
            <a:off x="25399" y="152400"/>
            <a:ext cx="10972800" cy="5486400"/>
          </a:xfrm>
          <a:prstGeom prst="rect">
            <a:avLst/>
          </a:prstGeom>
          <a:noFill/>
        </p:spPr>
        <p:txBody>
          <a:bodyPr wrap="square">
            <a:spAutoFit/>
          </a:bodyPr>
          <a:lstStyle/>
          <a:p>
            <a:pPr>
              <a:defRPr sz="900">
                <a:solidFill>
                  <a:srgbClr val="F8FAFC"/>
                </a:solidFill>
                <a:latin typeface="Calibri"/>
              </a:defRPr>
            </a:pPr>
            <a:r>
              <a:t>Convention:snake_case— all lowercase, words joined with _</a:t>
            </a:r>
          </a:p>
        </p:txBody>
      </p:sp>
      <p:sp>
        <p:nvSpPr>
          <p:cNvPr id="6" name="TextBox 5"/>
          <p:cNvSpPr txBox="1"/>
          <p:nvPr/>
        </p:nvSpPr>
        <p:spPr>
          <a:xfrm>
            <a:off x="6413339" y="2730500"/>
            <a:ext cx="5778355" cy="4127500"/>
          </a:xfrm>
          <a:prstGeom prst="rect">
            <a:avLst/>
          </a:prstGeom>
          <a:noFill/>
        </p:spPr>
        <p:txBody>
          <a:bodyPr wrap="square">
            <a:spAutoFit/>
          </a:bodyPr>
          <a:lstStyle/>
          <a:p>
            <a:pPr>
              <a:defRPr sz="900">
                <a:solidFill>
                  <a:srgbClr val="F8FAFC"/>
                </a:solidFill>
                <a:latin typeface="Calibri"/>
              </a:defRPr>
            </a:pPr>
            <a:r>
              <a:t>// ❌ NOT ALLOWED2name— can't start with a numberfirst name— no spaces (use _)first-name— dashes look like minusmy@name— no special chars (@ # ! $)print— Python keyword (reserved)class— reserved wordCase-sensitive:Name≠name≠NAME</a:t>
            </a:r>
          </a:p>
        </p:txBody>
      </p:sp>
      <p:sp>
        <p:nvSpPr>
          <p:cNvPr id="7" name="TextBox 6"/>
          <p:cNvSpPr txBox="1"/>
          <p:nvPr/>
        </p:nvSpPr>
        <p:spPr>
          <a:xfrm>
            <a:off x="25399" y="152400"/>
            <a:ext cx="10972800" cy="5486400"/>
          </a:xfrm>
          <a:prstGeom prst="rect">
            <a:avLst/>
          </a:prstGeom>
          <a:noFill/>
        </p:spPr>
        <p:txBody>
          <a:bodyPr wrap="square">
            <a:spAutoFit/>
          </a:bodyPr>
          <a:lstStyle/>
          <a:p>
            <a:pPr>
              <a:defRPr sz="900">
                <a:solidFill>
                  <a:srgbClr val="F8FAFC"/>
                </a:solidFill>
                <a:latin typeface="Calibri"/>
              </a:defRPr>
            </a:pPr>
            <a:r>
              <a:t>Case-sensitive:Name≠name≠NAME</a:t>
            </a:r>
          </a:p>
        </p:txBody>
      </p:sp>
      <p:sp>
        <p:nvSpPr>
          <p:cNvPr id="8" name="TextBox 7"/>
          <p:cNvSpPr txBox="1"/>
          <p:nvPr/>
        </p:nvSpPr>
        <p:spPr>
          <a:xfrm>
            <a:off x="10972800" y="6400800"/>
            <a:ext cx="914400" cy="365760"/>
          </a:xfrm>
          <a:prstGeom prst="rect">
            <a:avLst/>
          </a:prstGeom>
          <a:noFill/>
        </p:spPr>
        <p:txBody>
          <a:bodyPr wrap="none">
            <a:spAutoFit/>
          </a:bodyPr>
          <a:lstStyle/>
          <a:p>
            <a:pPr algn="r">
              <a:defRPr sz="1000">
                <a:solidFill>
                  <a:srgbClr val="94A3B8"/>
                </a:solidFill>
                <a:latin typeface="Consolas"/>
              </a:defRPr>
            </a:pPr>
            <a: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91440"/>
            <a:ext cx="10972800" cy="365760"/>
          </a:xfrm>
          <a:prstGeom prst="rect">
            <a:avLst/>
          </a:prstGeom>
          <a:noFill/>
        </p:spPr>
        <p:txBody>
          <a:bodyPr wrap="none">
            <a:spAutoFit/>
          </a:bodyPr>
          <a:lstStyle/>
          <a:p>
            <a:pPr>
              <a:defRPr sz="1200">
                <a:solidFill>
                  <a:srgbClr val="22D3EE"/>
                </a:solidFill>
                <a:latin typeface="Consolas"/>
              </a:defRPr>
            </a:pPr>
            <a:r>
              <a:t>CORE CONCEPT // DATA TYPES</a:t>
            </a:r>
          </a:p>
        </p:txBody>
      </p:sp>
      <p:sp>
        <p:nvSpPr>
          <p:cNvPr id="3" name="TextBox 2"/>
          <p:cNvSpPr txBox="1"/>
          <p:nvPr/>
        </p:nvSpPr>
        <p:spPr>
          <a:xfrm>
            <a:off x="507987" y="952500"/>
            <a:ext cx="10972800" cy="5486400"/>
          </a:xfrm>
          <a:prstGeom prst="rect">
            <a:avLst/>
          </a:prstGeom>
          <a:noFill/>
        </p:spPr>
        <p:txBody>
          <a:bodyPr wrap="square">
            <a:spAutoFit/>
          </a:bodyPr>
          <a:lstStyle/>
          <a:p>
            <a:pPr>
              <a:defRPr sz="900">
                <a:solidFill>
                  <a:srgbClr val="F8FAFC"/>
                </a:solidFill>
                <a:latin typeface="Calibri"/>
              </a:defRPr>
            </a:pPr>
            <a:r>
              <a:t>Data types.Not all data is the same. Python needs to knowwhat kind.أنواع البيانات — Python بيتعامل مع كل نوع بشكل مختلف</a:t>
            </a:r>
          </a:p>
        </p:txBody>
      </p:sp>
      <p:sp>
        <p:nvSpPr>
          <p:cNvPr id="4" name="TextBox 3"/>
          <p:cNvSpPr txBox="1"/>
          <p:nvPr/>
        </p:nvSpPr>
        <p:spPr>
          <a:xfrm>
            <a:off x="698482" y="3111500"/>
            <a:ext cx="10972800" cy="3746500"/>
          </a:xfrm>
          <a:prstGeom prst="rect">
            <a:avLst/>
          </a:prstGeom>
          <a:noFill/>
        </p:spPr>
        <p:txBody>
          <a:bodyPr wrap="square">
            <a:spAutoFit/>
          </a:bodyPr>
          <a:lstStyle/>
          <a:p>
            <a:pPr>
              <a:defRPr sz="900">
                <a:solidFill>
                  <a:srgbClr val="F8FAFC"/>
                </a:solidFill>
                <a:latin typeface="Calibri"/>
              </a:defRPr>
            </a:pPr>
            <a:r>
              <a:t>// TYPE 01intWhole numbersأعداد صحيحة42-720250Age, year, count, score</a:t>
            </a:r>
          </a:p>
        </p:txBody>
      </p:sp>
      <p:sp>
        <p:nvSpPr>
          <p:cNvPr id="5" name="TextBox 4"/>
          <p:cNvSpPr txBox="1"/>
          <p:nvPr/>
        </p:nvSpPr>
        <p:spPr>
          <a:xfrm>
            <a:off x="3619409" y="3111500"/>
            <a:ext cx="8572285" cy="3746500"/>
          </a:xfrm>
          <a:prstGeom prst="rect">
            <a:avLst/>
          </a:prstGeom>
          <a:noFill/>
        </p:spPr>
        <p:txBody>
          <a:bodyPr wrap="square">
            <a:spAutoFit/>
          </a:bodyPr>
          <a:lstStyle/>
          <a:p>
            <a:pPr>
              <a:defRPr sz="900">
                <a:solidFill>
                  <a:srgbClr val="F8FAFC"/>
                </a:solidFill>
                <a:latin typeface="Calibri"/>
              </a:defRPr>
            </a:pPr>
            <a:r>
              <a:t>// TYPE 02floatDecimal numbersأعداد بفاصلة عشرية3.14-0.592.75100.0Price, GPA, temperature, distance</a:t>
            </a:r>
          </a:p>
        </p:txBody>
      </p:sp>
      <p:sp>
        <p:nvSpPr>
          <p:cNvPr id="6" name="TextBox 5"/>
          <p:cNvSpPr txBox="1"/>
          <p:nvPr/>
        </p:nvSpPr>
        <p:spPr>
          <a:xfrm>
            <a:off x="6540336" y="3111500"/>
            <a:ext cx="5651358" cy="3746500"/>
          </a:xfrm>
          <a:prstGeom prst="rect">
            <a:avLst/>
          </a:prstGeom>
          <a:noFill/>
        </p:spPr>
        <p:txBody>
          <a:bodyPr wrap="square">
            <a:spAutoFit/>
          </a:bodyPr>
          <a:lstStyle/>
          <a:p>
            <a:pPr>
              <a:defRPr sz="900">
                <a:solidFill>
                  <a:srgbClr val="F8FAFC"/>
                </a:solidFill>
                <a:latin typeface="Calibri"/>
              </a:defRPr>
            </a:pPr>
            <a:r>
              <a:t>// TYPE 03strText (strings)نص — حروف وكلام"Yousef""Cairo""a""123"Name, city, message, address</a:t>
            </a:r>
          </a:p>
        </p:txBody>
      </p:sp>
      <p:sp>
        <p:nvSpPr>
          <p:cNvPr id="7" name="TextBox 6"/>
          <p:cNvSpPr txBox="1"/>
          <p:nvPr/>
        </p:nvSpPr>
        <p:spPr>
          <a:xfrm>
            <a:off x="9461263" y="3111500"/>
            <a:ext cx="2730431" cy="3746500"/>
          </a:xfrm>
          <a:prstGeom prst="rect">
            <a:avLst/>
          </a:prstGeom>
          <a:noFill/>
        </p:spPr>
        <p:txBody>
          <a:bodyPr wrap="square">
            <a:spAutoFit/>
          </a:bodyPr>
          <a:lstStyle/>
          <a:p>
            <a:pPr>
              <a:defRPr sz="900">
                <a:solidFill>
                  <a:srgbClr val="F8FAFC"/>
                </a:solidFill>
                <a:latin typeface="Calibri"/>
              </a:defRPr>
            </a:pPr>
            <a:r>
              <a:t>// TYPE 04boolTrue or Falseصح أو خطأ — بسTrueFalseLogged in? · Passed? · Enrolled?</a:t>
            </a:r>
          </a:p>
        </p:txBody>
      </p:sp>
      <p:sp>
        <p:nvSpPr>
          <p:cNvPr id="8" name="TextBox 7"/>
          <p:cNvSpPr txBox="1"/>
          <p:nvPr/>
        </p:nvSpPr>
        <p:spPr>
          <a:xfrm>
            <a:off x="10972800" y="6400800"/>
            <a:ext cx="914400" cy="365760"/>
          </a:xfrm>
          <a:prstGeom prst="rect">
            <a:avLst/>
          </a:prstGeom>
          <a:noFill/>
        </p:spPr>
        <p:txBody>
          <a:bodyPr wrap="none">
            <a:spAutoFit/>
          </a:bodyPr>
          <a:lstStyle/>
          <a:p>
            <a:pPr algn="r">
              <a:defRPr sz="1000">
                <a:solidFill>
                  <a:srgbClr val="94A3B8"/>
                </a:solidFill>
                <a:latin typeface="Consolas"/>
              </a:defRPr>
            </a:pPr>
            <a: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91440"/>
            <a:ext cx="10972800" cy="365760"/>
          </a:xfrm>
          <a:prstGeom prst="rect">
            <a:avLst/>
          </a:prstGeom>
          <a:noFill/>
        </p:spPr>
        <p:txBody>
          <a:bodyPr wrap="none">
            <a:spAutoFit/>
          </a:bodyPr>
          <a:lstStyle/>
          <a:p>
            <a:pPr>
              <a:defRPr sz="1200">
                <a:solidFill>
                  <a:srgbClr val="22D3EE"/>
                </a:solidFill>
                <a:latin typeface="Consolas"/>
              </a:defRPr>
            </a:pPr>
            <a:r>
              <a:t>LIVE CODING // NUMBERS — int &amp; float</a:t>
            </a:r>
          </a:p>
        </p:txBody>
      </p:sp>
      <p:sp>
        <p:nvSpPr>
          <p:cNvPr id="3" name="TextBox 2"/>
          <p:cNvSpPr txBox="1"/>
          <p:nvPr/>
        </p:nvSpPr>
        <p:spPr>
          <a:xfrm>
            <a:off x="507987" y="825499"/>
            <a:ext cx="10972800" cy="5486400"/>
          </a:xfrm>
          <a:prstGeom prst="rect">
            <a:avLst/>
          </a:prstGeom>
          <a:noFill/>
        </p:spPr>
        <p:txBody>
          <a:bodyPr wrap="square">
            <a:spAutoFit/>
          </a:bodyPr>
          <a:lstStyle/>
          <a:p>
            <a:pPr>
              <a:defRPr sz="900">
                <a:solidFill>
                  <a:srgbClr val="F8FAFC"/>
                </a:solidFill>
                <a:latin typeface="Calibri"/>
              </a:defRPr>
            </a:pPr>
            <a:r>
              <a:t>Working withnumbers.Python يبقى آلة حاسبة قوية جداً</a:t>
            </a:r>
          </a:p>
        </p:txBody>
      </p:sp>
      <p:sp>
        <p:nvSpPr>
          <p:cNvPr id="4" name="TextBox 3"/>
          <p:cNvSpPr txBox="1"/>
          <p:nvPr/>
        </p:nvSpPr>
        <p:spPr>
          <a:xfrm>
            <a:off x="507987" y="2159000"/>
            <a:ext cx="10972800" cy="4699000"/>
          </a:xfrm>
          <a:prstGeom prst="rect">
            <a:avLst/>
          </a:prstGeom>
          <a:noFill/>
        </p:spPr>
        <p:txBody>
          <a:bodyPr wrap="square">
            <a:spAutoFit/>
          </a:bodyPr>
          <a:lstStyle/>
          <a:p>
            <a:pPr>
              <a:defRPr sz="900">
                <a:solidFill>
                  <a:srgbClr val="F8FAFC"/>
                </a:solidFill>
                <a:latin typeface="Calibri"/>
              </a:defRPr>
            </a:pPr>
            <a:r>
              <a:t>numbers.py</a:t>
            </a:r>
          </a:p>
        </p:txBody>
      </p:sp>
      <p:sp>
        <p:nvSpPr>
          <p:cNvPr id="5" name="TextBox 4"/>
          <p:cNvSpPr txBox="1"/>
          <p:nvPr/>
        </p:nvSpPr>
        <p:spPr>
          <a:xfrm>
            <a:off x="698482" y="2540000"/>
            <a:ext cx="10972800" cy="4318000"/>
          </a:xfrm>
          <a:prstGeom prst="rect">
            <a:avLst/>
          </a:prstGeom>
          <a:noFill/>
        </p:spPr>
        <p:txBody>
          <a:bodyPr wrap="square">
            <a:spAutoFit/>
          </a:bodyPr>
          <a:lstStyle/>
          <a:p>
            <a:pPr>
              <a:defRPr sz="1400">
                <a:solidFill>
                  <a:srgbClr val="F8FAFC"/>
                </a:solidFill>
                <a:latin typeface="Calibri"/>
              </a:defRPr>
            </a:pPr>
            <a:r>
              <a:t># integers (int)age=17year=2026temp=-5# floats — decimalsprice=15.99pi=3.14grade=92.5# the 5 basic math operatorsprint(10+3)# 13   additionprint(10-3)# 7    subtractionprint(10*3)# 30   multiplicationprint(10/3)# 3.333... (always float!)print(10**2)# 100  power (10²)print(10%3)# 1    remainder (modulo)# mixing int + float = floattotal=10+2.5# 12.5</a:t>
            </a:r>
          </a:p>
        </p:txBody>
      </p:sp>
      <p:sp>
        <p:nvSpPr>
          <p:cNvPr id="6" name="TextBox 5"/>
          <p:cNvSpPr txBox="1"/>
          <p:nvPr/>
        </p:nvSpPr>
        <p:spPr>
          <a:xfrm>
            <a:off x="7683307" y="2349500"/>
            <a:ext cx="4508387" cy="4508500"/>
          </a:xfrm>
          <a:prstGeom prst="rect">
            <a:avLst/>
          </a:prstGeom>
          <a:noFill/>
        </p:spPr>
        <p:txBody>
          <a:bodyPr wrap="square">
            <a:spAutoFit/>
          </a:bodyPr>
          <a:lstStyle/>
          <a:p>
            <a:pPr>
              <a:defRPr sz="900">
                <a:solidFill>
                  <a:srgbClr val="F8FAFC"/>
                </a:solidFill>
                <a:latin typeface="Calibri"/>
              </a:defRPr>
            </a:pPr>
            <a:r>
              <a:t>// KEY TAKEAWAYSintWhole numbers — no decimal point.floatHas a decimal point — even5.0is a float./Division always gives a float, even if the answer is whole.%Modulo — remainder. Useful for "is it even?" checks.**Power —2 ** 10is 2 to the 10th = 1024.</a:t>
            </a:r>
          </a:p>
        </p:txBody>
      </p:sp>
      <p:sp>
        <p:nvSpPr>
          <p:cNvPr id="7" name="TextBox 6"/>
          <p:cNvSpPr txBox="1"/>
          <p:nvPr/>
        </p:nvSpPr>
        <p:spPr>
          <a:xfrm>
            <a:off x="10972800" y="6400800"/>
            <a:ext cx="914400" cy="365760"/>
          </a:xfrm>
          <a:prstGeom prst="rect">
            <a:avLst/>
          </a:prstGeom>
          <a:noFill/>
        </p:spPr>
        <p:txBody>
          <a:bodyPr wrap="none">
            <a:spAutoFit/>
          </a:bodyPr>
          <a:lstStyle/>
          <a:p>
            <a:pPr algn="r">
              <a:defRPr sz="1000">
                <a:solidFill>
                  <a:srgbClr val="94A3B8"/>
                </a:solidFill>
                <a:latin typeface="Consolas"/>
              </a:defRPr>
            </a:pPr>
            <a: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91440"/>
            <a:ext cx="10972800" cy="365760"/>
          </a:xfrm>
          <a:prstGeom prst="rect">
            <a:avLst/>
          </a:prstGeom>
          <a:noFill/>
        </p:spPr>
        <p:txBody>
          <a:bodyPr wrap="none">
            <a:spAutoFit/>
          </a:bodyPr>
          <a:lstStyle/>
          <a:p>
            <a:pPr>
              <a:defRPr sz="1200">
                <a:solidFill>
                  <a:srgbClr val="22D3EE"/>
                </a:solidFill>
                <a:latin typeface="Consolas"/>
              </a:defRPr>
            </a:pPr>
            <a:r>
              <a:t>LIVE CODING // STRINGS (str)</a:t>
            </a:r>
          </a:p>
        </p:txBody>
      </p:sp>
      <p:sp>
        <p:nvSpPr>
          <p:cNvPr id="3" name="TextBox 2"/>
          <p:cNvSpPr txBox="1"/>
          <p:nvPr/>
        </p:nvSpPr>
        <p:spPr>
          <a:xfrm>
            <a:off x="507987" y="825499"/>
            <a:ext cx="10972800" cy="5486400"/>
          </a:xfrm>
          <a:prstGeom prst="rect">
            <a:avLst/>
          </a:prstGeom>
          <a:noFill/>
        </p:spPr>
        <p:txBody>
          <a:bodyPr wrap="square">
            <a:spAutoFit/>
          </a:bodyPr>
          <a:lstStyle/>
          <a:p>
            <a:pPr>
              <a:defRPr sz="900">
                <a:solidFill>
                  <a:srgbClr val="F8FAFC"/>
                </a:solidFill>
                <a:latin typeface="Calibri"/>
              </a:defRPr>
            </a:pPr>
            <a:r>
              <a:t>Working withtext.أي كلام لازم يبقى بين علامتي اقتباس</a:t>
            </a:r>
          </a:p>
        </p:txBody>
      </p:sp>
      <p:sp>
        <p:nvSpPr>
          <p:cNvPr id="4" name="TextBox 3"/>
          <p:cNvSpPr txBox="1"/>
          <p:nvPr/>
        </p:nvSpPr>
        <p:spPr>
          <a:xfrm>
            <a:off x="507987" y="2159000"/>
            <a:ext cx="10972800" cy="4699000"/>
          </a:xfrm>
          <a:prstGeom prst="rect">
            <a:avLst/>
          </a:prstGeom>
          <a:noFill/>
        </p:spPr>
        <p:txBody>
          <a:bodyPr wrap="square">
            <a:spAutoFit/>
          </a:bodyPr>
          <a:lstStyle/>
          <a:p>
            <a:pPr>
              <a:defRPr sz="900">
                <a:solidFill>
                  <a:srgbClr val="F8FAFC"/>
                </a:solidFill>
                <a:latin typeface="Calibri"/>
              </a:defRPr>
            </a:pPr>
            <a:r>
              <a:t>strings.py</a:t>
            </a:r>
          </a:p>
        </p:txBody>
      </p:sp>
      <p:sp>
        <p:nvSpPr>
          <p:cNvPr id="5" name="TextBox 4"/>
          <p:cNvSpPr txBox="1"/>
          <p:nvPr/>
        </p:nvSpPr>
        <p:spPr>
          <a:xfrm>
            <a:off x="698482" y="2540000"/>
            <a:ext cx="10972800" cy="4318000"/>
          </a:xfrm>
          <a:prstGeom prst="rect">
            <a:avLst/>
          </a:prstGeom>
          <a:noFill/>
        </p:spPr>
        <p:txBody>
          <a:bodyPr wrap="square">
            <a:spAutoFit/>
          </a:bodyPr>
          <a:lstStyle/>
          <a:p>
            <a:pPr>
              <a:defRPr sz="1400">
                <a:solidFill>
                  <a:srgbClr val="F8FAFC"/>
                </a:solidFill>
                <a:latin typeface="Calibri"/>
              </a:defRPr>
            </a:pPr>
            <a:r>
              <a:t># both quote styles work — pick one and stay consistentname="Yousef"city='Cairo'# joining strings — the + operator concatenatesfull=name+" from "+cityprint(full)# Yousef from Cairo# repeat with *print("ha"*5)# hahahahaha# f-strings — mix text + variablesage=17print(f"My name is {name} and I am {age}")# useful string thingsprint(len(name))# 6 (letters count)print(name.upper())# YOUSEFprint(name.lower())# yousef</a:t>
            </a:r>
          </a:p>
        </p:txBody>
      </p:sp>
      <p:sp>
        <p:nvSpPr>
          <p:cNvPr id="6" name="TextBox 5"/>
          <p:cNvSpPr txBox="1"/>
          <p:nvPr/>
        </p:nvSpPr>
        <p:spPr>
          <a:xfrm>
            <a:off x="7683307" y="2349500"/>
            <a:ext cx="4508387" cy="4508500"/>
          </a:xfrm>
          <a:prstGeom prst="rect">
            <a:avLst/>
          </a:prstGeom>
          <a:noFill/>
        </p:spPr>
        <p:txBody>
          <a:bodyPr wrap="square">
            <a:spAutoFit/>
          </a:bodyPr>
          <a:lstStyle/>
          <a:p>
            <a:pPr>
              <a:defRPr sz="900">
                <a:solidFill>
                  <a:srgbClr val="F8FAFC"/>
                </a:solidFill>
                <a:latin typeface="Calibri"/>
              </a:defRPr>
            </a:pPr>
            <a:r>
              <a:t>// WATCH OUTNumbers in quotes are text!"5"+"3"→"53"5+3→8Match your quotes!✓ "hello"    'hi'✗ "hello'    'hi"f-string tipThefbefore the quote lets you drop variables in{ }. Learn it — you'll use it forever.</a:t>
            </a:r>
          </a:p>
        </p:txBody>
      </p:sp>
      <p:sp>
        <p:nvSpPr>
          <p:cNvPr id="7" name="TextBox 6"/>
          <p:cNvSpPr txBox="1"/>
          <p:nvPr/>
        </p:nvSpPr>
        <p:spPr>
          <a:xfrm>
            <a:off x="10972800" y="6400800"/>
            <a:ext cx="914400" cy="365760"/>
          </a:xfrm>
          <a:prstGeom prst="rect">
            <a:avLst/>
          </a:prstGeom>
          <a:noFill/>
        </p:spPr>
        <p:txBody>
          <a:bodyPr wrap="none">
            <a:spAutoFit/>
          </a:bodyPr>
          <a:lstStyle/>
          <a:p>
            <a:pPr algn="r">
              <a:defRPr sz="1000">
                <a:solidFill>
                  <a:srgbClr val="94A3B8"/>
                </a:solidFill>
                <a:latin typeface="Consolas"/>
              </a:defRPr>
            </a:pPr>
            <a: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91440"/>
            <a:ext cx="10972800" cy="365760"/>
          </a:xfrm>
          <a:prstGeom prst="rect">
            <a:avLst/>
          </a:prstGeom>
          <a:noFill/>
        </p:spPr>
        <p:txBody>
          <a:bodyPr wrap="none">
            <a:spAutoFit/>
          </a:bodyPr>
          <a:lstStyle/>
          <a:p>
            <a:pPr>
              <a:defRPr sz="1200">
                <a:solidFill>
                  <a:srgbClr val="22D3EE"/>
                </a:solidFill>
                <a:latin typeface="Consolas"/>
              </a:defRPr>
            </a:pPr>
            <a:r>
              <a:t>LIVE CODING // BOOLEANS (bool)</a:t>
            </a:r>
          </a:p>
        </p:txBody>
      </p:sp>
      <p:sp>
        <p:nvSpPr>
          <p:cNvPr id="3" name="TextBox 2"/>
          <p:cNvSpPr txBox="1"/>
          <p:nvPr/>
        </p:nvSpPr>
        <p:spPr>
          <a:xfrm>
            <a:off x="507987" y="825499"/>
            <a:ext cx="10972800" cy="5486400"/>
          </a:xfrm>
          <a:prstGeom prst="rect">
            <a:avLst/>
          </a:prstGeom>
          <a:noFill/>
        </p:spPr>
        <p:txBody>
          <a:bodyPr wrap="square">
            <a:spAutoFit/>
          </a:bodyPr>
          <a:lstStyle/>
          <a:p>
            <a:pPr>
              <a:defRPr sz="900">
                <a:solidFill>
                  <a:srgbClr val="F8FAFC"/>
                </a:solidFill>
                <a:latin typeface="Calibri"/>
              </a:defRPr>
            </a:pPr>
            <a:r>
              <a:t>Theyes-or-notype.في الحياة، كل قرار في الآخر إجابته "أيوة" أو "لأ" — Python بيحكيها بـ True و False</a:t>
            </a:r>
          </a:p>
        </p:txBody>
      </p:sp>
      <p:sp>
        <p:nvSpPr>
          <p:cNvPr id="4" name="TextBox 3"/>
          <p:cNvSpPr txBox="1"/>
          <p:nvPr/>
        </p:nvSpPr>
        <p:spPr>
          <a:xfrm>
            <a:off x="507987" y="2159000"/>
            <a:ext cx="10972800" cy="4699000"/>
          </a:xfrm>
          <a:prstGeom prst="rect">
            <a:avLst/>
          </a:prstGeom>
          <a:noFill/>
        </p:spPr>
        <p:txBody>
          <a:bodyPr wrap="square">
            <a:spAutoFit/>
          </a:bodyPr>
          <a:lstStyle/>
          <a:p>
            <a:pPr>
              <a:defRPr sz="900">
                <a:solidFill>
                  <a:srgbClr val="F8FAFC"/>
                </a:solidFill>
                <a:latin typeface="Calibri"/>
              </a:defRPr>
            </a:pPr>
            <a:r>
              <a:t>booleans.py</a:t>
            </a:r>
          </a:p>
        </p:txBody>
      </p:sp>
      <p:sp>
        <p:nvSpPr>
          <p:cNvPr id="5" name="TextBox 4"/>
          <p:cNvSpPr txBox="1"/>
          <p:nvPr/>
        </p:nvSpPr>
        <p:spPr>
          <a:xfrm>
            <a:off x="698482" y="2540000"/>
            <a:ext cx="10972800" cy="4318000"/>
          </a:xfrm>
          <a:prstGeom prst="rect">
            <a:avLst/>
          </a:prstGeom>
          <a:noFill/>
        </p:spPr>
        <p:txBody>
          <a:bodyPr wrap="square">
            <a:spAutoFit/>
          </a:bodyPr>
          <a:lstStyle/>
          <a:p>
            <a:pPr>
              <a:defRPr sz="1500">
                <a:solidFill>
                  <a:srgbClr val="F8FAFC"/>
                </a:solidFill>
                <a:latin typeface="Calibri"/>
              </a:defRPr>
            </a:pPr>
            <a:r>
              <a:t># booleans — only 2 possible valuesis_student=Trueis_teacher=False# capital T and F! true/false won't workprint(is_student)# True# comparisons return booleansprint(10&gt;5)# Trueprint(3==4)# Falseprint(3!=4)# True (not equal)print("Ali"=="ali")# False (case matters!)# store the result of a comparisonage=17is_adult=age&gt;=18print(is_adult)# False</a:t>
            </a:r>
          </a:p>
        </p:txBody>
      </p:sp>
      <p:sp>
        <p:nvSpPr>
          <p:cNvPr id="6" name="TextBox 5"/>
          <p:cNvSpPr txBox="1"/>
          <p:nvPr/>
        </p:nvSpPr>
        <p:spPr>
          <a:xfrm>
            <a:off x="7683307" y="2349500"/>
            <a:ext cx="4508387" cy="4508500"/>
          </a:xfrm>
          <a:prstGeom prst="rect">
            <a:avLst/>
          </a:prstGeom>
          <a:noFill/>
        </p:spPr>
        <p:txBody>
          <a:bodyPr wrap="square">
            <a:spAutoFit/>
          </a:bodyPr>
          <a:lstStyle/>
          <a:p>
            <a:pPr>
              <a:defRPr sz="900">
                <a:solidFill>
                  <a:srgbClr val="F8FAFC"/>
                </a:solidFill>
                <a:latin typeface="Calibri"/>
              </a:defRPr>
            </a:pPr>
            <a:r>
              <a:t>// COMPARISON OPERATORS==equal to!=not equal&gt;greater than&lt;less than&gt;=greater or equal&lt;=less or equalThe biggest beginner trap:=assigns a value==compares equality</a:t>
            </a:r>
          </a:p>
        </p:txBody>
      </p:sp>
      <p:sp>
        <p:nvSpPr>
          <p:cNvPr id="7" name="TextBox 6"/>
          <p:cNvSpPr txBox="1"/>
          <p:nvPr/>
        </p:nvSpPr>
        <p:spPr>
          <a:xfrm>
            <a:off x="25399" y="152400"/>
            <a:ext cx="10972800" cy="5486400"/>
          </a:xfrm>
          <a:prstGeom prst="rect">
            <a:avLst/>
          </a:prstGeom>
          <a:noFill/>
        </p:spPr>
        <p:txBody>
          <a:bodyPr wrap="square">
            <a:spAutoFit/>
          </a:bodyPr>
          <a:lstStyle/>
          <a:p>
            <a:pPr>
              <a:defRPr sz="900">
                <a:solidFill>
                  <a:srgbClr val="F8FAFC"/>
                </a:solidFill>
                <a:latin typeface="Calibri"/>
              </a:defRPr>
            </a:pPr>
            <a:r>
              <a:t>The biggest beginner trap:=assigns a value==compares equality</a:t>
            </a:r>
          </a:p>
        </p:txBody>
      </p:sp>
      <p:sp>
        <p:nvSpPr>
          <p:cNvPr id="8" name="TextBox 7"/>
          <p:cNvSpPr txBox="1"/>
          <p:nvPr/>
        </p:nvSpPr>
        <p:spPr>
          <a:xfrm>
            <a:off x="10972800" y="6400800"/>
            <a:ext cx="914400" cy="365760"/>
          </a:xfrm>
          <a:prstGeom prst="rect">
            <a:avLst/>
          </a:prstGeom>
          <a:noFill/>
        </p:spPr>
        <p:txBody>
          <a:bodyPr wrap="none">
            <a:spAutoFit/>
          </a:bodyPr>
          <a:lstStyle/>
          <a:p>
            <a:pPr algn="r">
              <a:defRPr sz="1000">
                <a:solidFill>
                  <a:srgbClr val="94A3B8"/>
                </a:solidFill>
                <a:latin typeface="Consolas"/>
              </a:defRPr>
            </a:pPr>
            <a: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91440"/>
            <a:ext cx="10972800" cy="365760"/>
          </a:xfrm>
          <a:prstGeom prst="rect">
            <a:avLst/>
          </a:prstGeom>
          <a:noFill/>
        </p:spPr>
        <p:txBody>
          <a:bodyPr wrap="none">
            <a:spAutoFit/>
          </a:bodyPr>
          <a:lstStyle/>
          <a:p>
            <a:pPr>
              <a:defRPr sz="1200">
                <a:solidFill>
                  <a:srgbClr val="22D3EE"/>
                </a:solidFill>
                <a:latin typeface="Consolas"/>
              </a:defRPr>
            </a:pPr>
            <a:r>
              <a:t>TOOL // type() — ASK PYTHON</a:t>
            </a:r>
          </a:p>
        </p:txBody>
      </p:sp>
      <p:sp>
        <p:nvSpPr>
          <p:cNvPr id="3" name="TextBox 2"/>
          <p:cNvSpPr txBox="1"/>
          <p:nvPr/>
        </p:nvSpPr>
        <p:spPr>
          <a:xfrm>
            <a:off x="507987" y="952500"/>
            <a:ext cx="10972800" cy="5486400"/>
          </a:xfrm>
          <a:prstGeom prst="rect">
            <a:avLst/>
          </a:prstGeom>
          <a:noFill/>
        </p:spPr>
        <p:txBody>
          <a:bodyPr wrap="square">
            <a:spAutoFit/>
          </a:bodyPr>
          <a:lstStyle/>
          <a:p>
            <a:pPr>
              <a:defRPr sz="900">
                <a:solidFill>
                  <a:srgbClr val="F8FAFC"/>
                </a:solidFill>
                <a:latin typeface="Calibri"/>
              </a:defRPr>
            </a:pPr>
            <a:r>
              <a:t>type()Ask Python:"what kind of value is this?"اسأل Python — إيه نوع البيانات دي</a:t>
            </a:r>
          </a:p>
        </p:txBody>
      </p:sp>
      <p:sp>
        <p:nvSpPr>
          <p:cNvPr id="4" name="TextBox 3"/>
          <p:cNvSpPr txBox="1"/>
          <p:nvPr/>
        </p:nvSpPr>
        <p:spPr>
          <a:xfrm>
            <a:off x="507987" y="3111500"/>
            <a:ext cx="10972800" cy="3746500"/>
          </a:xfrm>
          <a:prstGeom prst="rect">
            <a:avLst/>
          </a:prstGeom>
          <a:noFill/>
        </p:spPr>
        <p:txBody>
          <a:bodyPr wrap="square">
            <a:spAutoFit/>
          </a:bodyPr>
          <a:lstStyle/>
          <a:p>
            <a:pPr>
              <a:defRPr sz="900">
                <a:solidFill>
                  <a:srgbClr val="F8FAFC"/>
                </a:solidFill>
                <a:latin typeface="Calibri"/>
              </a:defRPr>
            </a:pPr>
            <a:r>
              <a:t>types.py</a:t>
            </a:r>
          </a:p>
        </p:txBody>
      </p:sp>
      <p:sp>
        <p:nvSpPr>
          <p:cNvPr id="5" name="TextBox 4"/>
          <p:cNvSpPr txBox="1"/>
          <p:nvPr/>
        </p:nvSpPr>
        <p:spPr>
          <a:xfrm>
            <a:off x="698482" y="3492500"/>
            <a:ext cx="10972800" cy="3365500"/>
          </a:xfrm>
          <a:prstGeom prst="rect">
            <a:avLst/>
          </a:prstGeom>
          <a:noFill/>
        </p:spPr>
        <p:txBody>
          <a:bodyPr wrap="square">
            <a:spAutoFit/>
          </a:bodyPr>
          <a:lstStyle/>
          <a:p>
            <a:pPr>
              <a:defRPr sz="1400">
                <a:solidFill>
                  <a:srgbClr val="F8FAFC"/>
                </a:solidFill>
                <a:latin typeface="Calibri"/>
              </a:defRPr>
            </a:pPr>
            <a:r>
              <a:t>print(type(42))# &lt;class 'int'&gt;print(type(3.14))# &lt;class 'float'&gt;print(type("Yousef"))# &lt;class 'str'&gt;print(type(True))# &lt;class 'bool'&gt;# with variables tooage=17print(type(age))# &lt;class 'int'&gt;# surprise! quotes turn numbers into stringsx="17"print(type(x))# &lt;class 'str'&gt;   ⚠️</a:t>
            </a:r>
          </a:p>
        </p:txBody>
      </p:sp>
      <p:sp>
        <p:nvSpPr>
          <p:cNvPr id="6" name="TextBox 5"/>
          <p:cNvSpPr txBox="1"/>
          <p:nvPr/>
        </p:nvSpPr>
        <p:spPr>
          <a:xfrm>
            <a:off x="7683307" y="3301999"/>
            <a:ext cx="4508387" cy="3556000"/>
          </a:xfrm>
          <a:prstGeom prst="rect">
            <a:avLst/>
          </a:prstGeom>
          <a:noFill/>
        </p:spPr>
        <p:txBody>
          <a:bodyPr wrap="square">
            <a:spAutoFit/>
          </a:bodyPr>
          <a:lstStyle/>
          <a:p>
            <a:pPr>
              <a:defRPr sz="900">
                <a:solidFill>
                  <a:srgbClr val="F8FAFC"/>
                </a:solidFill>
                <a:latin typeface="Calibri"/>
              </a:defRPr>
            </a:pPr>
            <a:r>
              <a:t>// WHY YOU'LL USE THISDebugging"Why doesn't my math work?" → check the type first.Understanding input()Everything frominput()isstr— even if user types 17.Remember:Quotes make everything a string. Even"17"is text, not a number.</a:t>
            </a:r>
          </a:p>
        </p:txBody>
      </p:sp>
      <p:sp>
        <p:nvSpPr>
          <p:cNvPr id="7" name="TextBox 6"/>
          <p:cNvSpPr txBox="1"/>
          <p:nvPr/>
        </p:nvSpPr>
        <p:spPr>
          <a:xfrm>
            <a:off x="10972800" y="6400800"/>
            <a:ext cx="914400" cy="365760"/>
          </a:xfrm>
          <a:prstGeom prst="rect">
            <a:avLst/>
          </a:prstGeom>
          <a:noFill/>
        </p:spPr>
        <p:txBody>
          <a:bodyPr wrap="none">
            <a:spAutoFit/>
          </a:bodyPr>
          <a:lstStyle/>
          <a:p>
            <a:pPr algn="r">
              <a:defRPr sz="1000">
                <a:solidFill>
                  <a:srgbClr val="94A3B8"/>
                </a:solidFill>
                <a:latin typeface="Consolas"/>
              </a:defRPr>
            </a:pPr>
            <a: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91440"/>
            <a:ext cx="10972800" cy="365760"/>
          </a:xfrm>
          <a:prstGeom prst="rect">
            <a:avLst/>
          </a:prstGeom>
          <a:noFill/>
        </p:spPr>
        <p:txBody>
          <a:bodyPr wrap="none">
            <a:spAutoFit/>
          </a:bodyPr>
          <a:lstStyle/>
          <a:p>
            <a:pPr>
              <a:defRPr sz="1200">
                <a:solidFill>
                  <a:srgbClr val="22D3EE"/>
                </a:solidFill>
                <a:latin typeface="Consolas"/>
              </a:defRPr>
            </a:pPr>
            <a:r>
              <a:t>MAGIC // input() — TALK TO THE USER</a:t>
            </a:r>
          </a:p>
        </p:txBody>
      </p:sp>
      <p:sp>
        <p:nvSpPr>
          <p:cNvPr id="3" name="TextBox 2"/>
          <p:cNvSpPr txBox="1"/>
          <p:nvPr/>
        </p:nvSpPr>
        <p:spPr>
          <a:xfrm>
            <a:off x="507987" y="952500"/>
            <a:ext cx="10972800" cy="5486400"/>
          </a:xfrm>
          <a:prstGeom prst="rect">
            <a:avLst/>
          </a:prstGeom>
          <a:noFill/>
        </p:spPr>
        <p:txBody>
          <a:bodyPr wrap="square">
            <a:spAutoFit/>
          </a:bodyPr>
          <a:lstStyle/>
          <a:p>
            <a:pPr>
              <a:defRPr sz="900">
                <a:solidFill>
                  <a:srgbClr val="F8FAFC"/>
                </a:solidFill>
                <a:latin typeface="Calibri"/>
              </a:defRPr>
            </a:pPr>
            <a:r>
              <a:t>input()Ask the user a question.Read their answer.اسأل المستخدم سؤال، وخد الإجابة في متغير</a:t>
            </a:r>
          </a:p>
        </p:txBody>
      </p:sp>
      <p:sp>
        <p:nvSpPr>
          <p:cNvPr id="4" name="TextBox 3"/>
          <p:cNvSpPr txBox="1"/>
          <p:nvPr/>
        </p:nvSpPr>
        <p:spPr>
          <a:xfrm>
            <a:off x="507987" y="3111500"/>
            <a:ext cx="10972800" cy="3746500"/>
          </a:xfrm>
          <a:prstGeom prst="rect">
            <a:avLst/>
          </a:prstGeom>
          <a:noFill/>
        </p:spPr>
        <p:txBody>
          <a:bodyPr wrap="square">
            <a:spAutoFit/>
          </a:bodyPr>
          <a:lstStyle/>
          <a:p>
            <a:pPr>
              <a:defRPr sz="900">
                <a:solidFill>
                  <a:srgbClr val="F8FAFC"/>
                </a:solidFill>
                <a:latin typeface="Calibri"/>
              </a:defRPr>
            </a:pPr>
            <a:r>
              <a:t>ask.py</a:t>
            </a:r>
          </a:p>
        </p:txBody>
      </p:sp>
      <p:sp>
        <p:nvSpPr>
          <p:cNvPr id="5" name="TextBox 4"/>
          <p:cNvSpPr txBox="1"/>
          <p:nvPr/>
        </p:nvSpPr>
        <p:spPr>
          <a:xfrm>
            <a:off x="698482" y="3492500"/>
            <a:ext cx="10972800" cy="3365500"/>
          </a:xfrm>
          <a:prstGeom prst="rect">
            <a:avLst/>
          </a:prstGeom>
          <a:noFill/>
        </p:spPr>
        <p:txBody>
          <a:bodyPr wrap="square">
            <a:spAutoFit/>
          </a:bodyPr>
          <a:lstStyle/>
          <a:p>
            <a:pPr>
              <a:defRPr sz="1600">
                <a:solidFill>
                  <a:srgbClr val="F8FAFC"/>
                </a:solidFill>
                <a:latin typeface="Calibri"/>
              </a:defRPr>
            </a:pPr>
            <a:r>
              <a:t># ask a question, store the answername=input("What is your name? ")print(f"Hello, {name}!")# ⚠️ input() ALWAYS returns a string!age=input("How old are you? ")print(type(age))# &lt;class 'str'&gt; even if user typed 17!# so this WILL crash — can't add str + int# print(age + 1)  → TypeError!</a:t>
            </a:r>
          </a:p>
        </p:txBody>
      </p:sp>
      <p:sp>
        <p:nvSpPr>
          <p:cNvPr id="6" name="TextBox 5"/>
          <p:cNvSpPr txBox="1"/>
          <p:nvPr/>
        </p:nvSpPr>
        <p:spPr>
          <a:xfrm>
            <a:off x="7492812" y="3111500"/>
            <a:ext cx="4698882" cy="3746500"/>
          </a:xfrm>
          <a:prstGeom prst="rect">
            <a:avLst/>
          </a:prstGeom>
          <a:noFill/>
        </p:spPr>
        <p:txBody>
          <a:bodyPr wrap="square">
            <a:spAutoFit/>
          </a:bodyPr>
          <a:lstStyle/>
          <a:p>
            <a:pPr>
              <a:defRPr sz="900">
                <a:solidFill>
                  <a:srgbClr val="F8FAFC"/>
                </a:solidFill>
                <a:latin typeface="Calibri"/>
              </a:defRPr>
            </a:pPr>
            <a:r>
              <a:t>Terminal — running it</a:t>
            </a:r>
          </a:p>
        </p:txBody>
      </p:sp>
      <p:sp>
        <p:nvSpPr>
          <p:cNvPr id="7" name="TextBox 6"/>
          <p:cNvSpPr txBox="1"/>
          <p:nvPr/>
        </p:nvSpPr>
        <p:spPr>
          <a:xfrm>
            <a:off x="7683307" y="3492500"/>
            <a:ext cx="4508387" cy="3365500"/>
          </a:xfrm>
          <a:prstGeom prst="rect">
            <a:avLst/>
          </a:prstGeom>
          <a:noFill/>
        </p:spPr>
        <p:txBody>
          <a:bodyPr wrap="square">
            <a:spAutoFit/>
          </a:bodyPr>
          <a:lstStyle/>
          <a:p>
            <a:pPr>
              <a:defRPr sz="1500">
                <a:solidFill>
                  <a:srgbClr val="F8FAFC"/>
                </a:solidFill>
                <a:latin typeface="Calibri"/>
              </a:defRPr>
            </a:pPr>
            <a:r>
              <a:t>$python ask.pyWhat is your name?SaraHello, Sara!How old are you?17&lt;class 'str'&gt;$_⚠️ Even though the user typed the digits17, Python received thetext"17".</a:t>
            </a:r>
          </a:p>
        </p:txBody>
      </p:sp>
      <p:sp>
        <p:nvSpPr>
          <p:cNvPr id="8" name="TextBox 7"/>
          <p:cNvSpPr txBox="1"/>
          <p:nvPr/>
        </p:nvSpPr>
        <p:spPr>
          <a:xfrm>
            <a:off x="10972800" y="6400800"/>
            <a:ext cx="914400" cy="365760"/>
          </a:xfrm>
          <a:prstGeom prst="rect">
            <a:avLst/>
          </a:prstGeom>
          <a:noFill/>
        </p:spPr>
        <p:txBody>
          <a:bodyPr wrap="none">
            <a:spAutoFit/>
          </a:bodyPr>
          <a:lstStyle/>
          <a:p>
            <a:pPr algn="r">
              <a:defRPr sz="1000">
                <a:solidFill>
                  <a:srgbClr val="94A3B8"/>
                </a:solidFill>
                <a:latin typeface="Consolas"/>
              </a:defRPr>
            </a:pPr>
            <a: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91440"/>
            <a:ext cx="10972800" cy="365760"/>
          </a:xfrm>
          <a:prstGeom prst="rect">
            <a:avLst/>
          </a:prstGeom>
          <a:noFill/>
        </p:spPr>
        <p:txBody>
          <a:bodyPr wrap="none">
            <a:spAutoFit/>
          </a:bodyPr>
          <a:lstStyle/>
          <a:p>
            <a:pPr>
              <a:defRPr sz="1200">
                <a:solidFill>
                  <a:srgbClr val="22D3EE"/>
                </a:solidFill>
                <a:latin typeface="Consolas"/>
              </a:defRPr>
            </a:pPr>
            <a:r>
              <a:t>TOOL // TYPE CASTING — CONVERT TYPES</a:t>
            </a:r>
          </a:p>
        </p:txBody>
      </p:sp>
      <p:sp>
        <p:nvSpPr>
          <p:cNvPr id="3" name="TextBox 2"/>
          <p:cNvSpPr txBox="1"/>
          <p:nvPr/>
        </p:nvSpPr>
        <p:spPr>
          <a:xfrm>
            <a:off x="507987" y="952500"/>
            <a:ext cx="10972800" cy="5486400"/>
          </a:xfrm>
          <a:prstGeom prst="rect">
            <a:avLst/>
          </a:prstGeom>
          <a:noFill/>
        </p:spPr>
        <p:txBody>
          <a:bodyPr wrap="square">
            <a:spAutoFit/>
          </a:bodyPr>
          <a:lstStyle/>
          <a:p>
            <a:pPr>
              <a:defRPr sz="900">
                <a:solidFill>
                  <a:srgbClr val="F8FAFC"/>
                </a:solidFill>
                <a:latin typeface="Calibri"/>
              </a:defRPr>
            </a:pPr>
            <a:r>
              <a:t>Typecasting.Turn one type into another."17"becomes17.حوّل من نوع لنوع — من نص لرقم أو العكس</a:t>
            </a:r>
          </a:p>
        </p:txBody>
      </p:sp>
      <p:sp>
        <p:nvSpPr>
          <p:cNvPr id="4" name="TextBox 3"/>
          <p:cNvSpPr txBox="1"/>
          <p:nvPr/>
        </p:nvSpPr>
        <p:spPr>
          <a:xfrm>
            <a:off x="698482" y="2794000"/>
            <a:ext cx="10972800" cy="4064000"/>
          </a:xfrm>
          <a:prstGeom prst="rect">
            <a:avLst/>
          </a:prstGeom>
          <a:noFill/>
        </p:spPr>
        <p:txBody>
          <a:bodyPr wrap="square">
            <a:spAutoFit/>
          </a:bodyPr>
          <a:lstStyle/>
          <a:p>
            <a:pPr>
              <a:defRPr sz="900">
                <a:solidFill>
                  <a:srgbClr val="F8FAFC"/>
                </a:solidFill>
                <a:latin typeface="Calibri"/>
              </a:defRPr>
            </a:pPr>
            <a:r>
              <a:t>// CAST TO INTint()int("17")      →17int(3.9)     →3# cuts decimal!int("hi")     →ValueError</a:t>
            </a:r>
          </a:p>
        </p:txBody>
      </p:sp>
      <p:sp>
        <p:nvSpPr>
          <p:cNvPr id="5" name="TextBox 4"/>
          <p:cNvSpPr txBox="1"/>
          <p:nvPr/>
        </p:nvSpPr>
        <p:spPr>
          <a:xfrm>
            <a:off x="4508387" y="2794000"/>
            <a:ext cx="7683307" cy="4064000"/>
          </a:xfrm>
          <a:prstGeom prst="rect">
            <a:avLst/>
          </a:prstGeom>
          <a:noFill/>
        </p:spPr>
        <p:txBody>
          <a:bodyPr wrap="square">
            <a:spAutoFit/>
          </a:bodyPr>
          <a:lstStyle/>
          <a:p>
            <a:pPr>
              <a:defRPr sz="900">
                <a:solidFill>
                  <a:srgbClr val="F8FAFC"/>
                </a:solidFill>
                <a:latin typeface="Calibri"/>
              </a:defRPr>
            </a:pPr>
            <a:r>
              <a:t>// CAST TO FLOATfloat()float("3.14")   →3.14float(10)       →10.0float("5")      →5.0</a:t>
            </a:r>
          </a:p>
        </p:txBody>
      </p:sp>
      <p:sp>
        <p:nvSpPr>
          <p:cNvPr id="6" name="TextBox 5"/>
          <p:cNvSpPr txBox="1"/>
          <p:nvPr/>
        </p:nvSpPr>
        <p:spPr>
          <a:xfrm>
            <a:off x="8318292" y="2794000"/>
            <a:ext cx="3873403" cy="4064000"/>
          </a:xfrm>
          <a:prstGeom prst="rect">
            <a:avLst/>
          </a:prstGeom>
          <a:noFill/>
        </p:spPr>
        <p:txBody>
          <a:bodyPr wrap="square">
            <a:spAutoFit/>
          </a:bodyPr>
          <a:lstStyle/>
          <a:p>
            <a:pPr>
              <a:defRPr sz="900">
                <a:solidFill>
                  <a:srgbClr val="F8FAFC"/>
                </a:solidFill>
                <a:latin typeface="Calibri"/>
              </a:defRPr>
            </a:pPr>
            <a:r>
              <a:t>// CAST TO STRINGstr()str(17)       →"17"str(3.14)     →"3.14"str(True)     →"True"</a:t>
            </a:r>
          </a:p>
        </p:txBody>
      </p:sp>
      <p:sp>
        <p:nvSpPr>
          <p:cNvPr id="7" name="TextBox 6"/>
          <p:cNvSpPr txBox="1"/>
          <p:nvPr/>
        </p:nvSpPr>
        <p:spPr>
          <a:xfrm>
            <a:off x="825479" y="4762500"/>
            <a:ext cx="10972800" cy="2095500"/>
          </a:xfrm>
          <a:prstGeom prst="rect">
            <a:avLst/>
          </a:prstGeom>
          <a:noFill/>
        </p:spPr>
        <p:txBody>
          <a:bodyPr wrap="square">
            <a:spAutoFit/>
          </a:bodyPr>
          <a:lstStyle/>
          <a:p>
            <a:pPr>
              <a:defRPr sz="900">
                <a:solidFill>
                  <a:srgbClr val="F8FAFC"/>
                </a:solidFill>
                <a:latin typeface="Calibri"/>
              </a:defRPr>
            </a:pPr>
            <a:r>
              <a:t>// THE INPUT + INT PATTERN — YOU'LL USE THIS ALL THE TIMEage=int(input("How old are you? "))print(f"Next year you'll be {age + 1}")</a:t>
            </a:r>
          </a:p>
        </p:txBody>
      </p:sp>
      <p:sp>
        <p:nvSpPr>
          <p:cNvPr id="8" name="TextBox 7"/>
          <p:cNvSpPr txBox="1"/>
          <p:nvPr/>
        </p:nvSpPr>
        <p:spPr>
          <a:xfrm>
            <a:off x="10972800" y="6400800"/>
            <a:ext cx="914400" cy="365760"/>
          </a:xfrm>
          <a:prstGeom prst="rect">
            <a:avLst/>
          </a:prstGeom>
          <a:noFill/>
        </p:spPr>
        <p:txBody>
          <a:bodyPr wrap="none">
            <a:spAutoFit/>
          </a:bodyPr>
          <a:lstStyle/>
          <a:p>
            <a:pPr algn="r">
              <a:defRPr sz="1000">
                <a:solidFill>
                  <a:srgbClr val="94A3B8"/>
                </a:solidFill>
                <a:latin typeface="Consolas"/>
              </a:defRPr>
            </a:pPr>
            <a: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91440"/>
            <a:ext cx="10972800" cy="365760"/>
          </a:xfrm>
          <a:prstGeom prst="rect">
            <a:avLst/>
          </a:prstGeom>
          <a:noFill/>
        </p:spPr>
        <p:txBody>
          <a:bodyPr wrap="none">
            <a:spAutoFit/>
          </a:bodyPr>
          <a:lstStyle/>
          <a:p>
            <a:pPr>
              <a:defRPr sz="1200">
                <a:solidFill>
                  <a:srgbClr val="22D3EE"/>
                </a:solidFill>
                <a:latin typeface="Consolas"/>
              </a:defRPr>
            </a:pPr>
            <a:r>
              <a:t>ACTIVITIES // ENERGIZE + QUIZ</a:t>
            </a:r>
          </a:p>
        </p:txBody>
      </p:sp>
      <p:sp>
        <p:nvSpPr>
          <p:cNvPr id="3" name="TextBox 2"/>
          <p:cNvSpPr txBox="1"/>
          <p:nvPr/>
        </p:nvSpPr>
        <p:spPr>
          <a:xfrm>
            <a:off x="507987" y="825499"/>
            <a:ext cx="10972800" cy="5486400"/>
          </a:xfrm>
          <a:prstGeom prst="rect">
            <a:avLst/>
          </a:prstGeom>
          <a:noFill/>
        </p:spPr>
        <p:txBody>
          <a:bodyPr wrap="square">
            <a:spAutoFit/>
          </a:bodyPr>
          <a:lstStyle/>
          <a:p>
            <a:pPr>
              <a:defRPr sz="900">
                <a:solidFill>
                  <a:srgbClr val="F8FAFC"/>
                </a:solidFill>
                <a:latin typeface="Calibri"/>
              </a:defRPr>
            </a:pPr>
            <a:r>
              <a:t>Interactive time.Everyone plays.أنشطة تفاعلية — لعبة، مناقشة، وكويز سريع</a:t>
            </a:r>
          </a:p>
        </p:txBody>
      </p:sp>
      <p:sp>
        <p:nvSpPr>
          <p:cNvPr id="4" name="TextBox 3"/>
          <p:cNvSpPr txBox="1"/>
          <p:nvPr/>
        </p:nvSpPr>
        <p:spPr>
          <a:xfrm>
            <a:off x="761980" y="2349500"/>
            <a:ext cx="10972800" cy="4508500"/>
          </a:xfrm>
          <a:prstGeom prst="rect">
            <a:avLst/>
          </a:prstGeom>
          <a:noFill/>
        </p:spPr>
        <p:txBody>
          <a:bodyPr wrap="square">
            <a:spAutoFit/>
          </a:bodyPr>
          <a:lstStyle/>
          <a:p>
            <a:pPr>
              <a:defRPr sz="900">
                <a:solidFill>
                  <a:srgbClr val="F8FAFC"/>
                </a:solidFill>
                <a:latin typeface="Calibri"/>
              </a:defRPr>
            </a:pPr>
            <a:r>
              <a:t>🎯// ACTIVITY 01 · 3 MIN"Guess the type"Instructor shows a value on screen. Class shouts the type —int,float,str, orbool. Fastest correct answer wins a point.Try: 42 · "42" · 4.2 · True · "True" · 0 · "" · -7</a:t>
            </a:r>
          </a:p>
        </p:txBody>
      </p:sp>
      <p:sp>
        <p:nvSpPr>
          <p:cNvPr id="5" name="TextBox 4"/>
          <p:cNvSpPr txBox="1"/>
          <p:nvPr/>
        </p:nvSpPr>
        <p:spPr>
          <a:xfrm>
            <a:off x="6413339" y="2349500"/>
            <a:ext cx="5778355" cy="4508500"/>
          </a:xfrm>
          <a:prstGeom prst="rect">
            <a:avLst/>
          </a:prstGeom>
          <a:noFill/>
        </p:spPr>
        <p:txBody>
          <a:bodyPr wrap="square">
            <a:spAutoFit/>
          </a:bodyPr>
          <a:lstStyle/>
          <a:p>
            <a:pPr>
              <a:defRPr sz="900">
                <a:solidFill>
                  <a:srgbClr val="F8FAFC"/>
                </a:solidFill>
                <a:latin typeface="Calibri"/>
              </a:defRPr>
            </a:pPr>
            <a:r>
              <a:t>🐛// ACTIVITY 02 · 5 MIN"Spot the bug" — pair upShow 4 broken code snippets on screen. Pairs discuss what's wrong. First pair to raise a hand explains the bug to the class.Missing quotes · wrong case ·=vs==· adding str + int</a:t>
            </a:r>
          </a:p>
        </p:txBody>
      </p:sp>
      <p:sp>
        <p:nvSpPr>
          <p:cNvPr id="6" name="TextBox 5"/>
          <p:cNvSpPr txBox="1"/>
          <p:nvPr/>
        </p:nvSpPr>
        <p:spPr>
          <a:xfrm>
            <a:off x="761980" y="4381499"/>
            <a:ext cx="10972800" cy="2476500"/>
          </a:xfrm>
          <a:prstGeom prst="rect">
            <a:avLst/>
          </a:prstGeom>
          <a:noFill/>
        </p:spPr>
        <p:txBody>
          <a:bodyPr wrap="square">
            <a:spAutoFit/>
          </a:bodyPr>
          <a:lstStyle/>
          <a:p>
            <a:pPr>
              <a:defRPr sz="900">
                <a:solidFill>
                  <a:srgbClr val="F8FAFC"/>
                </a:solidFill>
                <a:latin typeface="Calibri"/>
              </a:defRPr>
            </a:pPr>
            <a:r>
              <a:t>💬// ACTIVITY 03 · 4 MIN"What would you automate?"Each student names one boring daily task they'd want Python to do for them. Instructor writes them on the board. Reference back these ideas across the whole bootcamp.ايه المهمة المملة اللي تحب Python يعملها بدالك؟</a:t>
            </a:r>
          </a:p>
        </p:txBody>
      </p:sp>
      <p:sp>
        <p:nvSpPr>
          <p:cNvPr id="7" name="TextBox 6"/>
          <p:cNvSpPr txBox="1"/>
          <p:nvPr/>
        </p:nvSpPr>
        <p:spPr>
          <a:xfrm>
            <a:off x="6413339" y="4381499"/>
            <a:ext cx="5778355" cy="2476500"/>
          </a:xfrm>
          <a:prstGeom prst="rect">
            <a:avLst/>
          </a:prstGeom>
          <a:noFill/>
        </p:spPr>
        <p:txBody>
          <a:bodyPr wrap="square">
            <a:spAutoFit/>
          </a:bodyPr>
          <a:lstStyle/>
          <a:p>
            <a:pPr>
              <a:defRPr sz="900">
                <a:solidFill>
                  <a:srgbClr val="F8FAFC"/>
                </a:solidFill>
                <a:latin typeface="Calibri"/>
              </a:defRPr>
            </a:pPr>
            <a:r>
              <a:t>⚡// ACTIVITY 04 · 3 MINRapid-fire quiz10 questions, 10 seconds each. Whole class shouts the answer together. No wrong answers — only speed.See instructor notes for the 10 questions.</a:t>
            </a:r>
          </a:p>
        </p:txBody>
      </p:sp>
      <p:sp>
        <p:nvSpPr>
          <p:cNvPr id="8" name="TextBox 7"/>
          <p:cNvSpPr txBox="1"/>
          <p:nvPr/>
        </p:nvSpPr>
        <p:spPr>
          <a:xfrm>
            <a:off x="10972800" y="6400800"/>
            <a:ext cx="914400" cy="365760"/>
          </a:xfrm>
          <a:prstGeom prst="rect">
            <a:avLst/>
          </a:prstGeom>
          <a:noFill/>
        </p:spPr>
        <p:txBody>
          <a:bodyPr wrap="none">
            <a:spAutoFit/>
          </a:bodyPr>
          <a:lstStyle/>
          <a:p>
            <a:pPr algn="r">
              <a:defRPr sz="1000">
                <a:solidFill>
                  <a:srgbClr val="94A3B8"/>
                </a:solidFill>
                <a:latin typeface="Consolas"/>
              </a:defRPr>
            </a:pPr>
            <a: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507987" y="2159000"/>
            <a:ext cx="10972800" cy="4699000"/>
          </a:xfrm>
          <a:prstGeom prst="rect">
            <a:avLst/>
          </a:prstGeom>
          <a:noFill/>
        </p:spPr>
        <p:txBody>
          <a:bodyPr wrap="square">
            <a:spAutoFit/>
          </a:bodyPr>
          <a:lstStyle/>
          <a:p>
            <a:pPr>
              <a:defRPr sz="900">
                <a:solidFill>
                  <a:srgbClr val="F8FAFC"/>
                </a:solidFill>
                <a:latin typeface="Calibri"/>
              </a:defRPr>
            </a:pPr>
            <a:r>
              <a:t>// 15 MINUTE BREAK☕Take a breath.استراحة — 15 دقيقةWater · stretch · check your notes ·back at 03:45</a:t>
            </a:r>
          </a:p>
        </p:txBody>
      </p:sp>
      <p:sp>
        <p:nvSpPr>
          <p:cNvPr id="3" name="TextBox 2"/>
          <p:cNvSpPr txBox="1"/>
          <p:nvPr/>
        </p:nvSpPr>
        <p:spPr>
          <a:xfrm>
            <a:off x="10972800" y="6400800"/>
            <a:ext cx="914400" cy="365760"/>
          </a:xfrm>
          <a:prstGeom prst="rect">
            <a:avLst/>
          </a:prstGeom>
          <a:noFill/>
        </p:spPr>
        <p:txBody>
          <a:bodyPr wrap="none">
            <a:spAutoFit/>
          </a:bodyPr>
          <a:lstStyle/>
          <a:p>
            <a:pPr algn="r">
              <a:defRPr sz="1000">
                <a:solidFill>
                  <a:srgbClr val="94A3B8"/>
                </a:solidFill>
                <a:latin typeface="Consolas"/>
              </a:defRPr>
            </a:pPr>
            <a: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91440"/>
            <a:ext cx="10972800" cy="365760"/>
          </a:xfrm>
          <a:prstGeom prst="rect">
            <a:avLst/>
          </a:prstGeom>
          <a:noFill/>
        </p:spPr>
        <p:txBody>
          <a:bodyPr wrap="none">
            <a:spAutoFit/>
          </a:bodyPr>
          <a:lstStyle/>
          <a:p>
            <a:pPr>
              <a:defRPr sz="1200">
                <a:solidFill>
                  <a:srgbClr val="22D3EE"/>
                </a:solidFill>
                <a:latin typeface="Consolas"/>
              </a:defRPr>
            </a:pPr>
            <a:r>
              <a:t>MINI PROJECT // BUILD SOMETHING REAL</a:t>
            </a:r>
          </a:p>
        </p:txBody>
      </p:sp>
      <p:sp>
        <p:nvSpPr>
          <p:cNvPr id="3" name="TextBox 2"/>
          <p:cNvSpPr txBox="1"/>
          <p:nvPr/>
        </p:nvSpPr>
        <p:spPr>
          <a:xfrm>
            <a:off x="507987" y="1016000"/>
            <a:ext cx="10972800" cy="5486400"/>
          </a:xfrm>
          <a:prstGeom prst="rect">
            <a:avLst/>
          </a:prstGeom>
          <a:noFill/>
        </p:spPr>
        <p:txBody>
          <a:bodyPr wrap="square">
            <a:spAutoFit/>
          </a:bodyPr>
          <a:lstStyle/>
          <a:p>
            <a:pPr>
              <a:defRPr sz="900">
                <a:solidFill>
                  <a:srgbClr val="F8FAFC"/>
                </a:solidFill>
                <a:latin typeface="Calibri"/>
              </a:defRPr>
            </a:pPr>
            <a:r>
              <a:t>// PROJECT 01Student CardGeneratorأول مشروع في حياتك — بطاقة طالب تفاعلية</a:t>
            </a:r>
          </a:p>
        </p:txBody>
      </p:sp>
      <p:sp>
        <p:nvSpPr>
          <p:cNvPr id="4" name="TextBox 3"/>
          <p:cNvSpPr txBox="1"/>
          <p:nvPr/>
        </p:nvSpPr>
        <p:spPr>
          <a:xfrm>
            <a:off x="761980" y="4762500"/>
            <a:ext cx="10972800" cy="2095500"/>
          </a:xfrm>
          <a:prstGeom prst="rect">
            <a:avLst/>
          </a:prstGeom>
          <a:noFill/>
        </p:spPr>
        <p:txBody>
          <a:bodyPr wrap="square">
            <a:spAutoFit/>
          </a:bodyPr>
          <a:lstStyle/>
          <a:p>
            <a:pPr>
              <a:defRPr sz="900">
                <a:solidFill>
                  <a:srgbClr val="F8FAFC"/>
                </a:solidFill>
                <a:latin typeface="Calibri"/>
              </a:defRPr>
            </a:pPr>
            <a:r>
              <a:t>// WHAT YOU MUST USEvariablesinput()int() castingf-stringsprint()commentsTake a few pieces of student info from the user. Assemble a beautiful ID card. Print it to the terminal.</a:t>
            </a:r>
          </a:p>
        </p:txBody>
      </p:sp>
      <p:sp>
        <p:nvSpPr>
          <p:cNvPr id="5" name="TextBox 4"/>
          <p:cNvSpPr txBox="1"/>
          <p:nvPr/>
        </p:nvSpPr>
        <p:spPr>
          <a:xfrm>
            <a:off x="8635784" y="1397000"/>
            <a:ext cx="3555911" cy="5461000"/>
          </a:xfrm>
          <a:prstGeom prst="rect">
            <a:avLst/>
          </a:prstGeom>
          <a:noFill/>
        </p:spPr>
        <p:txBody>
          <a:bodyPr wrap="square">
            <a:spAutoFit/>
          </a:bodyPr>
          <a:lstStyle/>
          <a:p>
            <a:pPr>
              <a:defRPr sz="900">
                <a:solidFill>
                  <a:srgbClr val="F8FAFC"/>
                </a:solidFill>
                <a:latin typeface="Calibri"/>
              </a:defRPr>
            </a:pPr>
            <a:r>
              <a:t>🎓STUDENT CARDSara AhmedID       :S2026-042Age      :17Grade    :11Subject  :PhysicsCity     :Cairo✓ ENROLLED · 2026</a:t>
            </a:r>
          </a:p>
        </p:txBody>
      </p:sp>
      <p:sp>
        <p:nvSpPr>
          <p:cNvPr id="6" name="TextBox 5"/>
          <p:cNvSpPr txBox="1"/>
          <p:nvPr/>
        </p:nvSpPr>
        <p:spPr>
          <a:xfrm>
            <a:off x="10972800" y="6400800"/>
            <a:ext cx="914400" cy="365760"/>
          </a:xfrm>
          <a:prstGeom prst="rect">
            <a:avLst/>
          </a:prstGeom>
          <a:noFill/>
        </p:spPr>
        <p:txBody>
          <a:bodyPr wrap="none">
            <a:spAutoFit/>
          </a:bodyPr>
          <a:lstStyle/>
          <a:p>
            <a:pPr algn="r">
              <a:defRPr sz="1000">
                <a:solidFill>
                  <a:srgbClr val="94A3B8"/>
                </a:solidFill>
                <a:latin typeface="Consolas"/>
              </a:defRPr>
            </a:pPr>
            <a: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91440"/>
            <a:ext cx="10972800" cy="365760"/>
          </a:xfrm>
          <a:prstGeom prst="rect">
            <a:avLst/>
          </a:prstGeom>
          <a:noFill/>
        </p:spPr>
        <p:txBody>
          <a:bodyPr wrap="none">
            <a:spAutoFit/>
          </a:bodyPr>
          <a:lstStyle/>
          <a:p>
            <a:pPr>
              <a:defRPr sz="1200">
                <a:solidFill>
                  <a:srgbClr val="22D3EE"/>
                </a:solidFill>
                <a:latin typeface="Consolas"/>
              </a:defRPr>
            </a:pPr>
            <a:r>
              <a:t>MINI PROJECT // FULL CODE — TYPE ALONG</a:t>
            </a:r>
          </a:p>
        </p:txBody>
      </p:sp>
      <p:sp>
        <p:nvSpPr>
          <p:cNvPr id="3" name="TextBox 2"/>
          <p:cNvSpPr txBox="1"/>
          <p:nvPr/>
        </p:nvSpPr>
        <p:spPr>
          <a:xfrm>
            <a:off x="507987" y="761999"/>
            <a:ext cx="10972800" cy="5486400"/>
          </a:xfrm>
          <a:prstGeom prst="rect">
            <a:avLst/>
          </a:prstGeom>
          <a:noFill/>
        </p:spPr>
        <p:txBody>
          <a:bodyPr wrap="square">
            <a:spAutoFit/>
          </a:bodyPr>
          <a:lstStyle/>
          <a:p>
            <a:pPr>
              <a:defRPr sz="900">
                <a:solidFill>
                  <a:srgbClr val="F8FAFC"/>
                </a:solidFill>
                <a:latin typeface="Calibri"/>
              </a:defRPr>
            </a:pPr>
            <a:r>
              <a:t>The full program —student_card.pyاكتب الكود ده سطر بسطر — كل واحد على جهازه</a:t>
            </a:r>
          </a:p>
        </p:txBody>
      </p:sp>
      <p:sp>
        <p:nvSpPr>
          <p:cNvPr id="4" name="TextBox 3"/>
          <p:cNvSpPr txBox="1"/>
          <p:nvPr/>
        </p:nvSpPr>
        <p:spPr>
          <a:xfrm>
            <a:off x="507987" y="1778000"/>
            <a:ext cx="10972800" cy="5080000"/>
          </a:xfrm>
          <a:prstGeom prst="rect">
            <a:avLst/>
          </a:prstGeom>
          <a:noFill/>
        </p:spPr>
        <p:txBody>
          <a:bodyPr wrap="square">
            <a:spAutoFit/>
          </a:bodyPr>
          <a:lstStyle/>
          <a:p>
            <a:pPr>
              <a:defRPr sz="900">
                <a:solidFill>
                  <a:srgbClr val="F8FAFC"/>
                </a:solidFill>
                <a:latin typeface="Calibri"/>
              </a:defRPr>
            </a:pPr>
            <a:r>
              <a:t>student_card.py — part 1 of 2</a:t>
            </a:r>
          </a:p>
        </p:txBody>
      </p:sp>
      <p:sp>
        <p:nvSpPr>
          <p:cNvPr id="5" name="TextBox 4"/>
          <p:cNvSpPr txBox="1"/>
          <p:nvPr/>
        </p:nvSpPr>
        <p:spPr>
          <a:xfrm>
            <a:off x="698482" y="2159000"/>
            <a:ext cx="10972800" cy="4699000"/>
          </a:xfrm>
          <a:prstGeom prst="rect">
            <a:avLst/>
          </a:prstGeom>
          <a:noFill/>
        </p:spPr>
        <p:txBody>
          <a:bodyPr wrap="square">
            <a:spAutoFit/>
          </a:bodyPr>
          <a:lstStyle/>
          <a:p>
            <a:pPr>
              <a:defRPr sz="1400">
                <a:solidFill>
                  <a:srgbClr val="F8FAFC"/>
                </a:solidFill>
                <a:latin typeface="Calibri"/>
              </a:defRPr>
            </a:pPr>
            <a:r>
              <a:t># =============================# Student Card Generator# Session 1 project# =============================# 1. Ask the user for their infoname=input("What is your name? ")age=int(input("How old are you? "))grade=int(input("What grade? "))subject=input("Favorite subject? ")city=input("Which city? ")# 2. Auto-generate a student IDstudent_id="S2026-"+str(1000+len(name)*7)# 3. Compute next year's ageage_next_year=age+1</a:t>
            </a:r>
          </a:p>
        </p:txBody>
      </p:sp>
      <p:sp>
        <p:nvSpPr>
          <p:cNvPr id="6" name="TextBox 5"/>
          <p:cNvSpPr txBox="1"/>
          <p:nvPr/>
        </p:nvSpPr>
        <p:spPr>
          <a:xfrm>
            <a:off x="6159346" y="1778000"/>
            <a:ext cx="6032349" cy="5080000"/>
          </a:xfrm>
          <a:prstGeom prst="rect">
            <a:avLst/>
          </a:prstGeom>
          <a:noFill/>
        </p:spPr>
        <p:txBody>
          <a:bodyPr wrap="square">
            <a:spAutoFit/>
          </a:bodyPr>
          <a:lstStyle/>
          <a:p>
            <a:pPr>
              <a:defRPr sz="900">
                <a:solidFill>
                  <a:srgbClr val="F8FAFC"/>
                </a:solidFill>
                <a:latin typeface="Calibri"/>
              </a:defRPr>
            </a:pPr>
            <a:r>
              <a:t>student_card.py — part 2 of 2</a:t>
            </a:r>
          </a:p>
        </p:txBody>
      </p:sp>
      <p:sp>
        <p:nvSpPr>
          <p:cNvPr id="7" name="TextBox 6"/>
          <p:cNvSpPr txBox="1"/>
          <p:nvPr/>
        </p:nvSpPr>
        <p:spPr>
          <a:xfrm>
            <a:off x="6349841" y="2159000"/>
            <a:ext cx="5841853" cy="4699000"/>
          </a:xfrm>
          <a:prstGeom prst="rect">
            <a:avLst/>
          </a:prstGeom>
          <a:noFill/>
        </p:spPr>
        <p:txBody>
          <a:bodyPr wrap="square">
            <a:spAutoFit/>
          </a:bodyPr>
          <a:lstStyle/>
          <a:p>
            <a:pPr>
              <a:defRPr sz="1400">
                <a:solidFill>
                  <a:srgbClr val="F8FAFC"/>
                </a:solidFill>
                <a:latin typeface="Calibri"/>
              </a:defRPr>
            </a:pPr>
            <a:r>
              <a:t># 4. Print the card using f-stringsprint("")print("━━━━━━━━━━━━━━━━━━━━━━━━━━")print("     🎓 STUDENT CARD 🎓")print("━━━━━━━━━━━━━━━━━━━━━━━━━━")print(f"Name      : {name}")print(f"ID        : {student_id}")print(f"Age       : {age}")print(f"Grade     : {grade}")print(f"Subject   : {subject}")print(f"City      : {city}")print(f"Next year : {age_next_year}")print("━━━━━━━━━━━━━━━━━━━━━━━━━━")print("✓ ENROLLED · 2026")</a:t>
            </a:r>
          </a:p>
        </p:txBody>
      </p:sp>
      <p:sp>
        <p:nvSpPr>
          <p:cNvPr id="8" name="TextBox 7"/>
          <p:cNvSpPr txBox="1"/>
          <p:nvPr/>
        </p:nvSpPr>
        <p:spPr>
          <a:xfrm>
            <a:off x="10972800" y="6400800"/>
            <a:ext cx="914400" cy="365760"/>
          </a:xfrm>
          <a:prstGeom prst="rect">
            <a:avLst/>
          </a:prstGeom>
          <a:noFill/>
        </p:spPr>
        <p:txBody>
          <a:bodyPr wrap="none">
            <a:spAutoFit/>
          </a:bodyPr>
          <a:lstStyle/>
          <a:p>
            <a:pPr algn="r">
              <a:defRPr sz="1000">
                <a:solidFill>
                  <a:srgbClr val="94A3B8"/>
                </a:solidFill>
                <a:latin typeface="Consolas"/>
              </a:defRPr>
            </a:pPr>
            <a: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91440"/>
            <a:ext cx="10972800" cy="365760"/>
          </a:xfrm>
          <a:prstGeom prst="rect">
            <a:avLst/>
          </a:prstGeom>
          <a:noFill/>
        </p:spPr>
        <p:txBody>
          <a:bodyPr wrap="none">
            <a:spAutoFit/>
          </a:bodyPr>
          <a:lstStyle/>
          <a:p>
            <a:pPr>
              <a:defRPr sz="1200">
                <a:solidFill>
                  <a:srgbClr val="22D3EE"/>
                </a:solidFill>
                <a:latin typeface="Consolas"/>
              </a:defRPr>
            </a:pPr>
            <a:r>
              <a:t>MINI PROJECT // WHAT SUCCESS LOOKS LIKE</a:t>
            </a:r>
          </a:p>
        </p:txBody>
      </p:sp>
      <p:sp>
        <p:nvSpPr>
          <p:cNvPr id="3" name="TextBox 2"/>
          <p:cNvSpPr txBox="1"/>
          <p:nvPr/>
        </p:nvSpPr>
        <p:spPr>
          <a:xfrm>
            <a:off x="507987" y="889000"/>
            <a:ext cx="10972800" cy="5486400"/>
          </a:xfrm>
          <a:prstGeom prst="rect">
            <a:avLst/>
          </a:prstGeom>
          <a:noFill/>
        </p:spPr>
        <p:txBody>
          <a:bodyPr wrap="square">
            <a:spAutoFit/>
          </a:bodyPr>
          <a:lstStyle/>
          <a:p>
            <a:pPr>
              <a:defRPr sz="900">
                <a:solidFill>
                  <a:srgbClr val="F8FAFC"/>
                </a:solidFill>
                <a:latin typeface="Calibri"/>
              </a:defRPr>
            </a:pPr>
            <a:r>
              <a:t>Run it. Seethis. Screenshot it.شغّل البرنامج، شوف الشكل ده — ابعت screenshot في المجموعة</a:t>
            </a:r>
          </a:p>
        </p:txBody>
      </p:sp>
      <p:sp>
        <p:nvSpPr>
          <p:cNvPr id="4" name="TextBox 3"/>
          <p:cNvSpPr txBox="1"/>
          <p:nvPr/>
        </p:nvSpPr>
        <p:spPr>
          <a:xfrm>
            <a:off x="507987" y="2159000"/>
            <a:ext cx="10972800" cy="4699000"/>
          </a:xfrm>
          <a:prstGeom prst="rect">
            <a:avLst/>
          </a:prstGeom>
          <a:noFill/>
        </p:spPr>
        <p:txBody>
          <a:bodyPr wrap="square">
            <a:spAutoFit/>
          </a:bodyPr>
          <a:lstStyle/>
          <a:p>
            <a:pPr>
              <a:defRPr sz="900">
                <a:solidFill>
                  <a:srgbClr val="F8FAFC"/>
                </a:solidFill>
                <a:latin typeface="Calibri"/>
              </a:defRPr>
            </a:pPr>
            <a:r>
              <a:t>Terminal — running student_card.py</a:t>
            </a:r>
          </a:p>
        </p:txBody>
      </p:sp>
      <p:sp>
        <p:nvSpPr>
          <p:cNvPr id="5" name="TextBox 4"/>
          <p:cNvSpPr txBox="1"/>
          <p:nvPr/>
        </p:nvSpPr>
        <p:spPr>
          <a:xfrm>
            <a:off x="698482" y="2540000"/>
            <a:ext cx="10972800" cy="4318000"/>
          </a:xfrm>
          <a:prstGeom prst="rect">
            <a:avLst/>
          </a:prstGeom>
          <a:noFill/>
        </p:spPr>
        <p:txBody>
          <a:bodyPr wrap="square">
            <a:spAutoFit/>
          </a:bodyPr>
          <a:lstStyle/>
          <a:p>
            <a:pPr>
              <a:defRPr sz="1300">
                <a:solidFill>
                  <a:srgbClr val="F8FAFC"/>
                </a:solidFill>
                <a:latin typeface="Calibri"/>
              </a:defRPr>
            </a:pPr>
            <a:r>
              <a:t>$python student_card.pyWhat is your name?Sara AhmedHow old are you?17What grade are you in?11Favorite subject?PhysicsWhich city do you live in?Cairo━━━━━━━━━━━━━━━━━━━━━━━━━━━━🎓 STUDENT CARD 🎓━━━━━━━━━━━━━━━━━━━━━━━━━━━━Name      : Sara AhmedID        : S2026-1070Age       : 17Grade     : 11Subject   : PhysicsCity      : CairoNext year : 18━━━━━━━━━━━━━━━━━━━━━━━━━━━━✓ ENROLLED · 2026$_</a:t>
            </a:r>
          </a:p>
        </p:txBody>
      </p:sp>
      <p:sp>
        <p:nvSpPr>
          <p:cNvPr id="6" name="TextBox 5"/>
          <p:cNvSpPr txBox="1"/>
          <p:nvPr/>
        </p:nvSpPr>
        <p:spPr>
          <a:xfrm>
            <a:off x="8318292" y="2349500"/>
            <a:ext cx="3873403" cy="4508500"/>
          </a:xfrm>
          <a:prstGeom prst="rect">
            <a:avLst/>
          </a:prstGeom>
          <a:noFill/>
        </p:spPr>
        <p:txBody>
          <a:bodyPr wrap="square">
            <a:spAutoFit/>
          </a:bodyPr>
          <a:lstStyle/>
          <a:p>
            <a:pPr>
              <a:defRPr sz="900">
                <a:solidFill>
                  <a:srgbClr val="F8FAFC"/>
                </a:solidFill>
                <a:latin typeface="Calibri"/>
              </a:defRPr>
            </a:pPr>
            <a:r>
              <a:t>// TEACHING NOTES🎯 Skills usedvariables · input() · int() · str() · f-strings · print() · comments · math🐛 Common bugs todayForgettingint()aroundinput()for age → the+1fails⭐ Bonus challenges· Add school name variable· Compute graduation year· Add emoji per subjectSubmission:Send a screenshot of your output to the class group before next session.</a:t>
            </a:r>
          </a:p>
        </p:txBody>
      </p:sp>
      <p:sp>
        <p:nvSpPr>
          <p:cNvPr id="7" name="TextBox 6"/>
          <p:cNvSpPr txBox="1"/>
          <p:nvPr/>
        </p:nvSpPr>
        <p:spPr>
          <a:xfrm>
            <a:off x="10972800" y="6400800"/>
            <a:ext cx="914400" cy="365760"/>
          </a:xfrm>
          <a:prstGeom prst="rect">
            <a:avLst/>
          </a:prstGeom>
          <a:noFill/>
        </p:spPr>
        <p:txBody>
          <a:bodyPr wrap="none">
            <a:spAutoFit/>
          </a:bodyPr>
          <a:lstStyle/>
          <a:p>
            <a:pPr algn="r">
              <a:defRPr sz="1000">
                <a:solidFill>
                  <a:srgbClr val="94A3B8"/>
                </a:solidFill>
                <a:latin typeface="Consolas"/>
              </a:defRPr>
            </a:pPr>
            <a: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91440"/>
            <a:ext cx="10972800" cy="365760"/>
          </a:xfrm>
          <a:prstGeom prst="rect">
            <a:avLst/>
          </a:prstGeom>
          <a:noFill/>
        </p:spPr>
        <p:txBody>
          <a:bodyPr wrap="none">
            <a:spAutoFit/>
          </a:bodyPr>
          <a:lstStyle/>
          <a:p>
            <a:pPr>
              <a:defRPr sz="1200">
                <a:solidFill>
                  <a:srgbClr val="22D3EE"/>
                </a:solidFill>
                <a:latin typeface="Consolas"/>
              </a:defRPr>
            </a:pPr>
            <a:r>
              <a:t>EXERCISES // EASY — WARM UP</a:t>
            </a:r>
          </a:p>
        </p:txBody>
      </p:sp>
      <p:sp>
        <p:nvSpPr>
          <p:cNvPr id="3" name="TextBox 2"/>
          <p:cNvSpPr txBox="1"/>
          <p:nvPr/>
        </p:nvSpPr>
        <p:spPr>
          <a:xfrm>
            <a:off x="507987" y="952500"/>
            <a:ext cx="10972800" cy="5486400"/>
          </a:xfrm>
          <a:prstGeom prst="rect">
            <a:avLst/>
          </a:prstGeom>
          <a:noFill/>
        </p:spPr>
        <p:txBody>
          <a:bodyPr wrap="square">
            <a:spAutoFit/>
          </a:bodyPr>
          <a:lstStyle/>
          <a:p>
            <a:pPr>
              <a:defRPr sz="900">
                <a:solidFill>
                  <a:srgbClr val="F8FAFC"/>
                </a:solidFill>
                <a:latin typeface="Calibri"/>
              </a:defRPr>
            </a:pPr>
            <a:r>
              <a:t>ExercisesEASY5–10 minutes each. Warm-ups. Everyone should finish these.تمارين سهلة — إحماء، كل واحد يقدر يحلها</a:t>
            </a:r>
          </a:p>
        </p:txBody>
      </p:sp>
      <p:sp>
        <p:nvSpPr>
          <p:cNvPr id="4" name="TextBox 3"/>
          <p:cNvSpPr txBox="1"/>
          <p:nvPr/>
        </p:nvSpPr>
        <p:spPr>
          <a:xfrm>
            <a:off x="698482" y="2730500"/>
            <a:ext cx="10972800" cy="4127500"/>
          </a:xfrm>
          <a:prstGeom prst="rect">
            <a:avLst/>
          </a:prstGeom>
          <a:noFill/>
        </p:spPr>
        <p:txBody>
          <a:bodyPr wrap="square">
            <a:spAutoFit/>
          </a:bodyPr>
          <a:lstStyle/>
          <a:p>
            <a:pPr>
              <a:defRPr sz="900">
                <a:solidFill>
                  <a:srgbClr val="F8FAFC"/>
                </a:solidFill>
                <a:latin typeface="Calibri"/>
              </a:defRPr>
            </a:pPr>
            <a:r>
              <a:t>E1Hello, YouAsk the user for their name. Print"Hello, [name]!"back to them.Uses: input · print · f-string</a:t>
            </a:r>
          </a:p>
        </p:txBody>
      </p:sp>
      <p:sp>
        <p:nvSpPr>
          <p:cNvPr id="5" name="TextBox 4"/>
          <p:cNvSpPr txBox="1"/>
          <p:nvPr/>
        </p:nvSpPr>
        <p:spPr>
          <a:xfrm>
            <a:off x="6413339" y="2730500"/>
            <a:ext cx="5778355" cy="4127500"/>
          </a:xfrm>
          <a:prstGeom prst="rect">
            <a:avLst/>
          </a:prstGeom>
          <a:noFill/>
        </p:spPr>
        <p:txBody>
          <a:bodyPr wrap="square">
            <a:spAutoFit/>
          </a:bodyPr>
          <a:lstStyle/>
          <a:p>
            <a:pPr>
              <a:defRPr sz="900">
                <a:solidFill>
                  <a:srgbClr val="F8FAFC"/>
                </a:solidFill>
                <a:latin typeface="Calibri"/>
              </a:defRPr>
            </a:pPr>
            <a:r>
              <a:t>E2Sum of TwoAsk for two numbers. Print their sum, difference, and product.Uses: input · int() · math operators</a:t>
            </a:r>
          </a:p>
        </p:txBody>
      </p:sp>
      <p:sp>
        <p:nvSpPr>
          <p:cNvPr id="6" name="TextBox 5"/>
          <p:cNvSpPr txBox="1"/>
          <p:nvPr/>
        </p:nvSpPr>
        <p:spPr>
          <a:xfrm>
            <a:off x="698482" y="4572000"/>
            <a:ext cx="10972800" cy="2286000"/>
          </a:xfrm>
          <a:prstGeom prst="rect">
            <a:avLst/>
          </a:prstGeom>
          <a:noFill/>
        </p:spPr>
        <p:txBody>
          <a:bodyPr wrap="square">
            <a:spAutoFit/>
          </a:bodyPr>
          <a:lstStyle/>
          <a:p>
            <a:pPr>
              <a:defRPr sz="900">
                <a:solidFill>
                  <a:srgbClr val="F8FAFC"/>
                </a:solidFill>
                <a:latin typeface="Calibri"/>
              </a:defRPr>
            </a:pPr>
            <a:r>
              <a:t>E3Age in DaysAsk for the user's age. Print how old they are in days (roughly). Hint:age × 365.Uses: input · int() · multiplication · f-string</a:t>
            </a:r>
          </a:p>
        </p:txBody>
      </p:sp>
      <p:sp>
        <p:nvSpPr>
          <p:cNvPr id="7" name="TextBox 6"/>
          <p:cNvSpPr txBox="1"/>
          <p:nvPr/>
        </p:nvSpPr>
        <p:spPr>
          <a:xfrm>
            <a:off x="6413339" y="4572000"/>
            <a:ext cx="5778355" cy="2286000"/>
          </a:xfrm>
          <a:prstGeom prst="rect">
            <a:avLst/>
          </a:prstGeom>
          <a:noFill/>
        </p:spPr>
        <p:txBody>
          <a:bodyPr wrap="square">
            <a:spAutoFit/>
          </a:bodyPr>
          <a:lstStyle/>
          <a:p>
            <a:pPr>
              <a:defRPr sz="900">
                <a:solidFill>
                  <a:srgbClr val="F8FAFC"/>
                </a:solidFill>
                <a:latin typeface="Calibri"/>
              </a:defRPr>
            </a:pPr>
            <a:r>
              <a:t>E4The Full SentenceAsk for name, city, and hobby. Print:"[name] lives in [city] and loves [hobby]."Uses: 3 variables · f-string</a:t>
            </a:r>
          </a:p>
        </p:txBody>
      </p:sp>
      <p:sp>
        <p:nvSpPr>
          <p:cNvPr id="8" name="TextBox 7"/>
          <p:cNvSpPr txBox="1"/>
          <p:nvPr/>
        </p:nvSpPr>
        <p:spPr>
          <a:xfrm>
            <a:off x="10972800" y="6400800"/>
            <a:ext cx="914400" cy="365760"/>
          </a:xfrm>
          <a:prstGeom prst="rect">
            <a:avLst/>
          </a:prstGeom>
          <a:noFill/>
        </p:spPr>
        <p:txBody>
          <a:bodyPr wrap="none">
            <a:spAutoFit/>
          </a:bodyPr>
          <a:lstStyle/>
          <a:p>
            <a:pPr algn="r">
              <a:defRPr sz="1000">
                <a:solidFill>
                  <a:srgbClr val="94A3B8"/>
                </a:solidFill>
                <a:latin typeface="Consolas"/>
              </a:defRPr>
            </a:pPr>
            <a: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91440"/>
            <a:ext cx="10972800" cy="365760"/>
          </a:xfrm>
          <a:prstGeom prst="rect">
            <a:avLst/>
          </a:prstGeom>
          <a:noFill/>
        </p:spPr>
        <p:txBody>
          <a:bodyPr wrap="none">
            <a:spAutoFit/>
          </a:bodyPr>
          <a:lstStyle/>
          <a:p>
            <a:pPr>
              <a:defRPr sz="1200">
                <a:solidFill>
                  <a:srgbClr val="22D3EE"/>
                </a:solidFill>
                <a:latin typeface="Consolas"/>
              </a:defRPr>
            </a:pPr>
            <a:r>
              <a:t>EXERCISES // MEDIUM — THINK A BIT</a:t>
            </a:r>
          </a:p>
        </p:txBody>
      </p:sp>
      <p:sp>
        <p:nvSpPr>
          <p:cNvPr id="3" name="TextBox 2"/>
          <p:cNvSpPr txBox="1"/>
          <p:nvPr/>
        </p:nvSpPr>
        <p:spPr>
          <a:xfrm>
            <a:off x="507987" y="952500"/>
            <a:ext cx="10972800" cy="5486400"/>
          </a:xfrm>
          <a:prstGeom prst="rect">
            <a:avLst/>
          </a:prstGeom>
          <a:noFill/>
        </p:spPr>
        <p:txBody>
          <a:bodyPr wrap="square">
            <a:spAutoFit/>
          </a:bodyPr>
          <a:lstStyle/>
          <a:p>
            <a:pPr>
              <a:defRPr sz="900">
                <a:solidFill>
                  <a:srgbClr val="F8FAFC"/>
                </a:solidFill>
                <a:latin typeface="Calibri"/>
              </a:defRPr>
            </a:pPr>
            <a:r>
              <a:t>ExercisesMEDIUMRequire thinking. Combine 2–3 concepts. Aim for these next.تمارين متوسطة — بتحتاج تفكر شوية</a:t>
            </a:r>
          </a:p>
        </p:txBody>
      </p:sp>
      <p:sp>
        <p:nvSpPr>
          <p:cNvPr id="4" name="TextBox 3"/>
          <p:cNvSpPr txBox="1"/>
          <p:nvPr/>
        </p:nvSpPr>
        <p:spPr>
          <a:xfrm>
            <a:off x="698482" y="2730500"/>
            <a:ext cx="10972800" cy="4127500"/>
          </a:xfrm>
          <a:prstGeom prst="rect">
            <a:avLst/>
          </a:prstGeom>
          <a:noFill/>
        </p:spPr>
        <p:txBody>
          <a:bodyPr wrap="square">
            <a:spAutoFit/>
          </a:bodyPr>
          <a:lstStyle/>
          <a:p>
            <a:pPr>
              <a:defRPr sz="900">
                <a:solidFill>
                  <a:srgbClr val="F8FAFC"/>
                </a:solidFill>
                <a:latin typeface="Calibri"/>
              </a:defRPr>
            </a:pPr>
            <a:r>
              <a:t>M1Temperature ConverterAsk for a temperature in Celsius. Convert to Fahrenheit. Formula:F = C × 9/5 + 32Uses: float() · math · f-string</a:t>
            </a:r>
          </a:p>
        </p:txBody>
      </p:sp>
      <p:sp>
        <p:nvSpPr>
          <p:cNvPr id="5" name="TextBox 4"/>
          <p:cNvSpPr txBox="1"/>
          <p:nvPr/>
        </p:nvSpPr>
        <p:spPr>
          <a:xfrm>
            <a:off x="6413339" y="2730500"/>
            <a:ext cx="5778355" cy="4127500"/>
          </a:xfrm>
          <a:prstGeom prst="rect">
            <a:avLst/>
          </a:prstGeom>
          <a:noFill/>
        </p:spPr>
        <p:txBody>
          <a:bodyPr wrap="square">
            <a:spAutoFit/>
          </a:bodyPr>
          <a:lstStyle/>
          <a:p>
            <a:pPr>
              <a:defRPr sz="900">
                <a:solidFill>
                  <a:srgbClr val="F8FAFC"/>
                </a:solidFill>
                <a:latin typeface="Calibri"/>
              </a:defRPr>
            </a:pPr>
            <a:r>
              <a:t>M2Bill SplitterAsk for total bill and number of people. Print how much each person pays.Uses: float() · int() · division · f-string</a:t>
            </a:r>
          </a:p>
        </p:txBody>
      </p:sp>
      <p:sp>
        <p:nvSpPr>
          <p:cNvPr id="6" name="TextBox 5"/>
          <p:cNvSpPr txBox="1"/>
          <p:nvPr/>
        </p:nvSpPr>
        <p:spPr>
          <a:xfrm>
            <a:off x="698482" y="4572000"/>
            <a:ext cx="10972800" cy="2286000"/>
          </a:xfrm>
          <a:prstGeom prst="rect">
            <a:avLst/>
          </a:prstGeom>
          <a:noFill/>
        </p:spPr>
        <p:txBody>
          <a:bodyPr wrap="square">
            <a:spAutoFit/>
          </a:bodyPr>
          <a:lstStyle/>
          <a:p>
            <a:pPr>
              <a:defRPr sz="900">
                <a:solidFill>
                  <a:srgbClr val="F8FAFC"/>
                </a:solidFill>
                <a:latin typeface="Calibri"/>
              </a:defRPr>
            </a:pPr>
            <a:r>
              <a:t>M3Rectangle DetectiveAsk for width and height. Print areaandperimeter. Bonus: also print if it's a square.Uses: int() · math ·==comparison → bool</a:t>
            </a:r>
          </a:p>
        </p:txBody>
      </p:sp>
      <p:sp>
        <p:nvSpPr>
          <p:cNvPr id="7" name="TextBox 6"/>
          <p:cNvSpPr txBox="1"/>
          <p:nvPr/>
        </p:nvSpPr>
        <p:spPr>
          <a:xfrm>
            <a:off x="6413339" y="4572000"/>
            <a:ext cx="5778355" cy="2286000"/>
          </a:xfrm>
          <a:prstGeom prst="rect">
            <a:avLst/>
          </a:prstGeom>
          <a:noFill/>
        </p:spPr>
        <p:txBody>
          <a:bodyPr wrap="square">
            <a:spAutoFit/>
          </a:bodyPr>
          <a:lstStyle/>
          <a:p>
            <a:pPr>
              <a:defRPr sz="900">
                <a:solidFill>
                  <a:srgbClr val="F8FAFC"/>
                </a:solidFill>
                <a:latin typeface="Calibri"/>
              </a:defRPr>
            </a:pPr>
            <a:r>
              <a:t>M4Name StatisticsAsk for the user's full name. Print: how many letters (incl. spaces), in UPPERCASE, and in lowercase.Uses: len() · .upper() · .lower()</a:t>
            </a:r>
          </a:p>
        </p:txBody>
      </p:sp>
      <p:sp>
        <p:nvSpPr>
          <p:cNvPr id="8" name="TextBox 7"/>
          <p:cNvSpPr txBox="1"/>
          <p:nvPr/>
        </p:nvSpPr>
        <p:spPr>
          <a:xfrm>
            <a:off x="10972800" y="6400800"/>
            <a:ext cx="914400" cy="365760"/>
          </a:xfrm>
          <a:prstGeom prst="rect">
            <a:avLst/>
          </a:prstGeom>
          <a:noFill/>
        </p:spPr>
        <p:txBody>
          <a:bodyPr wrap="none">
            <a:spAutoFit/>
          </a:bodyPr>
          <a:lstStyle/>
          <a:p>
            <a:pPr algn="r">
              <a:defRPr sz="1000">
                <a:solidFill>
                  <a:srgbClr val="94A3B8"/>
                </a:solidFill>
                <a:latin typeface="Consolas"/>
              </a:defRPr>
            </a:pPr>
            <a: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91440"/>
            <a:ext cx="10972800" cy="365760"/>
          </a:xfrm>
          <a:prstGeom prst="rect">
            <a:avLst/>
          </a:prstGeom>
          <a:noFill/>
        </p:spPr>
        <p:txBody>
          <a:bodyPr wrap="none">
            <a:spAutoFit/>
          </a:bodyPr>
          <a:lstStyle/>
          <a:p>
            <a:pPr>
              <a:defRPr sz="1200">
                <a:solidFill>
                  <a:srgbClr val="22D3EE"/>
                </a:solidFill>
                <a:latin typeface="Consolas"/>
              </a:defRPr>
            </a:pPr>
            <a:r>
              <a:t>EXERCISES // CHALLENGE — PUSH YOURSELF</a:t>
            </a:r>
          </a:p>
        </p:txBody>
      </p:sp>
      <p:sp>
        <p:nvSpPr>
          <p:cNvPr id="3" name="TextBox 2"/>
          <p:cNvSpPr txBox="1"/>
          <p:nvPr/>
        </p:nvSpPr>
        <p:spPr>
          <a:xfrm>
            <a:off x="507987" y="952500"/>
            <a:ext cx="10972800" cy="5486400"/>
          </a:xfrm>
          <a:prstGeom prst="rect">
            <a:avLst/>
          </a:prstGeom>
          <a:noFill/>
        </p:spPr>
        <p:txBody>
          <a:bodyPr wrap="square">
            <a:spAutoFit/>
          </a:bodyPr>
          <a:lstStyle/>
          <a:p>
            <a:pPr>
              <a:defRPr sz="900">
                <a:solidFill>
                  <a:srgbClr val="F8FAFC"/>
                </a:solidFill>
                <a:latin typeface="Calibri"/>
              </a:defRPr>
            </a:pPr>
            <a:r>
              <a:t>ExercisesCHALLENGEFor students who want more. Not required — but proud if you finish.تحديات — مش إجبارية، بس اللي يعملها فخور</a:t>
            </a:r>
          </a:p>
        </p:txBody>
      </p:sp>
      <p:sp>
        <p:nvSpPr>
          <p:cNvPr id="4" name="TextBox 3"/>
          <p:cNvSpPr txBox="1"/>
          <p:nvPr/>
        </p:nvSpPr>
        <p:spPr>
          <a:xfrm>
            <a:off x="698482" y="2730500"/>
            <a:ext cx="10972800" cy="4127500"/>
          </a:xfrm>
          <a:prstGeom prst="rect">
            <a:avLst/>
          </a:prstGeom>
          <a:noFill/>
        </p:spPr>
        <p:txBody>
          <a:bodyPr wrap="square">
            <a:spAutoFit/>
          </a:bodyPr>
          <a:lstStyle/>
          <a:p>
            <a:pPr>
              <a:defRPr sz="900">
                <a:solidFill>
                  <a:srgbClr val="F8FAFC"/>
                </a:solidFill>
                <a:latin typeface="Calibri"/>
              </a:defRPr>
            </a:pPr>
            <a:r>
              <a:t>C1BMI CalculatorAsk for weight (kg) and height (m). Compute BMI:weight / height². Print rounded to 1 decimal.Uses: float() · ** power · round() · f-string formatting</a:t>
            </a:r>
          </a:p>
        </p:txBody>
      </p:sp>
      <p:sp>
        <p:nvSpPr>
          <p:cNvPr id="5" name="TextBox 4"/>
          <p:cNvSpPr txBox="1"/>
          <p:nvPr/>
        </p:nvSpPr>
        <p:spPr>
          <a:xfrm>
            <a:off x="6413339" y="2730500"/>
            <a:ext cx="5778355" cy="4127500"/>
          </a:xfrm>
          <a:prstGeom prst="rect">
            <a:avLst/>
          </a:prstGeom>
          <a:noFill/>
        </p:spPr>
        <p:txBody>
          <a:bodyPr wrap="square">
            <a:spAutoFit/>
          </a:bodyPr>
          <a:lstStyle/>
          <a:p>
            <a:pPr>
              <a:defRPr sz="900">
                <a:solidFill>
                  <a:srgbClr val="F8FAFC"/>
                </a:solidFill>
                <a:latin typeface="Calibri"/>
              </a:defRPr>
            </a:pPr>
            <a:r>
              <a:t>C2Countdown to GraduationAsk for current grade (1–12). Print exact years, months (× 12), days (× 365) left until grade 12.Uses: multiple calculations from one input</a:t>
            </a:r>
          </a:p>
        </p:txBody>
      </p:sp>
      <p:sp>
        <p:nvSpPr>
          <p:cNvPr id="6" name="TextBox 5"/>
          <p:cNvSpPr txBox="1"/>
          <p:nvPr/>
        </p:nvSpPr>
        <p:spPr>
          <a:xfrm>
            <a:off x="698482" y="4572000"/>
            <a:ext cx="10972800" cy="2286000"/>
          </a:xfrm>
          <a:prstGeom prst="rect">
            <a:avLst/>
          </a:prstGeom>
          <a:noFill/>
        </p:spPr>
        <p:txBody>
          <a:bodyPr wrap="square">
            <a:spAutoFit/>
          </a:bodyPr>
          <a:lstStyle/>
          <a:p>
            <a:pPr>
              <a:defRPr sz="900">
                <a:solidFill>
                  <a:srgbClr val="F8FAFC"/>
                </a:solidFill>
                <a:latin typeface="Calibri"/>
              </a:defRPr>
            </a:pPr>
            <a:r>
              <a:t>C3Time-to-Seconds MachineAsk for hours, minutes, seconds. Convert to total seconds. Then print the reverse: given a total, break it back down.Uses: multiplication · modulo (%) · integer division (//)</a:t>
            </a:r>
          </a:p>
        </p:txBody>
      </p:sp>
      <p:sp>
        <p:nvSpPr>
          <p:cNvPr id="7" name="TextBox 6"/>
          <p:cNvSpPr txBox="1"/>
          <p:nvPr/>
        </p:nvSpPr>
        <p:spPr>
          <a:xfrm>
            <a:off x="6413339" y="4572000"/>
            <a:ext cx="5778355" cy="2286000"/>
          </a:xfrm>
          <a:prstGeom prst="rect">
            <a:avLst/>
          </a:prstGeom>
          <a:noFill/>
        </p:spPr>
        <p:txBody>
          <a:bodyPr wrap="square">
            <a:spAutoFit/>
          </a:bodyPr>
          <a:lstStyle/>
          <a:p>
            <a:pPr>
              <a:defRPr sz="900">
                <a:solidFill>
                  <a:srgbClr val="F8FAFC"/>
                </a:solidFill>
                <a:latin typeface="Calibri"/>
              </a:defRPr>
            </a:pPr>
            <a:r>
              <a:t>C4"Beautiful" Business CardExtend Student Card: add borders with"═" * 40, emoji per subject, and align columns with padding.Uses: string repetition · aesthetics</a:t>
            </a:r>
          </a:p>
        </p:txBody>
      </p:sp>
      <p:sp>
        <p:nvSpPr>
          <p:cNvPr id="8" name="TextBox 7"/>
          <p:cNvSpPr txBox="1"/>
          <p:nvPr/>
        </p:nvSpPr>
        <p:spPr>
          <a:xfrm>
            <a:off x="10972800" y="6400800"/>
            <a:ext cx="914400" cy="365760"/>
          </a:xfrm>
          <a:prstGeom prst="rect">
            <a:avLst/>
          </a:prstGeom>
          <a:noFill/>
        </p:spPr>
        <p:txBody>
          <a:bodyPr wrap="none">
            <a:spAutoFit/>
          </a:bodyPr>
          <a:lstStyle/>
          <a:p>
            <a:pPr algn="r">
              <a:defRPr sz="1000">
                <a:solidFill>
                  <a:srgbClr val="94A3B8"/>
                </a:solidFill>
                <a:latin typeface="Consolas"/>
              </a:defRPr>
            </a:pPr>
            <a: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91440"/>
            <a:ext cx="10972800" cy="365760"/>
          </a:xfrm>
          <a:prstGeom prst="rect">
            <a:avLst/>
          </a:prstGeom>
          <a:noFill/>
        </p:spPr>
        <p:txBody>
          <a:bodyPr wrap="none">
            <a:spAutoFit/>
          </a:bodyPr>
          <a:lstStyle/>
          <a:p>
            <a:pPr>
              <a:defRPr sz="1200">
                <a:solidFill>
                  <a:srgbClr val="22D3EE"/>
                </a:solidFill>
                <a:latin typeface="Consolas"/>
              </a:defRPr>
            </a:pPr>
            <a:r>
              <a:t>DEBUGGING // COMMON BEGINNER MISTAKES</a:t>
            </a:r>
          </a:p>
        </p:txBody>
      </p:sp>
      <p:sp>
        <p:nvSpPr>
          <p:cNvPr id="3" name="TextBox 2"/>
          <p:cNvSpPr txBox="1"/>
          <p:nvPr/>
        </p:nvSpPr>
        <p:spPr>
          <a:xfrm>
            <a:off x="507987" y="889000"/>
            <a:ext cx="10972800" cy="5486400"/>
          </a:xfrm>
          <a:prstGeom prst="rect">
            <a:avLst/>
          </a:prstGeom>
          <a:noFill/>
        </p:spPr>
        <p:txBody>
          <a:bodyPr wrap="square">
            <a:spAutoFit/>
          </a:bodyPr>
          <a:lstStyle/>
          <a:p>
            <a:pPr>
              <a:defRPr sz="900">
                <a:solidFill>
                  <a:srgbClr val="F8FAFC"/>
                </a:solidFill>
                <a:latin typeface="Calibri"/>
              </a:defRPr>
            </a:pPr>
            <a:r>
              <a:t>The 6 mistakesevery beginnermakes.6 أخطاء كل مبتدئ بيقع فيها — لو عرفتها، هتوفر ساعات</a:t>
            </a:r>
          </a:p>
        </p:txBody>
      </p:sp>
      <p:sp>
        <p:nvSpPr>
          <p:cNvPr id="4" name="TextBox 3"/>
          <p:cNvSpPr txBox="1"/>
          <p:nvPr/>
        </p:nvSpPr>
        <p:spPr>
          <a:xfrm>
            <a:off x="698482" y="2286000"/>
            <a:ext cx="10972800" cy="4572000"/>
          </a:xfrm>
          <a:prstGeom prst="rect">
            <a:avLst/>
          </a:prstGeom>
          <a:noFill/>
        </p:spPr>
        <p:txBody>
          <a:bodyPr wrap="square">
            <a:spAutoFit/>
          </a:bodyPr>
          <a:lstStyle/>
          <a:p>
            <a:pPr>
              <a:defRPr sz="900">
                <a:solidFill>
                  <a:srgbClr val="F8FAFC"/>
                </a:solidFill>
                <a:latin typeface="Calibri"/>
              </a:defRPr>
            </a:pPr>
            <a:r>
              <a:t>01Forgetting quotesprint(Hello)print("Hello")Error:NameError— Python thinks Hello is a variable.</a:t>
            </a:r>
          </a:p>
        </p:txBody>
      </p:sp>
      <p:sp>
        <p:nvSpPr>
          <p:cNvPr id="5" name="TextBox 4"/>
          <p:cNvSpPr txBox="1"/>
          <p:nvPr/>
        </p:nvSpPr>
        <p:spPr>
          <a:xfrm>
            <a:off x="4508387" y="2286000"/>
            <a:ext cx="7683307" cy="4572000"/>
          </a:xfrm>
          <a:prstGeom prst="rect">
            <a:avLst/>
          </a:prstGeom>
          <a:noFill/>
        </p:spPr>
        <p:txBody>
          <a:bodyPr wrap="square">
            <a:spAutoFit/>
          </a:bodyPr>
          <a:lstStyle/>
          <a:p>
            <a:pPr>
              <a:defRPr sz="900">
                <a:solidFill>
                  <a:srgbClr val="F8FAFC"/>
                </a:solidFill>
                <a:latin typeface="Calibri"/>
              </a:defRPr>
            </a:pPr>
            <a:r>
              <a:t>02Mixing strings and numbersage = input(); print(age + 1)age = int(input())Error:TypeError— can't add str + int.</a:t>
            </a:r>
          </a:p>
        </p:txBody>
      </p:sp>
      <p:sp>
        <p:nvSpPr>
          <p:cNvPr id="6" name="TextBox 5"/>
          <p:cNvSpPr txBox="1"/>
          <p:nvPr/>
        </p:nvSpPr>
        <p:spPr>
          <a:xfrm>
            <a:off x="8318292" y="2286000"/>
            <a:ext cx="3873403" cy="4572000"/>
          </a:xfrm>
          <a:prstGeom prst="rect">
            <a:avLst/>
          </a:prstGeom>
          <a:noFill/>
        </p:spPr>
        <p:txBody>
          <a:bodyPr wrap="square">
            <a:spAutoFit/>
          </a:bodyPr>
          <a:lstStyle/>
          <a:p>
            <a:pPr>
              <a:defRPr sz="900">
                <a:solidFill>
                  <a:srgbClr val="F8FAFC"/>
                </a:solidFill>
                <a:latin typeface="Calibri"/>
              </a:defRPr>
            </a:pPr>
            <a:r>
              <a:t>03Wrong case (Printvsprint)Print("Hi") · PRINT("Hi")print("Hi")Python is CASE-SENSITIVE.Name≠name.</a:t>
            </a:r>
          </a:p>
        </p:txBody>
      </p:sp>
      <p:sp>
        <p:nvSpPr>
          <p:cNvPr id="7" name="TextBox 6"/>
          <p:cNvSpPr txBox="1"/>
          <p:nvPr/>
        </p:nvSpPr>
        <p:spPr>
          <a:xfrm>
            <a:off x="698482" y="3683000"/>
            <a:ext cx="10972800" cy="3175000"/>
          </a:xfrm>
          <a:prstGeom prst="rect">
            <a:avLst/>
          </a:prstGeom>
          <a:noFill/>
        </p:spPr>
        <p:txBody>
          <a:bodyPr wrap="square">
            <a:spAutoFit/>
          </a:bodyPr>
          <a:lstStyle/>
          <a:p>
            <a:pPr>
              <a:defRPr sz="900">
                <a:solidFill>
                  <a:srgbClr val="F8FAFC"/>
                </a:solidFill>
                <a:latin typeface="Calibri"/>
              </a:defRPr>
            </a:pPr>
            <a:r>
              <a:t>04=vs==if age = 18:if age == 18:=assigns ·==compares. Different jobs.</a:t>
            </a:r>
          </a:p>
        </p:txBody>
      </p:sp>
      <p:sp>
        <p:nvSpPr>
          <p:cNvPr id="8" name="TextBox 7"/>
          <p:cNvSpPr txBox="1"/>
          <p:nvPr/>
        </p:nvSpPr>
        <p:spPr>
          <a:xfrm>
            <a:off x="4508387" y="3683000"/>
            <a:ext cx="7683307" cy="3175000"/>
          </a:xfrm>
          <a:prstGeom prst="rect">
            <a:avLst/>
          </a:prstGeom>
          <a:noFill/>
        </p:spPr>
        <p:txBody>
          <a:bodyPr wrap="square">
            <a:spAutoFit/>
          </a:bodyPr>
          <a:lstStyle/>
          <a:p>
            <a:pPr>
              <a:defRPr sz="900">
                <a:solidFill>
                  <a:srgbClr val="F8FAFC"/>
                </a:solidFill>
                <a:latin typeface="Calibri"/>
              </a:defRPr>
            </a:pPr>
            <a:r>
              <a:t>05Invalid variable names2name = "Ali" · my name = "Ali"name_2 = "Ali" · my_name = "Ali"No starting digits · no spaces · use_</a:t>
            </a:r>
          </a:p>
        </p:txBody>
      </p:sp>
      <p:sp>
        <p:nvSpPr>
          <p:cNvPr id="9" name="TextBox 8"/>
          <p:cNvSpPr txBox="1"/>
          <p:nvPr/>
        </p:nvSpPr>
        <p:spPr>
          <a:xfrm>
            <a:off x="8318292" y="3683000"/>
            <a:ext cx="3873403" cy="3175000"/>
          </a:xfrm>
          <a:prstGeom prst="rect">
            <a:avLst/>
          </a:prstGeom>
          <a:noFill/>
        </p:spPr>
        <p:txBody>
          <a:bodyPr wrap="square">
            <a:spAutoFit/>
          </a:bodyPr>
          <a:lstStyle/>
          <a:p>
            <a:pPr>
              <a:defRPr sz="900">
                <a:solidFill>
                  <a:srgbClr val="F8FAFC"/>
                </a:solidFill>
                <a:latin typeface="Calibri"/>
              </a:defRPr>
            </a:pPr>
            <a:r>
              <a:t>06Missing parenthesesprint "Hi" · print("Hi"print("Hi")Every open(needs a close). Every open"needs a close.</a:t>
            </a:r>
          </a:p>
        </p:txBody>
      </p:sp>
      <p:sp>
        <p:nvSpPr>
          <p:cNvPr id="10" name="TextBox 9"/>
          <p:cNvSpPr txBox="1"/>
          <p:nvPr/>
        </p:nvSpPr>
        <p:spPr>
          <a:xfrm>
            <a:off x="825479" y="5207000"/>
            <a:ext cx="10972800" cy="1650999"/>
          </a:xfrm>
          <a:prstGeom prst="rect">
            <a:avLst/>
          </a:prstGeom>
          <a:noFill/>
        </p:spPr>
        <p:txBody>
          <a:bodyPr wrap="square">
            <a:spAutoFit/>
          </a:bodyPr>
          <a:lstStyle/>
          <a:p>
            <a:pPr>
              <a:defRPr sz="900">
                <a:solidFill>
                  <a:srgbClr val="F8FAFC"/>
                </a:solidFill>
                <a:latin typeface="Calibri"/>
              </a:defRPr>
            </a:pPr>
            <a:r>
              <a:t>// THE #1 RULERead the error message.Python literally tells you what's wrong — and often what line.</a:t>
            </a:r>
          </a:p>
        </p:txBody>
      </p:sp>
      <p:sp>
        <p:nvSpPr>
          <p:cNvPr id="11" name="TextBox 10"/>
          <p:cNvSpPr txBox="1"/>
          <p:nvPr/>
        </p:nvSpPr>
        <p:spPr>
          <a:xfrm>
            <a:off x="10972800" y="6400800"/>
            <a:ext cx="914400" cy="365760"/>
          </a:xfrm>
          <a:prstGeom prst="rect">
            <a:avLst/>
          </a:prstGeom>
          <a:noFill/>
        </p:spPr>
        <p:txBody>
          <a:bodyPr wrap="none">
            <a:spAutoFit/>
          </a:bodyPr>
          <a:lstStyle/>
          <a:p>
            <a:pPr algn="r">
              <a:defRPr sz="1000">
                <a:solidFill>
                  <a:srgbClr val="94A3B8"/>
                </a:solidFill>
                <a:latin typeface="Consolas"/>
              </a:defRPr>
            </a:pPr>
            <a: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91440"/>
            <a:ext cx="10972800" cy="365760"/>
          </a:xfrm>
          <a:prstGeom prst="rect">
            <a:avLst/>
          </a:prstGeom>
          <a:noFill/>
        </p:spPr>
        <p:txBody>
          <a:bodyPr wrap="none">
            <a:spAutoFit/>
          </a:bodyPr>
          <a:lstStyle/>
          <a:p>
            <a:pPr>
              <a:defRPr sz="1200">
                <a:solidFill>
                  <a:srgbClr val="22D3EE"/>
                </a:solidFill>
                <a:latin typeface="Consolas"/>
              </a:defRPr>
            </a:pPr>
            <a:r>
              <a:t>HOMEWORK // BEFORE NEXT SESSION</a:t>
            </a:r>
          </a:p>
        </p:txBody>
      </p:sp>
      <p:sp>
        <p:nvSpPr>
          <p:cNvPr id="3" name="TextBox 2"/>
          <p:cNvSpPr txBox="1"/>
          <p:nvPr/>
        </p:nvSpPr>
        <p:spPr>
          <a:xfrm>
            <a:off x="507987" y="952500"/>
            <a:ext cx="10972800" cy="5486400"/>
          </a:xfrm>
          <a:prstGeom prst="rect">
            <a:avLst/>
          </a:prstGeom>
          <a:noFill/>
        </p:spPr>
        <p:txBody>
          <a:bodyPr wrap="square">
            <a:spAutoFit/>
          </a:bodyPr>
          <a:lstStyle/>
          <a:p>
            <a:pPr>
              <a:defRPr sz="900">
                <a:solidFill>
                  <a:srgbClr val="F8FAFC"/>
                </a:solidFill>
                <a:latin typeface="Calibri"/>
              </a:defRPr>
            </a:pPr>
            <a:r>
              <a:t>// TAKE-HOMEHomework.واجب البيت — 45–60 دقيقة قبل الحصة الجاية</a:t>
            </a:r>
          </a:p>
        </p:txBody>
      </p:sp>
      <p:sp>
        <p:nvSpPr>
          <p:cNvPr id="4" name="TextBox 3"/>
          <p:cNvSpPr txBox="1"/>
          <p:nvPr/>
        </p:nvSpPr>
        <p:spPr>
          <a:xfrm>
            <a:off x="6921326" y="1206500"/>
            <a:ext cx="5270368" cy="5486400"/>
          </a:xfrm>
          <a:prstGeom prst="rect">
            <a:avLst/>
          </a:prstGeom>
          <a:noFill/>
        </p:spPr>
        <p:txBody>
          <a:bodyPr wrap="square">
            <a:spAutoFit/>
          </a:bodyPr>
          <a:lstStyle/>
          <a:p>
            <a:pPr>
              <a:defRPr sz="900">
                <a:solidFill>
                  <a:srgbClr val="F8FAFC"/>
                </a:solidFill>
                <a:latin typeface="Calibri"/>
              </a:defRPr>
            </a:pPr>
            <a:r>
              <a:t>// TASK 01 · REQUIREDPersonal Profile CardBuild your OWN card. Ask for 6 things:· name · age (int) · height in m (float)· favorite subject · dream job · a hobbyPrint a formatted card with borders, emojis, and one auto-calculated field (e.g. age in months).</a:t>
            </a:r>
          </a:p>
        </p:txBody>
      </p:sp>
      <p:sp>
        <p:nvSpPr>
          <p:cNvPr id="5" name="TextBox 4"/>
          <p:cNvSpPr txBox="1"/>
          <p:nvPr/>
        </p:nvSpPr>
        <p:spPr>
          <a:xfrm>
            <a:off x="761980" y="4064000"/>
            <a:ext cx="10972800" cy="2794000"/>
          </a:xfrm>
          <a:prstGeom prst="rect">
            <a:avLst/>
          </a:prstGeom>
          <a:noFill/>
        </p:spPr>
        <p:txBody>
          <a:bodyPr wrap="square">
            <a:spAutoFit/>
          </a:bodyPr>
          <a:lstStyle/>
          <a:p>
            <a:pPr>
              <a:defRPr sz="900">
                <a:solidFill>
                  <a:srgbClr val="F8FAFC"/>
                </a:solidFill>
                <a:latin typeface="Calibri"/>
              </a:defRPr>
            </a:pPr>
            <a:r>
              <a:t>// TASK 02 · BONUS (optional)Class Attendance TrackerAsk for a teacher's name, subject, total classes, and how many the student attended. Compute attendance percentage. Print a summary report.Hint:percent = (attended / total) * 100</a:t>
            </a:r>
          </a:p>
        </p:txBody>
      </p:sp>
      <p:sp>
        <p:nvSpPr>
          <p:cNvPr id="6" name="TextBox 5"/>
          <p:cNvSpPr txBox="1"/>
          <p:nvPr/>
        </p:nvSpPr>
        <p:spPr>
          <a:xfrm>
            <a:off x="25399" y="127000"/>
            <a:ext cx="10972800" cy="5486400"/>
          </a:xfrm>
          <a:prstGeom prst="rect">
            <a:avLst/>
          </a:prstGeom>
          <a:noFill/>
        </p:spPr>
        <p:txBody>
          <a:bodyPr wrap="square">
            <a:spAutoFit/>
          </a:bodyPr>
          <a:lstStyle/>
          <a:p>
            <a:pPr>
              <a:defRPr sz="900">
                <a:solidFill>
                  <a:srgbClr val="F8FAFC"/>
                </a:solidFill>
                <a:latin typeface="Calibri"/>
              </a:defRPr>
            </a:pPr>
            <a:r>
              <a:t>Hint:percent = (attended / total) * 100</a:t>
            </a:r>
          </a:p>
        </p:txBody>
      </p:sp>
      <p:sp>
        <p:nvSpPr>
          <p:cNvPr id="7" name="TextBox 6"/>
          <p:cNvSpPr txBox="1"/>
          <p:nvPr/>
        </p:nvSpPr>
        <p:spPr>
          <a:xfrm>
            <a:off x="6413339" y="4064000"/>
            <a:ext cx="5778355" cy="2794000"/>
          </a:xfrm>
          <a:prstGeom prst="rect">
            <a:avLst/>
          </a:prstGeom>
          <a:noFill/>
        </p:spPr>
        <p:txBody>
          <a:bodyPr wrap="square">
            <a:spAutoFit/>
          </a:bodyPr>
          <a:lstStyle/>
          <a:p>
            <a:pPr>
              <a:defRPr sz="900">
                <a:solidFill>
                  <a:srgbClr val="F8FAFC"/>
                </a:solidFill>
                <a:latin typeface="Calibri"/>
              </a:defRPr>
            </a:pPr>
            <a:r>
              <a:t>// TASK 03 · CHALLENGE (optional)"About Me" Website BioDesign a multi-paragraph, multi-line bio that mixes personal info + math (age in seconds, days until 18, etc.). Make it look pretty in the terminal.Submission:Send the .py file + output screenshot in the class group.</a:t>
            </a:r>
          </a:p>
        </p:txBody>
      </p:sp>
      <p:sp>
        <p:nvSpPr>
          <p:cNvPr id="8" name="TextBox 7"/>
          <p:cNvSpPr txBox="1"/>
          <p:nvPr/>
        </p:nvSpPr>
        <p:spPr>
          <a:xfrm>
            <a:off x="25399" y="127000"/>
            <a:ext cx="10972800" cy="5486400"/>
          </a:xfrm>
          <a:prstGeom prst="rect">
            <a:avLst/>
          </a:prstGeom>
          <a:noFill/>
        </p:spPr>
        <p:txBody>
          <a:bodyPr wrap="square">
            <a:spAutoFit/>
          </a:bodyPr>
          <a:lstStyle/>
          <a:p>
            <a:pPr>
              <a:defRPr sz="900">
                <a:solidFill>
                  <a:srgbClr val="F8FAFC"/>
                </a:solidFill>
                <a:latin typeface="Calibri"/>
              </a:defRPr>
            </a:pPr>
            <a:r>
              <a:t>Submission:Send the .py file + output screenshot in the class group.</a:t>
            </a:r>
          </a:p>
        </p:txBody>
      </p:sp>
      <p:sp>
        <p:nvSpPr>
          <p:cNvPr id="9" name="TextBox 8"/>
          <p:cNvSpPr txBox="1"/>
          <p:nvPr/>
        </p:nvSpPr>
        <p:spPr>
          <a:xfrm>
            <a:off x="10972800" y="6400800"/>
            <a:ext cx="914400" cy="365760"/>
          </a:xfrm>
          <a:prstGeom prst="rect">
            <a:avLst/>
          </a:prstGeom>
          <a:noFill/>
        </p:spPr>
        <p:txBody>
          <a:bodyPr wrap="none">
            <a:spAutoFit/>
          </a:bodyPr>
          <a:lstStyle/>
          <a:p>
            <a:pPr algn="r">
              <a:defRPr sz="1000">
                <a:solidFill>
                  <a:srgbClr val="94A3B8"/>
                </a:solidFill>
                <a:latin typeface="Consolas"/>
              </a:defRPr>
            </a:pPr>
            <a: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457200" y="91440"/>
            <a:ext cx="10972800" cy="365760"/>
          </a:xfrm>
          <a:prstGeom prst="rect">
            <a:avLst/>
          </a:prstGeom>
          <a:noFill/>
        </p:spPr>
        <p:txBody>
          <a:bodyPr wrap="none">
            <a:spAutoFit/>
          </a:bodyPr>
          <a:lstStyle/>
          <a:p>
            <a:pPr>
              <a:defRPr sz="1200">
                <a:solidFill>
                  <a:srgbClr val="22D3EE"/>
                </a:solidFill>
                <a:latin typeface="Consolas"/>
              </a:defRPr>
            </a:pPr>
            <a:r>
              <a:t>RECAP // WHAT YOU LEARNED TODAY</a:t>
            </a:r>
          </a:p>
        </p:txBody>
      </p:sp>
      <p:sp>
        <p:nvSpPr>
          <p:cNvPr id="3" name="TextBox 2"/>
          <p:cNvSpPr txBox="1"/>
          <p:nvPr/>
        </p:nvSpPr>
        <p:spPr>
          <a:xfrm>
            <a:off x="507987" y="889000"/>
            <a:ext cx="10972800" cy="5486400"/>
          </a:xfrm>
          <a:prstGeom prst="rect">
            <a:avLst/>
          </a:prstGeom>
          <a:noFill/>
        </p:spPr>
        <p:txBody>
          <a:bodyPr wrap="square">
            <a:spAutoFit/>
          </a:bodyPr>
          <a:lstStyle/>
          <a:p>
            <a:pPr>
              <a:defRPr sz="900">
                <a:solidFill>
                  <a:srgbClr val="F8FAFC"/>
                </a:solidFill>
                <a:latin typeface="Calibri"/>
              </a:defRPr>
            </a:pPr>
            <a:r>
              <a:t>In 3 hours, you went fromzerotoreal programmer.في 3 ساعات، اتنقلت من الصفر لمبرمج فعلي</a:t>
            </a:r>
          </a:p>
        </p:txBody>
      </p:sp>
      <p:sp>
        <p:nvSpPr>
          <p:cNvPr id="4" name="TextBox 3"/>
          <p:cNvSpPr txBox="1"/>
          <p:nvPr/>
        </p:nvSpPr>
        <p:spPr>
          <a:xfrm>
            <a:off x="507987" y="2540000"/>
            <a:ext cx="10972800" cy="4318000"/>
          </a:xfrm>
          <a:prstGeom prst="rect">
            <a:avLst/>
          </a:prstGeom>
          <a:noFill/>
        </p:spPr>
        <p:txBody>
          <a:bodyPr wrap="square">
            <a:spAutoFit/>
          </a:bodyPr>
          <a:lstStyle/>
          <a:p>
            <a:pPr>
              <a:defRPr sz="900">
                <a:solidFill>
                  <a:srgbClr val="F8FAFC"/>
                </a:solidFill>
                <a:latin typeface="Calibri"/>
              </a:defRPr>
            </a:pPr>
            <a:r>
              <a:t>// 15 SKILLS UNLOCKED TODAY💻Hardware🧠CPU · RAM · Storage🔢Binary basics🌐Compiler vs Interpreter🐍Why Python🛠️Install Python⚙️Install VS Code⌨️Terminal basics▶️Run .py files💬print() · comments📦Variables📋int · float · str · bool🔍type()🎤input()🔄Type casting</a:t>
            </a:r>
          </a:p>
        </p:txBody>
      </p:sp>
      <p:sp>
        <p:nvSpPr>
          <p:cNvPr id="5" name="TextBox 4"/>
          <p:cNvSpPr txBox="1"/>
          <p:nvPr/>
        </p:nvSpPr>
        <p:spPr>
          <a:xfrm>
            <a:off x="825479" y="5397500"/>
            <a:ext cx="10972800" cy="1460500"/>
          </a:xfrm>
          <a:prstGeom prst="rect">
            <a:avLst/>
          </a:prstGeom>
          <a:noFill/>
        </p:spPr>
        <p:txBody>
          <a:bodyPr wrap="square">
            <a:spAutoFit/>
          </a:bodyPr>
          <a:lstStyle/>
          <a:p>
            <a:pPr>
              <a:defRPr sz="900">
                <a:solidFill>
                  <a:srgbClr val="F8FAFC"/>
                </a:solidFill>
                <a:latin typeface="Calibri"/>
              </a:defRPr>
            </a:pPr>
            <a:r>
              <a:t>// NEXT SESSIONIf statements · loops · lists · your firstreal interactive game. Bring your homework.</a:t>
            </a:r>
          </a:p>
        </p:txBody>
      </p:sp>
      <p:sp>
        <p:nvSpPr>
          <p:cNvPr id="6" name="TextBox 5"/>
          <p:cNvSpPr txBox="1"/>
          <p:nvPr/>
        </p:nvSpPr>
        <p:spPr>
          <a:xfrm>
            <a:off x="10972800" y="6400800"/>
            <a:ext cx="914400" cy="365760"/>
          </a:xfrm>
          <a:prstGeom prst="rect">
            <a:avLst/>
          </a:prstGeom>
          <a:noFill/>
        </p:spPr>
        <p:txBody>
          <a:bodyPr wrap="none">
            <a:spAutoFit/>
          </a:bodyPr>
          <a:lstStyle/>
          <a:p>
            <a:pPr algn="r">
              <a:defRPr sz="1000">
                <a:solidFill>
                  <a:srgbClr val="94A3B8"/>
                </a:solidFill>
                <a:latin typeface="Consolas"/>
              </a:defRPr>
            </a:pPr>
            <a: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A0E1A"/>
        </a:solidFill>
        <a:effectLst/>
      </p:bgPr>
    </p:bg>
    <p:spTree>
      <p:nvGrpSpPr>
        <p:cNvPr id="1" name=""/>
        <p:cNvGrpSpPr/>
        <p:nvPr/>
      </p:nvGrpSpPr>
      <p:grpSpPr/>
      <p:sp>
        <p:nvSpPr>
          <p:cNvPr id="2" name="TextBox 1"/>
          <p:cNvSpPr txBox="1"/>
          <p:nvPr/>
        </p:nvSpPr>
        <p:spPr>
          <a:xfrm>
            <a:off x="507987" y="1778000"/>
            <a:ext cx="10972800" cy="5080000"/>
          </a:xfrm>
          <a:prstGeom prst="rect">
            <a:avLst/>
          </a:prstGeom>
          <a:noFill/>
        </p:spPr>
        <p:txBody>
          <a:bodyPr wrap="square">
            <a:spAutoFit/>
          </a:bodyPr>
          <a:lstStyle/>
          <a:p>
            <a:pPr>
              <a:defRPr sz="900">
                <a:solidFill>
                  <a:srgbClr val="F8FAFC"/>
                </a:solidFill>
                <a:latin typeface="Calibri"/>
              </a:defRPr>
            </a:pPr>
            <a:r>
              <a:t>// SESSION 01 · COMPLETEYou're aprogrammernow.أنت مبرمج فعلاً — النهاردة</a:t>
            </a:r>
          </a:p>
        </p:txBody>
      </p:sp>
      <p:sp>
        <p:nvSpPr>
          <p:cNvPr id="3" name="TextBox 2"/>
          <p:cNvSpPr txBox="1"/>
          <p:nvPr/>
        </p:nvSpPr>
        <p:spPr>
          <a:xfrm>
            <a:off x="507987" y="5715000"/>
            <a:ext cx="10972800" cy="1143000"/>
          </a:xfrm>
          <a:prstGeom prst="rect">
            <a:avLst/>
          </a:prstGeom>
          <a:noFill/>
        </p:spPr>
        <p:txBody>
          <a:bodyPr wrap="square">
            <a:spAutoFit/>
          </a:bodyPr>
          <a:lstStyle/>
          <a:p>
            <a:pPr>
              <a:defRPr sz="900">
                <a:solidFill>
                  <a:srgbClr val="F8FAFC"/>
                </a:solidFill>
                <a:latin typeface="Calibri"/>
              </a:defRPr>
            </a:pPr>
            <a:r>
              <a:t>See you at Session 02 ·bring your homework·stay curious</a:t>
            </a:r>
          </a:p>
        </p:txBody>
      </p:sp>
      <p:sp>
        <p:nvSpPr>
          <p:cNvPr id="4" name="TextBox 3"/>
          <p:cNvSpPr txBox="1"/>
          <p:nvPr/>
        </p:nvSpPr>
        <p:spPr>
          <a:xfrm>
            <a:off x="10972800" y="6400800"/>
            <a:ext cx="914400" cy="365760"/>
          </a:xfrm>
          <a:prstGeom prst="rect">
            <a:avLst/>
          </a:prstGeom>
          <a:noFill/>
        </p:spPr>
        <p:txBody>
          <a:bodyPr wrap="none">
            <a:spAutoFit/>
          </a:bodyPr>
          <a:lstStyle/>
          <a:p>
            <a:pPr algn="r">
              <a:defRPr sz="1000">
                <a:solidFill>
                  <a:srgbClr val="94A3B8"/>
                </a:solidFill>
                <a:latin typeface="Consolas"/>
              </a:defRPr>
            </a:pPr>
            <a:r>
              <a:t>47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